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494" r:id="rId7"/>
    <p:sldId id="495" r:id="rId8"/>
    <p:sldId id="496" r:id="rId9"/>
    <p:sldId id="261" r:id="rId10"/>
    <p:sldId id="262" r:id="rId11"/>
    <p:sldId id="264"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65" r:id="rId25"/>
    <p:sldId id="303" r:id="rId26"/>
    <p:sldId id="304" r:id="rId27"/>
    <p:sldId id="267" r:id="rId28"/>
    <p:sldId id="306" r:id="rId29"/>
    <p:sldId id="269" r:id="rId30"/>
    <p:sldId id="479" r:id="rId31"/>
    <p:sldId id="497" r:id="rId32"/>
    <p:sldId id="498" r:id="rId33"/>
    <p:sldId id="499" r:id="rId34"/>
    <p:sldId id="502" r:id="rId35"/>
    <p:sldId id="504" r:id="rId36"/>
    <p:sldId id="505" r:id="rId37"/>
    <p:sldId id="506" r:id="rId38"/>
    <p:sldId id="507" r:id="rId39"/>
    <p:sldId id="508" r:id="rId40"/>
    <p:sldId id="509" r:id="rId41"/>
    <p:sldId id="510" r:id="rId42"/>
    <p:sldId id="517" r:id="rId43"/>
    <p:sldId id="519" r:id="rId44"/>
    <p:sldId id="523" r:id="rId45"/>
    <p:sldId id="524" r:id="rId46"/>
    <p:sldId id="525" r:id="rId47"/>
    <p:sldId id="526" r:id="rId48"/>
    <p:sldId id="530" r:id="rId49"/>
    <p:sldId id="528" r:id="rId50"/>
    <p:sldId id="531" r:id="rId51"/>
    <p:sldId id="555" r:id="rId52"/>
    <p:sldId id="533" r:id="rId53"/>
    <p:sldId id="534" r:id="rId54"/>
    <p:sldId id="539" r:id="rId55"/>
    <p:sldId id="541" r:id="rId56"/>
    <p:sldId id="554" r:id="rId57"/>
    <p:sldId id="544" r:id="rId58"/>
    <p:sldId id="542" r:id="rId59"/>
    <p:sldId id="546" r:id="rId60"/>
    <p:sldId id="547" r:id="rId61"/>
    <p:sldId id="548" r:id="rId62"/>
    <p:sldId id="549" r:id="rId63"/>
    <p:sldId id="550" r:id="rId64"/>
    <p:sldId id="545" r:id="rId65"/>
    <p:sldId id="543" r:id="rId66"/>
    <p:sldId id="492" r:id="rId67"/>
    <p:sldId id="493" r:id="rId68"/>
  </p:sldIdLst>
  <p:sldSz cx="12192000" cy="6858000"/>
  <p:notesSz cx="6858000" cy="9144000"/>
  <p:embeddedFontLst>
    <p:embeddedFont>
      <p:font typeface="Calibri" panose="020F0502020204030204" pitchFamily="34" charset="0"/>
      <p:regular r:id="rId70"/>
      <p:bold r:id="rId71"/>
      <p:italic r:id="rId72"/>
      <p:boldItalic r:id="rId73"/>
    </p:embeddedFont>
    <p:embeddedFont>
      <p:font typeface="Calibri Light" panose="020F0302020204030204" pitchFamily="34" charset="0"/>
      <p:regular r:id="rId74"/>
      <p:italic r:id="rId75"/>
    </p:embeddedFont>
    <p:embeddedFont>
      <p:font typeface="Cambria" panose="02040503050406030204" pitchFamily="18" charset="0"/>
      <p:regular r:id="rId76"/>
      <p:bold r:id="rId77"/>
      <p:italic r:id="rId78"/>
      <p:boldItalic r:id="rId79"/>
    </p:embeddedFont>
    <p:embeddedFont>
      <p:font typeface="Gill Sans" panose="020B0604020202020204" charset="0"/>
      <p:regular r:id="rId80"/>
      <p:bold r:id="rId81"/>
    </p:embeddedFont>
    <p:embeddedFont>
      <p:font typeface="MS Mincho" panose="02020609040205080304" pitchFamily="49" charset="-128"/>
      <p:regular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31" roundtripDataSignature="AMtx7mg1Y8XQiR+An5gSNyq294qLl6Je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38F2A-30FC-3D3A-9139-0710FC328934}" v="4" dt="2024-12-15T14:46:46.283"/>
    <p1510:client id="{212A827B-BFF4-E5B6-4486-27B53162F572}" v="682" dt="2024-12-15T14:45:50.335"/>
    <p1510:client id="{5D3BEACF-E48D-5282-AC59-7D6A6F08C4BB}" v="190" dt="2024-12-15T14:42:57.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31" Type="http://customschemas.google.com/relationships/presentationmetadata" Target="meta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4.xml"/><Relationship Id="rId19" Type="http://schemas.openxmlformats.org/officeDocument/2006/relationships/slide" Target="slides/slide18.xml"/><Relationship Id="rId232" Type="http://schemas.openxmlformats.org/officeDocument/2006/relationships/presProps" Target="pres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font" Target="fonts/font11.fntdata"/><Relationship Id="rId3" Type="http://schemas.openxmlformats.org/officeDocument/2006/relationships/slide" Target="slides/slide2.xml"/><Relationship Id="rId23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233" Type="http://schemas.openxmlformats.org/officeDocument/2006/relationships/viewProps" Target="viewProp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236"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fntdata"/><Relationship Id="rId234"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f1d002987d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g1f1d002987d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902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532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42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f1d002987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1f1d002987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f1d9125ab9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g1f1d9125ab9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f1d9125ab9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1f1d9125ab9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f1d9125ab9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1f1d9125ab9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637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1d9125ab9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1f1d9125ab9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6646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f1d9125ab9_0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g1f1d9125ab9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7320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0D41A464-417A-1697-A711-2B4FCBBF3507}"/>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C7F5087D-C58D-CC7A-174D-13BC7F4256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82387BBB-C26C-3453-8F6A-01E09735DA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7390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DCA833D-DF3E-046E-2D9D-FE1D895F9D0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A891FB0D-BE8C-5927-C8A2-EEC84BBF62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E38B926-90B4-87F2-6EFE-0720729E4F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3537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7310611C-86BF-D360-350B-0AD6D2879309}"/>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4F8096D-0B09-AB66-93FC-456F4C01F8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23A9D3B-C7A7-4FD8-93EC-D327B23197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5481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5F3118BD-BA0A-84A9-59D3-8518BC353BB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D4308EC4-736F-6E78-9B25-025C0FF601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555B1CC-A709-43C0-D431-51A7DBEB2B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8092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3DE7A62D-101E-716F-9D43-8492D588195D}"/>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1540A6A-7546-68B6-23A0-C327EE228C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53E1054-2C61-A9D4-F925-2F4A09F066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92682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C2005314-1538-09BA-B801-364401ADDFCE}"/>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CBA8F644-05A4-7E4B-29B1-C49D4284FA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5DFF0BD5-F0B7-F2E2-4C9C-7096ECA920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60559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E520D39-48AA-A4E2-0765-99437730EB77}"/>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63DD322-72A9-AEB2-8B93-58FBDFAB1E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B30D7886-4609-263F-610B-E3D6C72218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0946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C80650E4-4F1B-143D-7030-9BB1B562013F}"/>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9F3B69AE-2628-CE46-C87C-DDA21EC51E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939459AB-34B2-55FB-A934-4A57BD6A5E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1779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7953647C-FA91-60D1-D060-39A6EFDE03BD}"/>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ECD615ED-2AB3-A32B-FEF2-B544F05B600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A7A03EC-C31F-F60C-6543-FBD54341A5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9893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8E026ABB-CA9C-6012-4EB2-830B13F7A711}"/>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E8C6C2C9-1993-DB3D-2012-5EC09C4FEE0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E3242716-7BB8-FF29-E19D-25BBFA3C74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1073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8D9CC9CF-5350-A8D1-D169-E4F0BE25DFD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906B7A4C-4967-260C-524C-ABCF5B62EC0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3A0382C2-1623-E299-E4FC-A085335151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92499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D1147F34-AFDE-90DD-1051-9E6E9A014046}"/>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B7039568-F1E9-D1D7-779E-3E57BEDF0B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01A6C78E-1A92-1D1A-1650-010CA09B6D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23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90B3E110-F402-327E-E499-C094D77593D4}"/>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CD68AA27-D757-A96F-306E-1803D217CF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30D3D0B-D1B7-10B7-FA9C-3F738E1583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71859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FC674610-1356-3BC9-831F-30D6C0BFE258}"/>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34E394D-1715-C49F-2D6F-474D4DFBEB1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EA8F2F6-29D5-E42C-9EEE-EF13CEE8E9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081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85ABBAA8-6CBE-871C-83D8-57231AD7D76A}"/>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E15F0679-BEEC-B7EF-A8E5-43360725DA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FF1BC97-B6B8-A2B2-F747-CA53051394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5872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A5BD5B86-666C-405A-2546-3FFF4B6E35DC}"/>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47B946C8-DFC4-691E-E50E-04CD857CAA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1278FA66-BE7B-B3E8-540E-5B8238A60F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7385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1336CE3C-BB69-B480-D019-123D0469ADCE}"/>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7151F5D-6D3A-0147-36CA-87E60961BC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36540E2-27F5-E8B9-F589-939B7848A4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7257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9C904-7240-9FA8-62E0-8624FE95F8DE}"/>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946E7EA8-BE6A-8F23-B768-96286EFEE6F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AB5B915-5F69-5011-DFB9-40A03986DB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15679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9ABDFD7A-44F3-19EF-4641-CA8DF98FD757}"/>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0B3BDC12-11E8-9BD8-D40F-ACC334EFA5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F8C7BDB-AAC9-2F5C-2006-9B61DE5B84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14591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D0E1FA7-E7DB-2CE6-8BC7-384C055B692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DD2AC96E-CC16-39C9-5D57-0F93458BE3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297AA35-07AD-055D-4D0B-5FF98918B3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2444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D0E1FA7-E7DB-2CE6-8BC7-384C055B692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DD2AC96E-CC16-39C9-5D57-0F93458BE3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297AA35-07AD-055D-4D0B-5FF98918B3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51072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630121F9-C499-63AD-88D7-B6CE5E5D1B5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C9BCC3D-481C-0760-6315-856C14A648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FBC210F8-62EA-694E-BEAF-3A6DC414C6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69381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0F2D6B60-0B50-5E19-3691-D8297C972E11}"/>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16F44A1-25F1-CD57-32D8-79348445667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1705B675-B017-11FF-5271-FDFD262E99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69996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57822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90371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8569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589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47570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2811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9889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2682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131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4769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4064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27041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51827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076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214"/>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14"/>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14"/>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22" name="Google Shape;22;p214"/>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1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14"/>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215"/>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15"/>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 name="Google Shape;29;p21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5"/>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216"/>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16"/>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6"/>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36" name="Google Shape;36;p21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217"/>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17"/>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7"/>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3" name="Google Shape;43;p217"/>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4" name="Google Shape;44;p21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1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1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218"/>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18"/>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18"/>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1" name="Google Shape;51;p218"/>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2" name="Google Shape;52;p218"/>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3" name="Google Shape;53;p218"/>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4" name="Google Shape;54;p21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1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21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219"/>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19"/>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22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221"/>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21"/>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1"/>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71" name="Google Shape;71;p221"/>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2" name="Google Shape;72;p22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222"/>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2"/>
          <p:cNvSpPr>
            <a:spLocks noGrp="1"/>
          </p:cNvSpPr>
          <p:nvPr>
            <p:ph type="pic" idx="2"/>
          </p:nvPr>
        </p:nvSpPr>
        <p:spPr>
          <a:xfrm>
            <a:off x="447817" y="599725"/>
            <a:ext cx="11290859" cy="3557252"/>
          </a:xfrm>
          <a:prstGeom prst="rect">
            <a:avLst/>
          </a:prstGeom>
          <a:noFill/>
          <a:ln>
            <a:noFill/>
          </a:ln>
        </p:spPr>
      </p:sp>
      <p:sp>
        <p:nvSpPr>
          <p:cNvPr id="78" name="Google Shape;78;p222"/>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9" name="Google Shape;79;p22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2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2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22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2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3"/>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6" name="Google Shape;86;p22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2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2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224"/>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24"/>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24"/>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93" name="Google Shape;93;p224"/>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4"/>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4"/>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3"/>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1" name="Google Shape;11;p213"/>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21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1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1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21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1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1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678311"/>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3600"/>
              <a:buFont typeface="Gill Sans"/>
              <a:buNone/>
            </a:pPr>
            <a:r>
              <a:rPr lang="es-ES">
                <a:solidFill>
                  <a:schemeClr val="lt1"/>
                </a:solidFill>
              </a:rPr>
              <a:t>PROYECTO </a:t>
            </a:r>
            <a:r>
              <a:rPr lang="es-EC">
                <a:solidFill>
                  <a:schemeClr val="lt1"/>
                </a:solidFill>
              </a:rPr>
              <a:t>WS SOAP JAVA - TICKETPREMIUM</a:t>
            </a:r>
            <a:endParaRPr>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72"/>
              <a:buNone/>
            </a:pPr>
            <a:r>
              <a:rPr lang="es-ES" b="1" dirty="0">
                <a:solidFill>
                  <a:schemeClr val="lt1"/>
                </a:solidFill>
              </a:rPr>
              <a:t>INTEGRANTES: 	ELKIN PABÓN</a:t>
            </a:r>
          </a:p>
          <a:p>
            <a:pPr marL="0" lvl="0" indent="0" algn="l" rtl="0">
              <a:spcBef>
                <a:spcPts val="0"/>
              </a:spcBef>
              <a:spcAft>
                <a:spcPts val="0"/>
              </a:spcAft>
              <a:buSzPts val="1472"/>
              <a:buNone/>
            </a:pPr>
            <a:r>
              <a:rPr lang="es-ES" b="1" dirty="0">
                <a:solidFill>
                  <a:schemeClr val="lt1"/>
                </a:solidFill>
              </a:rPr>
              <a:t>		JOSUÉ MARÍN</a:t>
            </a:r>
          </a:p>
          <a:p>
            <a:pPr marL="0" lvl="0" indent="0" algn="l" rtl="0">
              <a:spcBef>
                <a:spcPts val="0"/>
              </a:spcBef>
              <a:spcAft>
                <a:spcPts val="0"/>
              </a:spcAft>
              <a:buSzPts val="1472"/>
              <a:buNone/>
            </a:pPr>
            <a:r>
              <a:rPr lang="es-ES" b="1" dirty="0">
                <a:solidFill>
                  <a:schemeClr val="lt1"/>
                </a:solidFill>
              </a:rPr>
              <a:t>		MICAELA SALCEDO</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7" y="5149400"/>
            <a:ext cx="3718347" cy="1324648"/>
          </a:xfrm>
          <a:prstGeom prst="rect">
            <a:avLst/>
          </a:prstGeom>
          <a:noFill/>
          <a:ln>
            <a:noFill/>
          </a:ln>
        </p:spPr>
        <p:txBody>
          <a:bodyPr spcFirstLastPara="1" wrap="square" lIns="91425" tIns="45700" rIns="91425" bIns="45700" anchor="t" anchorCtr="0">
            <a:noAutofit/>
          </a:bodyPr>
          <a:lstStyle/>
          <a:p>
            <a:pPr marL="0" marR="0" lvl="0" indent="0" algn="l" rtl="0">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S" sz="1600" dirty="0">
                <a:solidFill>
                  <a:schemeClr val="lt1"/>
                </a:solidFill>
                <a:latin typeface="Gill Sans"/>
                <a:ea typeface="Gill Sans"/>
                <a:cs typeface="Gill Sans"/>
                <a:sym typeface="Gill Sans"/>
              </a:rPr>
              <a:t>20/05/2026</a:t>
            </a:r>
            <a:endParaRPr dirty="0"/>
          </a:p>
          <a:p>
            <a:pPr marL="0" marR="0" lvl="0" indent="0" algn="l" rtl="0">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a:spLocks noGrp="1"/>
          </p:cNvSpPr>
          <p:nvPr>
            <p:ph type="sldNum" idx="12"/>
          </p:nvPr>
        </p:nvSpPr>
        <p:spPr>
          <a:xfrm>
            <a:off x="11084554" y="6474048"/>
            <a:ext cx="1016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09" name="Google Shape;109;p2"/>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10" name="Google Shape;110;p2"/>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11" name="Google Shape;111;p2"/>
          <p:cNvSpPr txBox="1">
            <a:spLocks noGrp="1"/>
          </p:cNvSpPr>
          <p:nvPr>
            <p:ph type="body" idx="1"/>
          </p:nvPr>
        </p:nvSpPr>
        <p:spPr>
          <a:xfrm>
            <a:off x="442377" y="782691"/>
            <a:ext cx="3707476" cy="5275203"/>
          </a:xfrm>
          <a:prstGeom prst="rect">
            <a:avLst/>
          </a:prstGeom>
          <a:noFill/>
          <a:ln>
            <a:noFill/>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1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CONSULTA DEL REPORTE RESUMEN DE VENTAS DESDE TICKETPREMIUM </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pic>
        <p:nvPicPr>
          <p:cNvPr id="112" name="Google Shape;112;p2"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13" name="Google Shape;113;p2"/>
          <p:cNvSpPr txBox="1">
            <a:spLocks noGrp="1"/>
          </p:cNvSpPr>
          <p:nvPr>
            <p:ph type="sldNum" idx="12"/>
          </p:nvPr>
        </p:nvSpPr>
        <p:spPr>
          <a:xfrm>
            <a:off x="11024831" y="6404007"/>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INTRODUCCIÓN</a:t>
            </a:r>
            <a:endParaRPr/>
          </a:p>
        </p:txBody>
      </p:sp>
      <p:sp>
        <p:nvSpPr>
          <p:cNvPr id="120" name="Google Shape;120;p3"/>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a:t>
            </a:fld>
            <a:endParaRPr/>
          </a:p>
        </p:txBody>
      </p:sp>
      <p:sp>
        <p:nvSpPr>
          <p:cNvPr id="121" name="Google Shape;121;p3"/>
          <p:cNvSpPr txBox="1"/>
          <p:nvPr/>
        </p:nvSpPr>
        <p:spPr>
          <a:xfrm>
            <a:off x="1184956" y="2355603"/>
            <a:ext cx="7328700" cy="2003585"/>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Clr>
                <a:srgbClr val="000000"/>
              </a:buClr>
              <a:buFont typeface="Arial"/>
              <a:buNone/>
            </a:pPr>
            <a:r>
              <a:rPr lang="es-ES" sz="1800">
                <a:solidFill>
                  <a:srgbClr val="548DD4"/>
                </a:solidFill>
                <a:latin typeface="Calibri"/>
                <a:ea typeface="Calibri"/>
                <a:cs typeface="Calibri"/>
                <a:sym typeface="Calibri"/>
              </a:rPr>
              <a:t>La empresa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ha establecido una alianza estratégica con una importante comercializadora de boletos para ofrecer una línea de venta de boletos a los clientes del sistema que deseen adquirir boletos deportivos. Este proyecto implica el desarrollo de dos aplicaciones cruciales: el Sistema de la Federación de Fútbol -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y el Sistema TicketPremium de Venta de Boletos TicketPremium.</a:t>
            </a:r>
            <a:endParaRPr sz="1800">
              <a:solidFill>
                <a:schemeClr val="dk1"/>
              </a:solidFill>
              <a:latin typeface="Gill Sans"/>
              <a:ea typeface="Gill Sans"/>
              <a:cs typeface="Gill Sans"/>
              <a:sym typeface="Gill Sans"/>
            </a:endParaRPr>
          </a:p>
        </p:txBody>
      </p:sp>
      <p:sp>
        <p:nvSpPr>
          <p:cNvPr id="2" name="Google Shape;2065;p212">
            <a:extLst>
              <a:ext uri="{FF2B5EF4-FFF2-40B4-BE49-F238E27FC236}">
                <a16:creationId xmlns:a16="http://schemas.microsoft.com/office/drawing/2014/main" id="{B111E701-A952-3BEF-8222-E047847E208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rgbClr val="FFFF00"/>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1f1d002987d_0_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 GENERAL</a:t>
            </a:r>
            <a:endParaRPr/>
          </a:p>
        </p:txBody>
      </p:sp>
      <p:sp>
        <p:nvSpPr>
          <p:cNvPr id="128" name="Google Shape;128;g1f1d002987d_0_9"/>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a:t>
            </a:fld>
            <a:endParaRPr/>
          </a:p>
        </p:txBody>
      </p:sp>
      <p:sp>
        <p:nvSpPr>
          <p:cNvPr id="129" name="Google Shape;129;g1f1d002987d_0_9"/>
          <p:cNvSpPr txBox="1"/>
          <p:nvPr/>
        </p:nvSpPr>
        <p:spPr>
          <a:xfrm>
            <a:off x="1184956" y="2355603"/>
            <a:ext cx="7328700" cy="1366488"/>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None/>
            </a:pPr>
            <a:r>
              <a:rPr lang="es-ES" sz="1800">
                <a:solidFill>
                  <a:srgbClr val="548DD4"/>
                </a:solidFill>
                <a:latin typeface="Calibri"/>
                <a:ea typeface="Calibri"/>
                <a:cs typeface="Calibri"/>
                <a:sym typeface="Calibri"/>
              </a:rPr>
              <a:t>Desarrollar un sistema integrado de venta de boletos que permita la interoperabilidad entre la Federación de Fú tbol y TicketPremium mediante Servicios Web SOAP en Java, gestionando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y la facturación de las ventas de boletos deportivos de la comercializadora, garantizando un proceso eficiente y transparente para ambas partes.</a:t>
            </a:r>
            <a:endParaRPr sz="1800">
              <a:solidFill>
                <a:schemeClr val="dk1"/>
              </a:solidFill>
              <a:latin typeface="Gill Sans"/>
              <a:ea typeface="Gill Sans"/>
              <a:cs typeface="Gill Sans"/>
              <a:sym typeface="Gill Sans"/>
            </a:endParaRPr>
          </a:p>
        </p:txBody>
      </p:sp>
      <p:sp>
        <p:nvSpPr>
          <p:cNvPr id="2" name="Google Shape;2065;p212">
            <a:extLst>
              <a:ext uri="{FF2B5EF4-FFF2-40B4-BE49-F238E27FC236}">
                <a16:creationId xmlns:a16="http://schemas.microsoft.com/office/drawing/2014/main" id="{994E61FF-0066-FDD7-A44B-45B34C1E1B1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rgbClr val="FFFF00"/>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OBJETIVOS ESPECÍFICOS</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a:t>
            </a:fld>
            <a:endParaRPr/>
          </a:p>
        </p:txBody>
      </p:sp>
      <p:sp>
        <p:nvSpPr>
          <p:cNvPr id="137" name="Google Shape;137;g1f1d002987d_0_20"/>
          <p:cNvSpPr txBox="1"/>
          <p:nvPr/>
        </p:nvSpPr>
        <p:spPr>
          <a:xfrm>
            <a:off x="315174" y="2355600"/>
            <a:ext cx="8198400" cy="4551975"/>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dirty="0">
                <a:solidFill>
                  <a:srgbClr val="548DD4"/>
                </a:solidFill>
                <a:latin typeface="Calibri"/>
                <a:ea typeface="Calibri"/>
                <a:cs typeface="Calibri"/>
                <a:sym typeface="Calibri"/>
              </a:rPr>
              <a:t>Desarrollar e implementar un servicio web SOAP en JAVA que permita la comunicación entre el Sistema de la Federación de Fútbol - </a:t>
            </a:r>
            <a:r>
              <a:rPr lang="es-ES" sz="1800" dirty="0" err="1">
                <a:solidFill>
                  <a:srgbClr val="548DD4"/>
                </a:solidFill>
                <a:latin typeface="Calibri"/>
                <a:ea typeface="Calibri"/>
                <a:cs typeface="Calibri"/>
                <a:sym typeface="Calibri"/>
              </a:rPr>
              <a:t>TicketPremium</a:t>
            </a:r>
            <a:r>
              <a:rPr lang="es-ES" sz="1800" dirty="0">
                <a:solidFill>
                  <a:srgbClr val="548DD4"/>
                </a:solidFill>
                <a:latin typeface="Calibri"/>
                <a:ea typeface="Calibri"/>
                <a:cs typeface="Calibri"/>
                <a:sym typeface="Calibri"/>
              </a:rPr>
              <a:t> y el Sistema </a:t>
            </a:r>
            <a:r>
              <a:rPr lang="es-ES" sz="1800" dirty="0" err="1">
                <a:solidFill>
                  <a:srgbClr val="548DD4"/>
                </a:solidFill>
                <a:latin typeface="Calibri"/>
                <a:ea typeface="Calibri"/>
                <a:cs typeface="Calibri"/>
                <a:sym typeface="Calibri"/>
              </a:rPr>
              <a:t>TicketPremium</a:t>
            </a:r>
            <a:r>
              <a:rPr lang="es-ES" sz="1800" dirty="0">
                <a:solidFill>
                  <a:srgbClr val="548DD4"/>
                </a:solidFill>
                <a:latin typeface="Calibri"/>
                <a:ea typeface="Calibri"/>
                <a:cs typeface="Calibri"/>
                <a:sym typeface="Calibri"/>
              </a:rPr>
              <a:t> de Venta de Boletos </a:t>
            </a:r>
            <a:r>
              <a:rPr lang="es-ES" sz="1800" dirty="0" err="1">
                <a:solidFill>
                  <a:srgbClr val="548DD4"/>
                </a:solidFill>
                <a:latin typeface="Calibri"/>
                <a:ea typeface="Calibri"/>
                <a:cs typeface="Calibri"/>
                <a:sym typeface="Calibri"/>
              </a:rPr>
              <a:t>TicketPremium</a:t>
            </a:r>
            <a:r>
              <a:rPr lang="es-ES" sz="1800" dirty="0">
                <a:solidFill>
                  <a:srgbClr val="548DD4"/>
                </a:solidFill>
                <a:latin typeface="Calibri"/>
                <a:ea typeface="Calibri"/>
                <a:cs typeface="Calibri"/>
                <a:sym typeface="Calibri"/>
              </a:rPr>
              <a:t>, facilitando la verificación de disponibilidad de boletos de los clientes de manera segura y eficiente.</a:t>
            </a:r>
            <a:endParaRPr sz="1800" dirty="0">
              <a:solidFill>
                <a:srgbClr val="548DD4"/>
              </a:solidFill>
              <a:latin typeface="Calibri"/>
              <a:ea typeface="Calibri"/>
              <a:cs typeface="Calibri"/>
              <a:sym typeface="Calibri"/>
            </a:endParaRPr>
          </a:p>
          <a:p>
            <a:pPr marL="457200" lvl="0" indent="-342900" algn="just" rtl="0">
              <a:lnSpc>
                <a:spcPct val="114999"/>
              </a:lnSpc>
              <a:spcBef>
                <a:spcPts val="0"/>
              </a:spcBef>
              <a:spcAft>
                <a:spcPts val="0"/>
              </a:spcAft>
              <a:buClr>
                <a:srgbClr val="548DD4"/>
              </a:buClr>
              <a:buSzPts val="1800"/>
              <a:buFont typeface="Calibri"/>
              <a:buChar char="●"/>
            </a:pPr>
            <a:r>
              <a:rPr lang="es-ES" sz="1800" dirty="0">
                <a:solidFill>
                  <a:srgbClr val="548DD4"/>
                </a:solidFill>
                <a:latin typeface="Calibri"/>
                <a:ea typeface="Calibri"/>
                <a:cs typeface="Calibri"/>
                <a:sym typeface="Calibri"/>
              </a:rPr>
              <a:t>Diseñar y desplegar una base de datos en MYSQL para el sistema integrado, que garantice un almacenamiento eficiente de los datos de clientes, transacciones y ventas de boletos, y permita la generación de la reporte de ventas de manera oportuna y precisa.</a:t>
            </a:r>
            <a:endParaRPr sz="1800" dirty="0">
              <a:solidFill>
                <a:srgbClr val="548DD4"/>
              </a:solidFill>
              <a:latin typeface="Calibri"/>
              <a:ea typeface="Calibri"/>
              <a:cs typeface="Calibri"/>
              <a:sym typeface="Calibri"/>
            </a:endParaRPr>
          </a:p>
          <a:p>
            <a:pPr marL="457200" lvl="0" indent="-342900" algn="just" rtl="0">
              <a:lnSpc>
                <a:spcPct val="114999"/>
              </a:lnSpc>
              <a:spcBef>
                <a:spcPts val="0"/>
              </a:spcBef>
              <a:spcAft>
                <a:spcPts val="0"/>
              </a:spcAft>
              <a:buClr>
                <a:srgbClr val="548DD4"/>
              </a:buClr>
              <a:buSzPts val="1800"/>
              <a:buFont typeface="Calibri"/>
              <a:buChar char="●"/>
            </a:pPr>
            <a:r>
              <a:rPr lang="es-ES" sz="1800" dirty="0">
                <a:solidFill>
                  <a:srgbClr val="548DD4"/>
                </a:solidFill>
                <a:latin typeface="Calibri"/>
                <a:ea typeface="Calibri"/>
                <a:cs typeface="Calibri"/>
                <a:sym typeface="Calibri"/>
              </a:rPr>
              <a:t>Implementar cuatro interfaces de usuario (Web, Consola, Escritorio y Móvil) que consuman los Servicios Web SOAP, permitiendo: visualizar partidos disponibles, seleccionar localidades con stock, registrar la compra con cálculo de IVA (15%) y generar el Reporte de Resumen de Ventas de un Partido.</a:t>
            </a:r>
            <a:endParaRPr sz="1800" dirty="0">
              <a:solidFill>
                <a:srgbClr val="548DD4"/>
              </a:solidFill>
              <a:latin typeface="Calibri"/>
              <a:ea typeface="Calibri"/>
              <a:cs typeface="Calibri"/>
              <a:sym typeface="Calibri"/>
            </a:endParaRPr>
          </a:p>
          <a:p>
            <a:pPr marL="45720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E0490EA6-C47C-B246-4144-EE93CE06D2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rgbClr val="FFFF00"/>
                </a:solidFill>
              </a:rPr>
              <a:t>OBJETIVOS ESPECIFICOS.</a:t>
            </a:r>
            <a:r>
              <a:rPr lang="es-ES" sz="650" dirty="0">
                <a:solidFill>
                  <a:schemeClr val="lt1"/>
                </a:solidFill>
              </a:rPr>
              <a:t>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dirty="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a:t>
            </a:r>
            <a:r>
              <a:rPr lang="es-ES" err="1"/>
              <a:t>TicketPremium</a:t>
            </a:r>
            <a:r>
              <a:rPr lang="es-ES"/>
              <a:t> Módulo de Crédito</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a:t>
            </a:fld>
            <a:endParaRPr/>
          </a:p>
        </p:txBody>
      </p:sp>
      <p:sp>
        <p:nvSpPr>
          <p:cNvPr id="137" name="Google Shape;137;g1f1d002987d_0_20"/>
          <p:cNvSpPr txBox="1"/>
          <p:nvPr/>
        </p:nvSpPr>
        <p:spPr>
          <a:xfrm>
            <a:off x="315174" y="2355600"/>
            <a:ext cx="8198400" cy="2959231"/>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La empresa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ha formado una alianza estratégica con una compañía comercializadora de boletos, para proveer de una línea de venta de boletos a los clientes del sistema que deseen adquirir un boleto deportivo de acuerdo con su interés del cliente.</a:t>
            </a:r>
          </a:p>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Como parte de este examen </a:t>
            </a:r>
            <a:r>
              <a:rPr lang="es-ES" sz="1800" err="1">
                <a:solidFill>
                  <a:srgbClr val="548DD4"/>
                </a:solidFill>
                <a:latin typeface="Calibri"/>
                <a:ea typeface="Calibri"/>
                <a:cs typeface="Calibri"/>
                <a:sym typeface="Calibri"/>
              </a:rPr>
              <a:t>complexivo</a:t>
            </a:r>
            <a:r>
              <a:rPr lang="es-ES" sz="1800">
                <a:solidFill>
                  <a:srgbClr val="548DD4"/>
                </a:solidFill>
                <a:latin typeface="Calibri"/>
                <a:ea typeface="Calibri"/>
                <a:cs typeface="Calibri"/>
                <a:sym typeface="Calibri"/>
              </a:rPr>
              <a:t> usted deberá desarrollar las dos aplicaciones necesarias: Sistema de la Comercializadora TicketPremium y Módulo de Crédito del Federación de Fútbol; a continuación se describen las características de las funcionalidades a ser desarrolladas para cada aplicación.</a:t>
            </a:r>
          </a:p>
          <a:p>
            <a:pPr marL="45720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87618F9F-67A9-A632-9A7C-4A00AD2A9C4B}"/>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rgbClr val="FFFF00"/>
                </a:solidFill>
              </a:rPr>
              <a:t>OBJETIVOS ESPECIFICOS.</a:t>
            </a:r>
            <a:r>
              <a:rPr lang="es-ES" sz="650" dirty="0">
                <a:solidFill>
                  <a:schemeClr val="lt1"/>
                </a:solidFill>
              </a:rPr>
              <a:t>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dirty="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Tree>
    <p:extLst>
      <p:ext uri="{BB962C8B-B14F-4D97-AF65-F5344CB8AC3E}">
        <p14:creationId xmlns:p14="http://schemas.microsoft.com/office/powerpoint/2010/main" val="1985146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de la Comercializadora TicketPremium</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7</a:t>
            </a:fld>
            <a:endParaRPr/>
          </a:p>
        </p:txBody>
      </p:sp>
      <p:sp>
        <p:nvSpPr>
          <p:cNvPr id="137" name="Google Shape;137;g1f1d002987d_0_20"/>
          <p:cNvSpPr txBox="1"/>
          <p:nvPr/>
        </p:nvSpPr>
        <p:spPr>
          <a:xfrm>
            <a:off x="315174" y="2355600"/>
            <a:ext cx="8198400" cy="2959231"/>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La empresa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ha formado una alianza estratégica con una compañía comercializadora de boletos, para proveer de una línea de venta de boletos a los clientes del sistema que deseen adquirir un boleto deportivo de acuerdo con su interés del cliente.</a:t>
            </a:r>
          </a:p>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Como parte de este examen </a:t>
            </a:r>
            <a:r>
              <a:rPr lang="es-ES" sz="1800" err="1">
                <a:solidFill>
                  <a:srgbClr val="548DD4"/>
                </a:solidFill>
                <a:latin typeface="Calibri"/>
                <a:ea typeface="Calibri"/>
                <a:cs typeface="Calibri"/>
                <a:sym typeface="Calibri"/>
              </a:rPr>
              <a:t>complexivo</a:t>
            </a:r>
            <a:r>
              <a:rPr lang="es-ES" sz="1800">
                <a:solidFill>
                  <a:srgbClr val="548DD4"/>
                </a:solidFill>
                <a:latin typeface="Calibri"/>
                <a:ea typeface="Calibri"/>
                <a:cs typeface="Calibri"/>
                <a:sym typeface="Calibri"/>
              </a:rPr>
              <a:t> usted deberá desarrollar las dos aplicaciones necesarias: Sistema de la Comercializadora TicketPremium y Módulo de Crédito del Federación de Fútbol; a continuación se describen las características de las funcionalidades a ser desarrolladas para cada aplicación.</a:t>
            </a:r>
          </a:p>
          <a:p>
            <a:pPr marL="45720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EDEE295D-E04E-126A-FC65-D7712D3554F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89355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de la Federación de Fútbol - </a:t>
            </a:r>
            <a:r>
              <a:rPr lang="es-ES" err="1"/>
              <a:t>TicketPremium</a:t>
            </a:r>
            <a:r>
              <a:rPr lang="es-ES"/>
              <a:t>.</a:t>
            </a:r>
            <a:endParaRPr/>
          </a:p>
        </p:txBody>
      </p:sp>
      <p:sp>
        <p:nvSpPr>
          <p:cNvPr id="135" name="Google Shape;135;g1f1d002987d_0_2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1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CONSULTA DEL REPORTE RESUMEN DE VENTAS DESDE TICKETPREMIUM </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8</a:t>
            </a:fld>
            <a:endParaRPr/>
          </a:p>
        </p:txBody>
      </p:sp>
      <p:sp>
        <p:nvSpPr>
          <p:cNvPr id="137" name="Google Shape;137;g1f1d002987d_0_20"/>
          <p:cNvSpPr txBox="1"/>
          <p:nvPr/>
        </p:nvSpPr>
        <p:spPr>
          <a:xfrm>
            <a:off x="315174" y="2355600"/>
            <a:ext cx="8198400" cy="1366488"/>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La Federación de Fú tbol expone los servicios SOAP que permiten: consultar partidos vigentes, obtener localidades con stock disponible y decrementar la disponibilidad al registrar una compra.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Si el precio del boleto deportivo es menor o igual al disponibilidad de boletos disponibles el módulo automáticamente deberá aprobar la transacción y registrar la respectiva reporte de ventas del compra.</a:t>
            </a: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668C3D39-59B7-3D4B-C425-8160E1C2A70D}"/>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1683395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1f1d002987d_0_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p>
        </p:txBody>
      </p:sp>
      <p:sp>
        <p:nvSpPr>
          <p:cNvPr id="144" name="Google Shape;144;g1f1d002987d_0_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9</a:t>
            </a:fld>
            <a:endParaRPr/>
          </a:p>
        </p:txBody>
      </p:sp>
      <p:sp>
        <p:nvSpPr>
          <p:cNvPr id="145" name="Google Shape;145;g1f1d002987d_0_0"/>
          <p:cNvSpPr txBox="1"/>
          <p:nvPr/>
        </p:nvSpPr>
        <p:spPr>
          <a:xfrm>
            <a:off x="1184930" y="2041227"/>
            <a:ext cx="7328700" cy="6171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Clr>
                <a:schemeClr val="dk1"/>
              </a:buClr>
              <a:buSzPts val="1100"/>
              <a:buFont typeface="Arial"/>
              <a:buNone/>
            </a:pPr>
            <a:r>
              <a:rPr lang="es-ES" b="1" dirty="0">
                <a:solidFill>
                  <a:srgbClr val="366091"/>
                </a:solidFill>
                <a:latin typeface="Calibri"/>
                <a:ea typeface="Calibri"/>
                <a:cs typeface="Calibri"/>
                <a:sym typeface="Calibri"/>
              </a:rPr>
              <a:t>Diagrama del Caso de Uso del Módulo de Crédito del Federación de Fútbol</a:t>
            </a:r>
            <a:endParaRPr b="1" dirty="0">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6FFD0B83-5902-FDDE-1DEB-769DFF4041A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rgbClr val="FFFF00"/>
                </a:solidFill>
              </a:rPr>
              <a:t>DIAGRAMA DE CASOS DE USO DEL SISTEMA TICKETPREMIUM</a:t>
            </a:r>
          </a:p>
          <a:p>
            <a:pPr marL="630000" lvl="1" indent="-306000" rtl="0">
              <a:lnSpc>
                <a:spcPct val="90000"/>
              </a:lnSpc>
              <a:spcBef>
                <a:spcPts val="800"/>
              </a:spcBef>
              <a:spcAft>
                <a:spcPts val="0"/>
              </a:spcAft>
              <a:buSzPts val="920"/>
              <a:buChar char="◼"/>
            </a:pPr>
            <a:r>
              <a:rPr lang="es-ES" sz="650" dirty="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pic>
        <p:nvPicPr>
          <p:cNvPr id="5" name="Imagen 4">
            <a:extLst>
              <a:ext uri="{FF2B5EF4-FFF2-40B4-BE49-F238E27FC236}">
                <a16:creationId xmlns:a16="http://schemas.microsoft.com/office/drawing/2014/main" id="{AB2BBE6C-81FF-4CE6-AFCC-84C282B1F2AA}"/>
              </a:ext>
            </a:extLst>
          </p:cNvPr>
          <p:cNvPicPr>
            <a:picLocks noChangeAspect="1"/>
          </p:cNvPicPr>
          <p:nvPr/>
        </p:nvPicPr>
        <p:blipFill>
          <a:blip r:embed="rId3"/>
          <a:stretch>
            <a:fillRect/>
          </a:stretch>
        </p:blipFill>
        <p:spPr>
          <a:xfrm>
            <a:off x="1199467" y="2658327"/>
            <a:ext cx="6306234" cy="34475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1f1d9125ab9_0_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53" name="Google Shape;153;g1f1d9125ab9_0_2"/>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10</a:t>
            </a:fld>
            <a:endParaRPr/>
          </a:p>
        </p:txBody>
      </p:sp>
      <p:sp>
        <p:nvSpPr>
          <p:cNvPr id="154" name="Google Shape;154;g1f1d9125ab9_0_2"/>
          <p:cNvSpPr txBox="1"/>
          <p:nvPr/>
        </p:nvSpPr>
        <p:spPr>
          <a:xfrm>
            <a:off x="1117481" y="2035728"/>
            <a:ext cx="7328700" cy="957658"/>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SzPts val="1100"/>
              <a:buNone/>
            </a:pPr>
            <a:r>
              <a:rPr lang="es-ES" b="1" dirty="0">
                <a:solidFill>
                  <a:srgbClr val="366091"/>
                </a:solidFill>
                <a:latin typeface="Calibri"/>
                <a:ea typeface="Calibri"/>
                <a:cs typeface="Calibri"/>
                <a:sym typeface="Calibri"/>
              </a:rPr>
              <a:t>Diagrama y Descripción Detallada del Caso de Uso “</a:t>
            </a:r>
            <a:r>
              <a:rPr lang="es-EC" b="1" dirty="0">
                <a:solidFill>
                  <a:srgbClr val="366091"/>
                </a:solidFill>
                <a:latin typeface="Calibri"/>
                <a:ea typeface="Calibri"/>
                <a:cs typeface="Calibri"/>
                <a:sym typeface="Calibri"/>
              </a:rPr>
              <a:t>Consultar </a:t>
            </a:r>
            <a:r>
              <a:rPr lang="es-EC" b="1" dirty="0" err="1">
                <a:solidFill>
                  <a:srgbClr val="366091"/>
                </a:solidFill>
                <a:latin typeface="Calibri"/>
                <a:ea typeface="Calibri"/>
                <a:cs typeface="Calibri"/>
                <a:sym typeface="Calibri"/>
              </a:rPr>
              <a:t>Caltelera</a:t>
            </a:r>
            <a:r>
              <a:rPr lang="es-ES" b="1" dirty="0">
                <a:solidFill>
                  <a:srgbClr val="366091"/>
                </a:solidFill>
                <a:latin typeface="Calibri"/>
                <a:ea typeface="Calibri"/>
                <a:cs typeface="Calibri"/>
                <a:sym typeface="Calibri"/>
              </a:rPr>
              <a:t>”</a:t>
            </a:r>
            <a:endParaRPr b="1" dirty="0">
              <a:solidFill>
                <a:srgbClr val="366091"/>
              </a:solidFill>
              <a:latin typeface="Calibri"/>
              <a:ea typeface="Calibri"/>
              <a:cs typeface="Calibri"/>
              <a:sym typeface="Calibri"/>
            </a:endParaRPr>
          </a:p>
          <a:p>
            <a:pPr marL="0" lvl="0" indent="0" algn="just" rtl="0">
              <a:lnSpc>
                <a:spcPct val="115000"/>
              </a:lnSpc>
              <a:spcBef>
                <a:spcPts val="200"/>
              </a:spcBef>
              <a:spcAft>
                <a:spcPts val="0"/>
              </a:spcAft>
              <a:buSzPts val="1100"/>
              <a:buNone/>
            </a:pPr>
            <a:endParaRPr b="1" dirty="0">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1843F143-C7D1-9D39-C58C-172683D9BA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rgbClr val="FFFF00"/>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5" name="Imagen 4">
            <a:extLst>
              <a:ext uri="{FF2B5EF4-FFF2-40B4-BE49-F238E27FC236}">
                <a16:creationId xmlns:a16="http://schemas.microsoft.com/office/drawing/2014/main" id="{64D4FA70-2155-4D09-A72E-D5BB1CA7F4A3}"/>
              </a:ext>
            </a:extLst>
          </p:cNvPr>
          <p:cNvPicPr>
            <a:picLocks noChangeAspect="1"/>
          </p:cNvPicPr>
          <p:nvPr/>
        </p:nvPicPr>
        <p:blipFill>
          <a:blip r:embed="rId3"/>
          <a:stretch>
            <a:fillRect/>
          </a:stretch>
        </p:blipFill>
        <p:spPr>
          <a:xfrm>
            <a:off x="1309221" y="2366165"/>
            <a:ext cx="5751979" cy="45786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1f1d9125ab9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71" name="Google Shape;171;g1f1d9125ab9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11</a:t>
            </a:fld>
            <a:endParaRPr/>
          </a:p>
        </p:txBody>
      </p:sp>
      <p:sp>
        <p:nvSpPr>
          <p:cNvPr id="172" name="Google Shape;172;g1f1d9125ab9_0_20"/>
          <p:cNvSpPr txBox="1"/>
          <p:nvPr/>
        </p:nvSpPr>
        <p:spPr>
          <a:xfrm>
            <a:off x="1117481" y="2035728"/>
            <a:ext cx="7328700" cy="957658"/>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SzPts val="1100"/>
              <a:buNone/>
            </a:pPr>
            <a:r>
              <a:rPr lang="es-ES" b="1">
                <a:solidFill>
                  <a:srgbClr val="366091"/>
                </a:solidFill>
                <a:latin typeface="Calibri"/>
                <a:ea typeface="Calibri"/>
                <a:cs typeface="Calibri"/>
                <a:sym typeface="Calibri"/>
              </a:rPr>
              <a:t>Diagrama y Descripción Detallada del Caso de Uso “</a:t>
            </a:r>
            <a:r>
              <a:rPr lang="es-EC" b="1">
                <a:solidFill>
                  <a:srgbClr val="366091"/>
                </a:solidFill>
                <a:latin typeface="Calibri"/>
                <a:ea typeface="Calibri"/>
                <a:cs typeface="Calibri"/>
                <a:sym typeface="Calibri"/>
              </a:rPr>
              <a:t>C</a:t>
            </a:r>
            <a:r>
              <a:rPr lang="es-EC" b="1">
                <a:solidFill>
                  <a:srgbClr val="366091"/>
                </a:solidFill>
                <a:latin typeface="Calibri"/>
                <a:ea typeface="Calibri"/>
                <a:cs typeface="Calibri"/>
              </a:rPr>
              <a:t>liente es comprador de boletos</a:t>
            </a:r>
            <a:r>
              <a:rPr lang="es-ES" b="1">
                <a:solidFill>
                  <a:srgbClr val="366091"/>
                </a:solidFill>
                <a:latin typeface="Calibri"/>
                <a:ea typeface="Calibri"/>
                <a:cs typeface="Calibri"/>
                <a:sym typeface="Calibri"/>
              </a:rPr>
              <a:t>”</a:t>
            </a:r>
            <a:endParaRPr b="1">
              <a:solidFill>
                <a:srgbClr val="366091"/>
              </a:solidFill>
              <a:latin typeface="Calibri"/>
              <a:ea typeface="Calibri"/>
              <a:cs typeface="Calibri"/>
              <a:sym typeface="Calibri"/>
            </a:endParaRPr>
          </a:p>
          <a:p>
            <a:pPr marL="0" lvl="0" indent="0" algn="just" rtl="0">
              <a:lnSpc>
                <a:spcPct val="115000"/>
              </a:lnSpc>
              <a:spcBef>
                <a:spcPts val="200"/>
              </a:spcBef>
              <a:spcAft>
                <a:spcPts val="0"/>
              </a:spcAft>
              <a:buSzPts val="1100"/>
              <a:buNone/>
            </a:pPr>
            <a:endParaRPr b="1">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9" name="Google Shape;2065;p212">
            <a:extLst>
              <a:ext uri="{FF2B5EF4-FFF2-40B4-BE49-F238E27FC236}">
                <a16:creationId xmlns:a16="http://schemas.microsoft.com/office/drawing/2014/main" id="{3A9F9731-8B4F-0E6D-DB46-8219187F66B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rgbClr val="FFFF00"/>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3" name="Imagen 2">
            <a:extLst>
              <a:ext uri="{FF2B5EF4-FFF2-40B4-BE49-F238E27FC236}">
                <a16:creationId xmlns:a16="http://schemas.microsoft.com/office/drawing/2014/main" id="{FA1DC274-DCFD-4E31-B6B0-B71AE41E4832}"/>
              </a:ext>
            </a:extLst>
          </p:cNvPr>
          <p:cNvPicPr>
            <a:picLocks noChangeAspect="1"/>
          </p:cNvPicPr>
          <p:nvPr/>
        </p:nvPicPr>
        <p:blipFill>
          <a:blip r:embed="rId3"/>
          <a:stretch>
            <a:fillRect/>
          </a:stretch>
        </p:blipFill>
        <p:spPr>
          <a:xfrm>
            <a:off x="307176" y="2423551"/>
            <a:ext cx="4222491" cy="2882128"/>
          </a:xfrm>
          <a:prstGeom prst="rect">
            <a:avLst/>
          </a:prstGeom>
        </p:spPr>
      </p:pic>
      <p:pic>
        <p:nvPicPr>
          <p:cNvPr id="6" name="Imagen 5">
            <a:extLst>
              <a:ext uri="{FF2B5EF4-FFF2-40B4-BE49-F238E27FC236}">
                <a16:creationId xmlns:a16="http://schemas.microsoft.com/office/drawing/2014/main" id="{5541C2B3-A114-427C-AEA9-CBD4810F4A63}"/>
              </a:ext>
            </a:extLst>
          </p:cNvPr>
          <p:cNvPicPr>
            <a:picLocks noChangeAspect="1"/>
          </p:cNvPicPr>
          <p:nvPr/>
        </p:nvPicPr>
        <p:blipFill>
          <a:blip r:embed="rId4"/>
          <a:stretch>
            <a:fillRect/>
          </a:stretch>
        </p:blipFill>
        <p:spPr>
          <a:xfrm>
            <a:off x="4909636" y="2550579"/>
            <a:ext cx="3174436" cy="42091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PRACTICA</a:t>
            </a:r>
            <a:endParaRPr/>
          </a:p>
        </p:txBody>
      </p:sp>
      <p:sp>
        <p:nvSpPr>
          <p:cNvPr id="340" name="Google Shape;340;p15"/>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12</a:t>
            </a:fld>
            <a:endParaRPr/>
          </a:p>
        </p:txBody>
      </p:sp>
      <p:sp>
        <p:nvSpPr>
          <p:cNvPr id="341" name="Google Shape;341;p15"/>
          <p:cNvSpPr txBox="1"/>
          <p:nvPr/>
        </p:nvSpPr>
        <p:spPr>
          <a:xfrm>
            <a:off x="1492623" y="2048780"/>
            <a:ext cx="610496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17365D"/>
                </a:solidFill>
                <a:latin typeface="Calibri"/>
                <a:ea typeface="Calibri"/>
                <a:cs typeface="Calibri"/>
                <a:sym typeface="Calibri"/>
              </a:rPr>
              <a:t>CREACIÓN DE DIAGRAMAS (CONCEPTUAL, LÓGICO, FÍSICO)</a:t>
            </a:r>
            <a:endParaRPr/>
          </a:p>
        </p:txBody>
      </p:sp>
      <p:sp>
        <p:nvSpPr>
          <p:cNvPr id="342" name="Google Shape;342;p15"/>
          <p:cNvSpPr txBox="1"/>
          <p:nvPr/>
        </p:nvSpPr>
        <p:spPr>
          <a:xfrm>
            <a:off x="581192" y="2511432"/>
            <a:ext cx="8150432"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None/>
            </a:pPr>
            <a:r>
              <a:rPr lang="es-ES" sz="1800">
                <a:solidFill>
                  <a:srgbClr val="548DD4"/>
                </a:solidFill>
                <a:latin typeface="Gill Sans"/>
                <a:ea typeface="Gill Sans"/>
                <a:cs typeface="Gill Sans"/>
                <a:sym typeface="Gill Sans"/>
              </a:rPr>
              <a:t>En el desarrollo del proyecto, es crucial generar diagramas que faciliten la observación visual y lógica de los procesos y conexiones presentes en las tablas..</a:t>
            </a:r>
            <a:endParaRPr sz="1800">
              <a:solidFill>
                <a:schemeClr val="dk1"/>
              </a:solidFill>
              <a:latin typeface="Gill Sans"/>
              <a:ea typeface="Gill Sans"/>
              <a:cs typeface="Gill Sans"/>
              <a:sym typeface="Gill Sans"/>
            </a:endParaRPr>
          </a:p>
        </p:txBody>
      </p:sp>
      <p:pic>
        <p:nvPicPr>
          <p:cNvPr id="343" name="Google Shape;343;p15"/>
          <p:cNvPicPr preferRelativeResize="0"/>
          <p:nvPr/>
        </p:nvPicPr>
        <p:blipFill rotWithShape="1">
          <a:blip r:embed="rId3">
            <a:alphaModFix/>
          </a:blip>
          <a:srcRect/>
          <a:stretch/>
        </p:blipFill>
        <p:spPr>
          <a:xfrm>
            <a:off x="3076239" y="3813362"/>
            <a:ext cx="3055620" cy="156210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A1CB7E0-93D2-1A6D-B2CC-A55D792728FD}"/>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1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PRACTICA</a:t>
            </a:r>
            <a:endParaRPr/>
          </a:p>
        </p:txBody>
      </p:sp>
      <p:sp>
        <p:nvSpPr>
          <p:cNvPr id="350" name="Google Shape;350;p1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13</a:t>
            </a:fld>
            <a:endParaRPr/>
          </a:p>
        </p:txBody>
      </p:sp>
      <p:sp>
        <p:nvSpPr>
          <p:cNvPr id="351" name="Google Shape;351;p16"/>
          <p:cNvSpPr txBox="1"/>
          <p:nvPr/>
        </p:nvSpPr>
        <p:spPr>
          <a:xfrm>
            <a:off x="581192"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Configuración del proyecto a crear.</a:t>
            </a:r>
            <a:endParaRPr/>
          </a:p>
        </p:txBody>
      </p:sp>
      <p:pic>
        <p:nvPicPr>
          <p:cNvPr id="352" name="Google Shape;352;p16"/>
          <p:cNvPicPr preferRelativeResize="0"/>
          <p:nvPr/>
        </p:nvPicPr>
        <p:blipFill rotWithShape="1">
          <a:blip r:embed="rId3">
            <a:alphaModFix/>
          </a:blip>
          <a:srcRect/>
          <a:stretch/>
        </p:blipFill>
        <p:spPr>
          <a:xfrm>
            <a:off x="2549310" y="2916206"/>
            <a:ext cx="4599940" cy="304736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E256EAF8-F875-8815-D497-AD1004CFD1F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59" name="Google Shape;359;p17"/>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14</a:t>
            </a:fld>
            <a:endParaRPr/>
          </a:p>
        </p:txBody>
      </p:sp>
      <p:sp>
        <p:nvSpPr>
          <p:cNvPr id="360" name="Google Shape;360;p17"/>
          <p:cNvSpPr txBox="1"/>
          <p:nvPr/>
        </p:nvSpPr>
        <p:spPr>
          <a:xfrm>
            <a:off x="327210" y="2062758"/>
            <a:ext cx="8458201"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Finalmente, se crea la siguiente estructura, de la cual se procede a dar clic derecho.</a:t>
            </a:r>
            <a:endParaRPr/>
          </a:p>
        </p:txBody>
      </p:sp>
      <p:pic>
        <p:nvPicPr>
          <p:cNvPr id="361" name="Google Shape;361;p17"/>
          <p:cNvPicPr preferRelativeResize="0"/>
          <p:nvPr/>
        </p:nvPicPr>
        <p:blipFill rotWithShape="1">
          <a:blip r:embed="rId3">
            <a:alphaModFix/>
          </a:blip>
          <a:srcRect/>
          <a:stretch/>
        </p:blipFill>
        <p:spPr>
          <a:xfrm>
            <a:off x="2099177" y="3015390"/>
            <a:ext cx="4914265" cy="254317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A8EE52E-CBBE-325D-8C3E-BD09A440DE0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68" name="Google Shape;368;p18"/>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15</a:t>
            </a:fld>
            <a:endParaRPr/>
          </a:p>
        </p:txBody>
      </p:sp>
      <p:sp>
        <p:nvSpPr>
          <p:cNvPr id="369" name="Google Shape;369;p18"/>
          <p:cNvSpPr txBox="1"/>
          <p:nvPr/>
        </p:nvSpPr>
        <p:spPr>
          <a:xfrm>
            <a:off x="1796798"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CREACIÓN DEL MODELO DE DATOS CONCEPTUAL</a:t>
            </a:r>
            <a:endParaRPr/>
          </a:p>
        </p:txBody>
      </p:sp>
      <p:sp>
        <p:nvSpPr>
          <p:cNvPr id="370" name="Google Shape;370;p18"/>
          <p:cNvSpPr txBox="1"/>
          <p:nvPr/>
        </p:nvSpPr>
        <p:spPr>
          <a:xfrm>
            <a:off x="581191" y="2418112"/>
            <a:ext cx="8293867" cy="100110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548DD4"/>
                </a:solidFill>
                <a:latin typeface="Gill Sans"/>
                <a:ea typeface="Gill Sans"/>
                <a:cs typeface="Gill Sans"/>
                <a:sym typeface="Gill Sans"/>
              </a:rPr>
              <a:t>El primer diagrama que se crea es el modelo conceptual, ya que proporciona una visualización de las conexiones que existen entre diferentes entidades.</a:t>
            </a:r>
            <a:endParaRPr sz="1800">
              <a:solidFill>
                <a:schemeClr val="dk1"/>
              </a:solidFill>
              <a:latin typeface="Gill Sans"/>
              <a:ea typeface="Gill Sans"/>
              <a:cs typeface="Gill Sans"/>
              <a:sym typeface="Gill Sans"/>
            </a:endParaRPr>
          </a:p>
          <a:p>
            <a:pPr marL="0" marR="0" lvl="0" indent="0" algn="just" rtl="0">
              <a:lnSpc>
                <a:spcPct val="114999"/>
              </a:lnSpc>
              <a:spcBef>
                <a:spcPts val="600"/>
              </a:spcBef>
              <a:spcAft>
                <a:spcPts val="0"/>
              </a:spcAft>
              <a:buNone/>
            </a:pPr>
            <a:endParaRPr sz="1800">
              <a:solidFill>
                <a:srgbClr val="548DD4"/>
              </a:solidFill>
              <a:latin typeface="MS Mincho"/>
              <a:ea typeface="MS Mincho"/>
              <a:cs typeface="MS Mincho"/>
              <a:sym typeface="MS Mincho"/>
            </a:endParaRPr>
          </a:p>
        </p:txBody>
      </p:sp>
      <p:sp>
        <p:nvSpPr>
          <p:cNvPr id="371" name="Google Shape;371;p18"/>
          <p:cNvSpPr txBox="1"/>
          <p:nvPr/>
        </p:nvSpPr>
        <p:spPr>
          <a:xfrm>
            <a:off x="581190" y="3344608"/>
            <a:ext cx="8293867"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Para ello, una vez dado clic derecho se despliega la siguiente ventana donde se selecciona Conceptual Data.</a:t>
            </a:r>
            <a:endParaRPr/>
          </a:p>
        </p:txBody>
      </p:sp>
      <p:pic>
        <p:nvPicPr>
          <p:cNvPr id="372" name="Google Shape;372;p18" descr="Interfaz de usuario gráfica, Texto, Aplicación  Descripción generada automáticamente"/>
          <p:cNvPicPr preferRelativeResize="0"/>
          <p:nvPr/>
        </p:nvPicPr>
        <p:blipFill rotWithShape="1">
          <a:blip r:embed="rId3">
            <a:alphaModFix/>
          </a:blip>
          <a:srcRect/>
          <a:stretch/>
        </p:blipFill>
        <p:spPr>
          <a:xfrm>
            <a:off x="3567745" y="4395417"/>
            <a:ext cx="2320756" cy="1760427"/>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8548E89A-1FD8-0EAA-C2B5-F363C5863A3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79" name="Google Shape;379;p19"/>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16</a:t>
            </a:fld>
            <a:endParaRPr/>
          </a:p>
        </p:txBody>
      </p:sp>
      <p:sp>
        <p:nvSpPr>
          <p:cNvPr id="380" name="Google Shape;380;p19"/>
          <p:cNvSpPr txBox="1"/>
          <p:nvPr/>
        </p:nvSpPr>
        <p:spPr>
          <a:xfrm>
            <a:off x="416859"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Luego, ya se refleja en la estructura el diagrama creado. </a:t>
            </a:r>
            <a:endParaRPr/>
          </a:p>
        </p:txBody>
      </p:sp>
      <p:pic>
        <p:nvPicPr>
          <p:cNvPr id="381" name="Google Shape;381;p19" descr="Interfaz de usuario gráfica, Texto, Aplicación  Descripción generada automáticamente"/>
          <p:cNvPicPr preferRelativeResize="0"/>
          <p:nvPr/>
        </p:nvPicPr>
        <p:blipFill rotWithShape="1">
          <a:blip r:embed="rId3">
            <a:alphaModFix/>
          </a:blip>
          <a:srcRect/>
          <a:stretch/>
        </p:blipFill>
        <p:spPr>
          <a:xfrm>
            <a:off x="4009689" y="2630376"/>
            <a:ext cx="1196340" cy="1424940"/>
          </a:xfrm>
          <a:prstGeom prst="rect">
            <a:avLst/>
          </a:prstGeom>
          <a:noFill/>
          <a:ln w="88900" cap="sq" cmpd="thickThin">
            <a:solidFill>
              <a:srgbClr val="000000"/>
            </a:solidFill>
            <a:prstDash val="solid"/>
            <a:miter lim="800000"/>
            <a:headEnd type="none" w="sm" len="sm"/>
            <a:tailEnd type="none" w="sm" len="sm"/>
          </a:ln>
        </p:spPr>
      </p:pic>
      <p:sp>
        <p:nvSpPr>
          <p:cNvPr id="382" name="Google Shape;382;p19"/>
          <p:cNvSpPr txBox="1"/>
          <p:nvPr/>
        </p:nvSpPr>
        <p:spPr>
          <a:xfrm>
            <a:off x="22152" y="4220295"/>
            <a:ext cx="8817048"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Una vez creado el diagrama es necesario cambiar el nombre para identificar de manera mas fácil.</a:t>
            </a:r>
            <a:endParaRPr/>
          </a:p>
        </p:txBody>
      </p:sp>
      <p:pic>
        <p:nvPicPr>
          <p:cNvPr id="383" name="Google Shape;383;p19" descr="Interfaz de usuario gráfica, Texto, Aplicación, Correo electrónico  Descripción generada automáticamente"/>
          <p:cNvPicPr preferRelativeResize="0"/>
          <p:nvPr/>
        </p:nvPicPr>
        <p:blipFill rotWithShape="1">
          <a:blip r:embed="rId4">
            <a:alphaModFix/>
          </a:blip>
          <a:srcRect/>
          <a:stretch/>
        </p:blipFill>
        <p:spPr>
          <a:xfrm>
            <a:off x="3429000" y="4954494"/>
            <a:ext cx="2667000" cy="154686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CB15C28-A7DC-2910-849F-EA0650C44646}"/>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90" name="Google Shape;390;p20"/>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17</a:t>
            </a:fld>
            <a:endParaRPr/>
          </a:p>
        </p:txBody>
      </p:sp>
      <p:sp>
        <p:nvSpPr>
          <p:cNvPr id="391" name="Google Shape;391;p20"/>
          <p:cNvSpPr txBox="1"/>
          <p:nvPr/>
        </p:nvSpPr>
        <p:spPr>
          <a:xfrm>
            <a:off x="581192"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Luego, se crean las entidades necesarias para el proyecto.</a:t>
            </a:r>
            <a:endParaRPr/>
          </a:p>
        </p:txBody>
      </p:sp>
      <p:pic>
        <p:nvPicPr>
          <p:cNvPr id="392" name="Google Shape;392;p20"/>
          <p:cNvPicPr preferRelativeResize="0"/>
          <p:nvPr/>
        </p:nvPicPr>
        <p:blipFill rotWithShape="1">
          <a:blip r:embed="rId3">
            <a:alphaModFix/>
          </a:blip>
          <a:srcRect/>
          <a:stretch/>
        </p:blipFill>
        <p:spPr>
          <a:xfrm>
            <a:off x="844328" y="2936876"/>
            <a:ext cx="7270645" cy="312894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01910C0-B548-8114-EC52-ECD68A71220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99" name="Google Shape;399;p21"/>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18</a:t>
            </a:fld>
            <a:endParaRPr/>
          </a:p>
        </p:txBody>
      </p:sp>
      <p:sp>
        <p:nvSpPr>
          <p:cNvPr id="400" name="Google Shape;400;p21"/>
          <p:cNvSpPr txBox="1"/>
          <p:nvPr/>
        </p:nvSpPr>
        <p:spPr>
          <a:xfrm>
            <a:off x="581192" y="2062758"/>
            <a:ext cx="8060784"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Creadas las entidades, se asigna las respectivas características y atributos a las entidades.</a:t>
            </a:r>
            <a:endParaRPr/>
          </a:p>
        </p:txBody>
      </p:sp>
      <p:pic>
        <p:nvPicPr>
          <p:cNvPr id="401" name="Google Shape;401;p21" descr="Interfaz de usuario gráfica, Tabla  Descripción generada automáticamente"/>
          <p:cNvPicPr preferRelativeResize="0"/>
          <p:nvPr/>
        </p:nvPicPr>
        <p:blipFill rotWithShape="1">
          <a:blip r:embed="rId3">
            <a:alphaModFix/>
          </a:blip>
          <a:srcRect/>
          <a:stretch/>
        </p:blipFill>
        <p:spPr>
          <a:xfrm>
            <a:off x="2678691" y="3120267"/>
            <a:ext cx="4611370" cy="309308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2F14EA36-3607-654B-F31D-58E3770C605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08" name="Google Shape;408;p2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19</a:t>
            </a:fld>
            <a:endParaRPr/>
          </a:p>
        </p:txBody>
      </p:sp>
      <p:sp>
        <p:nvSpPr>
          <p:cNvPr id="409" name="Google Shape;409;p22"/>
          <p:cNvSpPr txBox="1"/>
          <p:nvPr/>
        </p:nvSpPr>
        <p:spPr>
          <a:xfrm>
            <a:off x="581192" y="2062758"/>
            <a:ext cx="8258008"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Creadas las entidades, se asigna las respectivas características y atributos a las entidades.</a:t>
            </a:r>
            <a:endParaRPr/>
          </a:p>
        </p:txBody>
      </p:sp>
      <p:pic>
        <p:nvPicPr>
          <p:cNvPr id="410" name="Google Shape;410;p22" descr="Interfaz de usuario gráfica, Tabla  Descripción generada automáticamente"/>
          <p:cNvPicPr preferRelativeResize="0"/>
          <p:nvPr/>
        </p:nvPicPr>
        <p:blipFill rotWithShape="1">
          <a:blip r:embed="rId3">
            <a:alphaModFix/>
          </a:blip>
          <a:srcRect/>
          <a:stretch/>
        </p:blipFill>
        <p:spPr>
          <a:xfrm>
            <a:off x="2651171" y="3062759"/>
            <a:ext cx="4611370" cy="309308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B3EECB60-D025-560E-C9AB-186BE9B4F01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17" name="Google Shape;417;p23"/>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20</a:t>
            </a:fld>
            <a:endParaRPr/>
          </a:p>
        </p:txBody>
      </p:sp>
      <p:sp>
        <p:nvSpPr>
          <p:cNvPr id="418" name="Google Shape;418;p23"/>
          <p:cNvSpPr txBox="1"/>
          <p:nvPr/>
        </p:nvSpPr>
        <p:spPr>
          <a:xfrm>
            <a:off x="416859"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Se realiza el mismo proceso para la entidad localidad_partido.</a:t>
            </a:r>
            <a:endParaRPr/>
          </a:p>
        </p:txBody>
      </p:sp>
      <p:pic>
        <p:nvPicPr>
          <p:cNvPr id="419" name="Google Shape;419;p23" descr="Interfaz de usuario gráfica, Tabla  Descripción generada automáticamente"/>
          <p:cNvPicPr preferRelativeResize="0"/>
          <p:nvPr/>
        </p:nvPicPr>
        <p:blipFill rotWithShape="1">
          <a:blip r:embed="rId3">
            <a:alphaModFix/>
          </a:blip>
          <a:srcRect/>
          <a:stretch/>
        </p:blipFill>
        <p:spPr>
          <a:xfrm>
            <a:off x="2867660" y="3070379"/>
            <a:ext cx="4627880" cy="308546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35776302-2DBC-D725-F840-3AAFD438C27B}"/>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26" name="Google Shape;426;p24"/>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21</a:t>
            </a:fld>
            <a:endParaRPr/>
          </a:p>
        </p:txBody>
      </p:sp>
      <p:sp>
        <p:nvSpPr>
          <p:cNvPr id="427" name="Google Shape;427;p24"/>
          <p:cNvSpPr txBox="1"/>
          <p:nvPr/>
        </p:nvSpPr>
        <p:spPr>
          <a:xfrm>
            <a:off x="452717"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Lo mismo con detalle_factura.</a:t>
            </a:r>
            <a:endParaRPr/>
          </a:p>
        </p:txBody>
      </p:sp>
      <p:pic>
        <p:nvPicPr>
          <p:cNvPr id="428" name="Google Shape;428;p24" descr="Interfaz de usuario gráfica, Aplicación, Tabla, Excel  Descripción generada automáticamente"/>
          <p:cNvPicPr preferRelativeResize="0"/>
          <p:nvPr/>
        </p:nvPicPr>
        <p:blipFill rotWithShape="1">
          <a:blip r:embed="rId3">
            <a:alphaModFix/>
          </a:blip>
          <a:srcRect/>
          <a:stretch/>
        </p:blipFill>
        <p:spPr>
          <a:xfrm>
            <a:off x="2342964" y="2924461"/>
            <a:ext cx="4565650" cy="303085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5B5E8119-DB93-A6C5-7CC6-D7DB106AB50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2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35" name="Google Shape;435;p25"/>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22</a:t>
            </a:fld>
            <a:endParaRPr/>
          </a:p>
        </p:txBody>
      </p:sp>
      <p:sp>
        <p:nvSpPr>
          <p:cNvPr id="436" name="Google Shape;436;p25"/>
          <p:cNvSpPr txBox="1"/>
          <p:nvPr/>
        </p:nvSpPr>
        <p:spPr>
          <a:xfrm>
            <a:off x="434788"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Lo mismo con la entidad FACTURA.</a:t>
            </a:r>
            <a:endParaRPr/>
          </a:p>
        </p:txBody>
      </p:sp>
      <p:pic>
        <p:nvPicPr>
          <p:cNvPr id="437" name="Google Shape;437;p25" descr="Tabla  Descripción generada automáticamente"/>
          <p:cNvPicPr preferRelativeResize="0"/>
          <p:nvPr/>
        </p:nvPicPr>
        <p:blipFill rotWithShape="1">
          <a:blip r:embed="rId3">
            <a:alphaModFix/>
          </a:blip>
          <a:srcRect/>
          <a:stretch/>
        </p:blipFill>
        <p:spPr>
          <a:xfrm>
            <a:off x="2541363" y="2897024"/>
            <a:ext cx="4921885" cy="325882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D0CB5CEF-E558-D3AC-CA64-BC15EEBAA71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44" name="Google Shape;444;p2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23</a:t>
            </a:fld>
            <a:endParaRPr/>
          </a:p>
        </p:txBody>
      </p:sp>
      <p:sp>
        <p:nvSpPr>
          <p:cNvPr id="445" name="Google Shape;445;p26"/>
          <p:cNvSpPr txBox="1"/>
          <p:nvPr/>
        </p:nvSpPr>
        <p:spPr>
          <a:xfrm>
            <a:off x="434788" y="2222032"/>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Lo mismo con la entidad PARTIDO_FUTBOL.</a:t>
            </a:r>
            <a:endParaRPr/>
          </a:p>
        </p:txBody>
      </p:sp>
      <p:pic>
        <p:nvPicPr>
          <p:cNvPr id="446" name="Google Shape;446;p26" descr="Interfaz de usuario gráfica, Aplicación, Tabla, Excel  Descripción generada automáticamente"/>
          <p:cNvPicPr preferRelativeResize="0"/>
          <p:nvPr/>
        </p:nvPicPr>
        <p:blipFill rotWithShape="1">
          <a:blip r:embed="rId3">
            <a:alphaModFix/>
          </a:blip>
          <a:srcRect/>
          <a:stretch/>
        </p:blipFill>
        <p:spPr>
          <a:xfrm>
            <a:off x="2459775" y="3150665"/>
            <a:ext cx="4779010" cy="319024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C7783BC-DA49-80F5-B3B1-8E9D5156E6C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1f1d9125ab9_0_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82" name="Google Shape;182;g1f1d9125ab9_0_31"/>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24</a:t>
            </a:fld>
            <a:endParaRPr/>
          </a:p>
        </p:txBody>
      </p:sp>
      <p:sp>
        <p:nvSpPr>
          <p:cNvPr id="183" name="Google Shape;183;g1f1d9125ab9_0_31"/>
          <p:cNvSpPr txBox="1"/>
          <p:nvPr/>
        </p:nvSpPr>
        <p:spPr>
          <a:xfrm>
            <a:off x="854800" y="1957000"/>
            <a:ext cx="3000000" cy="49343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dirty="0">
                <a:solidFill>
                  <a:srgbClr val="243F61"/>
                </a:solidFill>
                <a:latin typeface="Calibri"/>
                <a:ea typeface="Calibri"/>
                <a:cs typeface="Calibri"/>
                <a:sym typeface="Calibri"/>
              </a:rPr>
              <a:t>DIAGRAMA CONCEPTUAL</a:t>
            </a:r>
            <a:endParaRPr sz="1600" b="1" dirty="0">
              <a:solidFill>
                <a:srgbClr val="243F61"/>
              </a:solidFill>
              <a:latin typeface="Calibri"/>
              <a:ea typeface="Calibri"/>
              <a:cs typeface="Calibri"/>
              <a:sym typeface="Calibri"/>
            </a:endParaRPr>
          </a:p>
        </p:txBody>
      </p:sp>
      <p:sp>
        <p:nvSpPr>
          <p:cNvPr id="3" name="Google Shape;2065;p212">
            <a:extLst>
              <a:ext uri="{FF2B5EF4-FFF2-40B4-BE49-F238E27FC236}">
                <a16:creationId xmlns:a16="http://schemas.microsoft.com/office/drawing/2014/main" id="{259CBF3B-3A70-8560-F5CF-5E463590B79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9" name="Imagen 8">
            <a:extLst>
              <a:ext uri="{FF2B5EF4-FFF2-40B4-BE49-F238E27FC236}">
                <a16:creationId xmlns:a16="http://schemas.microsoft.com/office/drawing/2014/main" id="{F64CE430-2D5A-4CAF-8B1D-14E74204DA2B}"/>
              </a:ext>
            </a:extLst>
          </p:cNvPr>
          <p:cNvPicPr>
            <a:picLocks noChangeAspect="1"/>
          </p:cNvPicPr>
          <p:nvPr/>
        </p:nvPicPr>
        <p:blipFill>
          <a:blip r:embed="rId3"/>
          <a:stretch>
            <a:fillRect/>
          </a:stretch>
        </p:blipFill>
        <p:spPr>
          <a:xfrm>
            <a:off x="726478" y="2686684"/>
            <a:ext cx="7058622" cy="3442847"/>
          </a:xfrm>
          <a:prstGeom prst="rect">
            <a:avLst/>
          </a:prstGeom>
        </p:spPr>
      </p:pic>
    </p:spTree>
    <p:extLst>
      <p:ext uri="{BB962C8B-B14F-4D97-AF65-F5344CB8AC3E}">
        <p14:creationId xmlns:p14="http://schemas.microsoft.com/office/powerpoint/2010/main" val="3705007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3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27" name="Google Shape;527;p3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25</a:t>
            </a:fld>
            <a:endParaRPr/>
          </a:p>
        </p:txBody>
      </p:sp>
      <p:sp>
        <p:nvSpPr>
          <p:cNvPr id="528" name="Google Shape;528;p36"/>
          <p:cNvSpPr txBox="1"/>
          <p:nvPr/>
        </p:nvSpPr>
        <p:spPr>
          <a:xfrm>
            <a:off x="1796798"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GENERACIÓN DEL MODELO LÓGICO</a:t>
            </a:r>
            <a:endParaRPr/>
          </a:p>
        </p:txBody>
      </p:sp>
      <p:sp>
        <p:nvSpPr>
          <p:cNvPr id="529" name="Google Shape;529;p36"/>
          <p:cNvSpPr txBox="1"/>
          <p:nvPr/>
        </p:nvSpPr>
        <p:spPr>
          <a:xfrm>
            <a:off x="264721" y="2418112"/>
            <a:ext cx="8484832"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Una vez realizado todos los pasos anteriores, generadas las entidades con sus respectivas relaciones se crea un modelo de tipo lógico.</a:t>
            </a:r>
            <a:endParaRPr/>
          </a:p>
        </p:txBody>
      </p:sp>
      <p:pic>
        <p:nvPicPr>
          <p:cNvPr id="530" name="Google Shape;530;p36" descr="Interfaz de usuario gráfica, Texto, Aplicación, Correo electrónico  Descripción generada automáticamente"/>
          <p:cNvPicPr preferRelativeResize="0"/>
          <p:nvPr/>
        </p:nvPicPr>
        <p:blipFill rotWithShape="1">
          <a:blip r:embed="rId3">
            <a:alphaModFix/>
          </a:blip>
          <a:srcRect/>
          <a:stretch/>
        </p:blipFill>
        <p:spPr>
          <a:xfrm>
            <a:off x="4024676" y="3320641"/>
            <a:ext cx="1864360" cy="307403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7D84493-F5EC-831F-A2E3-01BE0B7073E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37" name="Google Shape;537;p37"/>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26</a:t>
            </a:fld>
            <a:endParaRPr/>
          </a:p>
        </p:txBody>
      </p:sp>
      <p:sp>
        <p:nvSpPr>
          <p:cNvPr id="538" name="Google Shape;538;p37"/>
          <p:cNvSpPr txBox="1"/>
          <p:nvPr/>
        </p:nvSpPr>
        <p:spPr>
          <a:xfrm>
            <a:off x="581192" y="2062758"/>
            <a:ext cx="8186290"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Al presionar la opción generar modelo lógico, se procede a preguntar varias opciones</a:t>
            </a:r>
            <a:endParaRPr/>
          </a:p>
        </p:txBody>
      </p:sp>
      <p:pic>
        <p:nvPicPr>
          <p:cNvPr id="539" name="Google Shape;539;p37" descr="Interfaz de usuario gráfica, Aplicación  Descripción generada automáticamente"/>
          <p:cNvPicPr preferRelativeResize="0"/>
          <p:nvPr/>
        </p:nvPicPr>
        <p:blipFill rotWithShape="1">
          <a:blip r:embed="rId3">
            <a:alphaModFix/>
          </a:blip>
          <a:srcRect/>
          <a:stretch/>
        </p:blipFill>
        <p:spPr>
          <a:xfrm>
            <a:off x="3021432" y="3079489"/>
            <a:ext cx="3655695" cy="292227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9B4DD72-484F-A3F7-D2A7-F413BB86E5E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f1d9125ab9_0_5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200" name="Google Shape;200;g1f1d9125ab9_0_55"/>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27</a:t>
            </a:fld>
            <a:endParaRPr/>
          </a:p>
        </p:txBody>
      </p:sp>
      <p:sp>
        <p:nvSpPr>
          <p:cNvPr id="201" name="Google Shape;201;g1f1d9125ab9_0_55"/>
          <p:cNvSpPr txBox="1"/>
          <p:nvPr/>
        </p:nvSpPr>
        <p:spPr>
          <a:xfrm>
            <a:off x="854800" y="1957000"/>
            <a:ext cx="3000000" cy="431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a:solidFill>
                  <a:srgbClr val="243F61"/>
                </a:solidFill>
                <a:latin typeface="Calibri"/>
                <a:ea typeface="Calibri"/>
                <a:cs typeface="Calibri"/>
                <a:sym typeface="Calibri"/>
              </a:rPr>
              <a:t>MODELO LÓGICO</a:t>
            </a:r>
            <a:endParaRPr sz="1600" b="1">
              <a:solidFill>
                <a:srgbClr val="243F61"/>
              </a:solidFill>
              <a:latin typeface="Calibri"/>
              <a:ea typeface="Calibri"/>
              <a:cs typeface="Calibri"/>
              <a:sym typeface="Calibri"/>
            </a:endParaRPr>
          </a:p>
        </p:txBody>
      </p:sp>
      <p:sp>
        <p:nvSpPr>
          <p:cNvPr id="3" name="Google Shape;2065;p212">
            <a:extLst>
              <a:ext uri="{FF2B5EF4-FFF2-40B4-BE49-F238E27FC236}">
                <a16:creationId xmlns:a16="http://schemas.microsoft.com/office/drawing/2014/main" id="{4C6E9FA2-AF47-DF2B-225A-24EF925D932E}"/>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7" name="Imagen 6">
            <a:extLst>
              <a:ext uri="{FF2B5EF4-FFF2-40B4-BE49-F238E27FC236}">
                <a16:creationId xmlns:a16="http://schemas.microsoft.com/office/drawing/2014/main" id="{0F1D92A5-CB79-4764-ADBC-36083A9EE8D9}"/>
              </a:ext>
            </a:extLst>
          </p:cNvPr>
          <p:cNvPicPr>
            <a:picLocks noChangeAspect="1"/>
          </p:cNvPicPr>
          <p:nvPr/>
        </p:nvPicPr>
        <p:blipFill>
          <a:blip r:embed="rId3"/>
          <a:stretch>
            <a:fillRect/>
          </a:stretch>
        </p:blipFill>
        <p:spPr>
          <a:xfrm>
            <a:off x="854800" y="2629244"/>
            <a:ext cx="7047713" cy="3516375"/>
          </a:xfrm>
          <a:prstGeom prst="rect">
            <a:avLst/>
          </a:prstGeom>
        </p:spPr>
      </p:pic>
    </p:spTree>
    <p:extLst>
      <p:ext uri="{BB962C8B-B14F-4D97-AF65-F5344CB8AC3E}">
        <p14:creationId xmlns:p14="http://schemas.microsoft.com/office/powerpoint/2010/main" val="1858801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55" name="Google Shape;555;p39"/>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28</a:t>
            </a:fld>
            <a:endParaRPr/>
          </a:p>
        </p:txBody>
      </p:sp>
      <p:sp>
        <p:nvSpPr>
          <p:cNvPr id="556" name="Google Shape;556;p39"/>
          <p:cNvSpPr txBox="1"/>
          <p:nvPr/>
        </p:nvSpPr>
        <p:spPr>
          <a:xfrm>
            <a:off x="1582270"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GENERACIÓN DEL MODELO FÍSICO</a:t>
            </a:r>
            <a:endParaRPr/>
          </a:p>
        </p:txBody>
      </p:sp>
      <p:sp>
        <p:nvSpPr>
          <p:cNvPr id="557" name="Google Shape;557;p39"/>
          <p:cNvSpPr txBox="1"/>
          <p:nvPr/>
        </p:nvSpPr>
        <p:spPr>
          <a:xfrm>
            <a:off x="581191" y="2728109"/>
            <a:ext cx="8275937"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Después, se procede a crear el modelo físico que es muy importante para generar scripts DDL y DML.</a:t>
            </a:r>
            <a:endParaRPr/>
          </a:p>
        </p:txBody>
      </p:sp>
      <p:pic>
        <p:nvPicPr>
          <p:cNvPr id="558" name="Google Shape;558;p39" descr="Interfaz de usuario gráfica, Texto, Aplicación, Correo electrónico  Descripción generada automáticamente"/>
          <p:cNvPicPr preferRelativeResize="0"/>
          <p:nvPr/>
        </p:nvPicPr>
        <p:blipFill rotWithShape="1">
          <a:blip r:embed="rId3">
            <a:alphaModFix/>
          </a:blip>
          <a:srcRect/>
          <a:stretch/>
        </p:blipFill>
        <p:spPr>
          <a:xfrm>
            <a:off x="3948339" y="3485544"/>
            <a:ext cx="1752577" cy="2909132"/>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2AC3C779-D244-69C3-A537-04B915C2FA94}"/>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1f1d9125ab9_0_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218" name="Google Shape;218;g1f1d9125ab9_0_75"/>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29</a:t>
            </a:fld>
            <a:endParaRPr/>
          </a:p>
        </p:txBody>
      </p:sp>
      <p:sp>
        <p:nvSpPr>
          <p:cNvPr id="219" name="Google Shape;219;g1f1d9125ab9_0_75"/>
          <p:cNvSpPr txBox="1"/>
          <p:nvPr/>
        </p:nvSpPr>
        <p:spPr>
          <a:xfrm>
            <a:off x="854800" y="1957000"/>
            <a:ext cx="3000000" cy="431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a:solidFill>
                  <a:srgbClr val="243F61"/>
                </a:solidFill>
                <a:latin typeface="Calibri"/>
                <a:ea typeface="Calibri"/>
                <a:cs typeface="Calibri"/>
                <a:sym typeface="Calibri"/>
              </a:rPr>
              <a:t>MODELO FÍSICO</a:t>
            </a:r>
            <a:endParaRPr sz="1600" b="1">
              <a:solidFill>
                <a:srgbClr val="243F61"/>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C8EF1341-6861-0547-A269-0C1EFDC6844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6" name="Imagen 5">
            <a:extLst>
              <a:ext uri="{FF2B5EF4-FFF2-40B4-BE49-F238E27FC236}">
                <a16:creationId xmlns:a16="http://schemas.microsoft.com/office/drawing/2014/main" id="{F2164AC2-640F-42A6-9DEC-5CE057FDEAC4}"/>
              </a:ext>
            </a:extLst>
          </p:cNvPr>
          <p:cNvPicPr>
            <a:picLocks noChangeAspect="1"/>
          </p:cNvPicPr>
          <p:nvPr/>
        </p:nvPicPr>
        <p:blipFill>
          <a:blip r:embed="rId3"/>
          <a:stretch>
            <a:fillRect/>
          </a:stretch>
        </p:blipFill>
        <p:spPr>
          <a:xfrm>
            <a:off x="732862" y="2629245"/>
            <a:ext cx="7389365" cy="3947982"/>
          </a:xfrm>
          <a:prstGeom prst="rect">
            <a:avLst/>
          </a:prstGeom>
        </p:spPr>
      </p:pic>
    </p:spTree>
    <p:extLst>
      <p:ext uri="{BB962C8B-B14F-4D97-AF65-F5344CB8AC3E}">
        <p14:creationId xmlns:p14="http://schemas.microsoft.com/office/powerpoint/2010/main" val="5722776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30</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3499002" cy="884666"/>
          </a:xfrm>
          <a:prstGeom prst="rect">
            <a:avLst/>
          </a:prstGeom>
          <a:noFill/>
        </p:spPr>
        <p:txBody>
          <a:bodyPr wrap="square">
            <a:spAutoFit/>
          </a:bodyPr>
          <a:lstStyle/>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BASE DE DATOS </a:t>
            </a:r>
          </a:p>
          <a:p>
            <a:pPr>
              <a:spcBef>
                <a:spcPts val="1000"/>
              </a:spcBef>
            </a:pPr>
            <a:r>
              <a:rPr lang="es-EC" b="1" i="1" err="1">
                <a:solidFill>
                  <a:srgbClr val="5B9BD5"/>
                </a:solidFill>
                <a:latin typeface="Calibri Light" panose="020F0302020204030204" pitchFamily="34" charset="0"/>
                <a:ea typeface="Times New Roman" panose="02020603050405020304" pitchFamily="18" charset="0"/>
                <a:cs typeface="Times New Roman" panose="02020603050405020304" pitchFamily="18" charset="0"/>
              </a:rPr>
              <a:t>BankQuito</a:t>
            </a:r>
            <a:endParaRPr lang="en-US"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08BF30D0-D922-036D-5D08-5B29F00A6343}"/>
              </a:ext>
            </a:extLst>
          </p:cNvPr>
          <p:cNvSpPr txBox="1"/>
          <p:nvPr/>
        </p:nvSpPr>
        <p:spPr>
          <a:xfrm>
            <a:off x="4861116" y="2022078"/>
            <a:ext cx="3250692" cy="651460"/>
          </a:xfrm>
          <a:prstGeom prst="rect">
            <a:avLst/>
          </a:prstGeom>
          <a:noFill/>
        </p:spPr>
        <p:txBody>
          <a:bodyPr wrap="square">
            <a:spAutoFit/>
          </a:bodyPr>
          <a:lstStyle/>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BASE DE DATOS </a:t>
            </a:r>
          </a:p>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Comercializadora</a:t>
            </a:r>
            <a:endParaRPr lang="en-US"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Imagen 1">
            <a:extLst>
              <a:ext uri="{FF2B5EF4-FFF2-40B4-BE49-F238E27FC236}">
                <a16:creationId xmlns:a16="http://schemas.microsoft.com/office/drawing/2014/main" id="{C0F10A4D-9BED-3A7C-C84E-7F352EFEACCE}"/>
              </a:ext>
            </a:extLst>
          </p:cNvPr>
          <p:cNvPicPr>
            <a:picLocks noChangeAspect="1"/>
          </p:cNvPicPr>
          <p:nvPr/>
        </p:nvPicPr>
        <p:blipFill>
          <a:blip r:embed="rId3"/>
          <a:stretch>
            <a:fillRect/>
          </a:stretch>
        </p:blipFill>
        <p:spPr>
          <a:xfrm>
            <a:off x="151401" y="2980206"/>
            <a:ext cx="4181839" cy="3025095"/>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7296D415-AEDE-51D9-C3FB-9D068BBD3C81}"/>
              </a:ext>
            </a:extLst>
          </p:cNvPr>
          <p:cNvPicPr>
            <a:picLocks noChangeAspect="1"/>
          </p:cNvPicPr>
          <p:nvPr/>
        </p:nvPicPr>
        <p:blipFill>
          <a:blip r:embed="rId4"/>
          <a:stretch>
            <a:fillRect/>
          </a:stretch>
        </p:blipFill>
        <p:spPr>
          <a:xfrm>
            <a:off x="4675523" y="3429000"/>
            <a:ext cx="4099560" cy="1996234"/>
          </a:xfrm>
          <a:prstGeom prst="rect">
            <a:avLst/>
          </a:prstGeom>
          <a:ln w="88900" cap="sq" cmpd="thickThin">
            <a:solidFill>
              <a:srgbClr val="000000"/>
            </a:solidFill>
            <a:prstDash val="solid"/>
            <a:miter lim="800000"/>
          </a:ln>
          <a:effectLst>
            <a:innerShdw blurRad="76200">
              <a:srgbClr val="000000"/>
            </a:innerShdw>
          </a:effectLst>
        </p:spPr>
      </p:pic>
      <p:sp>
        <p:nvSpPr>
          <p:cNvPr id="6" name="Google Shape;2065;p212">
            <a:extLst>
              <a:ext uri="{FF2B5EF4-FFF2-40B4-BE49-F238E27FC236}">
                <a16:creationId xmlns:a16="http://schemas.microsoft.com/office/drawing/2014/main" id="{46908C7D-78D9-0115-B5EE-BF4F256E900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26049CC7-4172-9A1D-0E82-EF3646A00801}"/>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A6DDD43-33FB-909E-F0E0-4CDAEAC3B1B8}"/>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CREACION DEL PROYECTO</a:t>
            </a:r>
            <a:endParaRPr/>
          </a:p>
        </p:txBody>
      </p:sp>
      <p:sp>
        <p:nvSpPr>
          <p:cNvPr id="2066" name="Google Shape;2066;p212">
            <a:extLst>
              <a:ext uri="{FF2B5EF4-FFF2-40B4-BE49-F238E27FC236}">
                <a16:creationId xmlns:a16="http://schemas.microsoft.com/office/drawing/2014/main" id="{9E7A5BF0-65DB-79B5-E94A-B6EB91744B65}"/>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31</a:t>
            </a:fld>
            <a:endParaRPr/>
          </a:p>
        </p:txBody>
      </p:sp>
      <p:sp>
        <p:nvSpPr>
          <p:cNvPr id="3" name="CuadroTexto 2">
            <a:extLst>
              <a:ext uri="{FF2B5EF4-FFF2-40B4-BE49-F238E27FC236}">
                <a16:creationId xmlns:a16="http://schemas.microsoft.com/office/drawing/2014/main" id="{C91E740D-36AF-DE00-6ADD-B6E0E2346909}"/>
              </a:ext>
            </a:extLst>
          </p:cNvPr>
          <p:cNvSpPr txBox="1"/>
          <p:nvPr/>
        </p:nvSpPr>
        <p:spPr>
          <a:xfrm>
            <a:off x="581192" y="2022078"/>
            <a:ext cx="8069032" cy="849271"/>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Para realizar el proyecto SOAP, se determinó el desarrollo dentro de NETBEAS</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EC" sz="1400" dirty="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Google Shape;2065;p212">
            <a:extLst>
              <a:ext uri="{FF2B5EF4-FFF2-40B4-BE49-F238E27FC236}">
                <a16:creationId xmlns:a16="http://schemas.microsoft.com/office/drawing/2014/main" id="{58666783-A054-FB29-EA4A-761A14B6559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8" name="Imagen 7">
            <a:extLst>
              <a:ext uri="{FF2B5EF4-FFF2-40B4-BE49-F238E27FC236}">
                <a16:creationId xmlns:a16="http://schemas.microsoft.com/office/drawing/2014/main" id="{8DCED7E6-EFFF-4254-95D2-6D5785F60D1C}"/>
              </a:ext>
            </a:extLst>
          </p:cNvPr>
          <p:cNvPicPr/>
          <p:nvPr/>
        </p:nvPicPr>
        <p:blipFill rotWithShape="1">
          <a:blip r:embed="rId3"/>
          <a:srcRect l="5798" t="5675" r="18565" b="10023"/>
          <a:stretch/>
        </p:blipFill>
        <p:spPr bwMode="auto">
          <a:xfrm>
            <a:off x="1219200" y="2438400"/>
            <a:ext cx="6305550" cy="3956276"/>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9847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F3CE1522-8A4E-375E-3432-0C2BC4F97A1F}"/>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EB23DA61-33A0-87C2-FC42-8827536769FD}"/>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a:extLst>
              <a:ext uri="{FF2B5EF4-FFF2-40B4-BE49-F238E27FC236}">
                <a16:creationId xmlns:a16="http://schemas.microsoft.com/office/drawing/2014/main" id="{CCC9B8E5-167F-143E-80ED-4B8D61AF6F2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32</a:t>
            </a:fld>
            <a:endParaRPr/>
          </a:p>
        </p:txBody>
      </p:sp>
      <p:sp>
        <p:nvSpPr>
          <p:cNvPr id="3" name="CuadroTexto 2">
            <a:extLst>
              <a:ext uri="{FF2B5EF4-FFF2-40B4-BE49-F238E27FC236}">
                <a16:creationId xmlns:a16="http://schemas.microsoft.com/office/drawing/2014/main" id="{3E1B5C6B-F3EA-78E7-EBBE-77D0D3EFACD2}"/>
              </a:ext>
            </a:extLst>
          </p:cNvPr>
          <p:cNvSpPr txBox="1"/>
          <p:nvPr/>
        </p:nvSpPr>
        <p:spPr>
          <a:xfrm>
            <a:off x="581192" y="2022078"/>
            <a:ext cx="8069032" cy="1167820"/>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crea el proyecto Java Web en NetBeans, se selecciona el servidor de aplicaciones (GlassFish/Tomcat) y se configura el nombre del paquete bajo la nomenclatura del proyecto: monster.edu.ec</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Google Shape;2065;p212">
            <a:extLst>
              <a:ext uri="{FF2B5EF4-FFF2-40B4-BE49-F238E27FC236}">
                <a16:creationId xmlns:a16="http://schemas.microsoft.com/office/drawing/2014/main" id="{74E63D46-645C-0D6E-4761-FF87E525773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7" name="Imagen 6">
            <a:extLst>
              <a:ext uri="{FF2B5EF4-FFF2-40B4-BE49-F238E27FC236}">
                <a16:creationId xmlns:a16="http://schemas.microsoft.com/office/drawing/2014/main" id="{62B4D764-2A7A-47EA-AF1A-9CEED0D097D7}"/>
              </a:ext>
            </a:extLst>
          </p:cNvPr>
          <p:cNvPicPr/>
          <p:nvPr/>
        </p:nvPicPr>
        <p:blipFill rotWithShape="1">
          <a:blip r:embed="rId3"/>
          <a:srcRect l="3393" r="6498" b="8176"/>
          <a:stretch/>
        </p:blipFill>
        <p:spPr bwMode="auto">
          <a:xfrm>
            <a:off x="1696504" y="3240118"/>
            <a:ext cx="5072596" cy="3095144"/>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72829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5AEE09E8-907B-F4C6-9DF4-773D219DA0EB}"/>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161DB256-CAA5-FA10-41E2-3A3AC9D3E7A7}"/>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a:extLst>
              <a:ext uri="{FF2B5EF4-FFF2-40B4-BE49-F238E27FC236}">
                <a16:creationId xmlns:a16="http://schemas.microsoft.com/office/drawing/2014/main" id="{FBDCDD7A-CF5D-9561-F426-310A8D72D99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33</a:t>
            </a:fld>
            <a:endParaRPr/>
          </a:p>
        </p:txBody>
      </p:sp>
      <p:sp>
        <p:nvSpPr>
          <p:cNvPr id="3" name="CuadroTexto 2">
            <a:extLst>
              <a:ext uri="{FF2B5EF4-FFF2-40B4-BE49-F238E27FC236}">
                <a16:creationId xmlns:a16="http://schemas.microsoft.com/office/drawing/2014/main" id="{BA3E0874-BDB6-B743-699A-055A9FD84A6B}"/>
              </a:ext>
            </a:extLst>
          </p:cNvPr>
          <p:cNvSpPr txBox="1"/>
          <p:nvPr/>
        </p:nvSpPr>
        <p:spPr>
          <a:xfrm>
            <a:off x="581192" y="2022078"/>
            <a:ext cx="8069032" cy="1167820"/>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define la estructura del proyecto con las capas: Vista (interfaces cliente), Modelo (entidades Java), WS/Controlador (servicios SOAP JAX-WS), Servicios (lógica de negocio) y Repositorio (acceso a MySQL).</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Google Shape;2065;p212">
            <a:extLst>
              <a:ext uri="{FF2B5EF4-FFF2-40B4-BE49-F238E27FC236}">
                <a16:creationId xmlns:a16="http://schemas.microsoft.com/office/drawing/2014/main" id="{E1083C42-CFEE-0029-E0F4-5202D92BEDB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6" name="Imagen 5">
            <a:extLst>
              <a:ext uri="{FF2B5EF4-FFF2-40B4-BE49-F238E27FC236}">
                <a16:creationId xmlns:a16="http://schemas.microsoft.com/office/drawing/2014/main" id="{04B6FEC7-1BE1-46D1-973B-7EC11812CE72}"/>
              </a:ext>
            </a:extLst>
          </p:cNvPr>
          <p:cNvPicPr>
            <a:picLocks noChangeAspect="1"/>
          </p:cNvPicPr>
          <p:nvPr/>
        </p:nvPicPr>
        <p:blipFill>
          <a:blip r:embed="rId3"/>
          <a:stretch>
            <a:fillRect/>
          </a:stretch>
        </p:blipFill>
        <p:spPr>
          <a:xfrm>
            <a:off x="1790197" y="3153764"/>
            <a:ext cx="5987200" cy="3002080"/>
          </a:xfrm>
          <a:prstGeom prst="rect">
            <a:avLst/>
          </a:prstGeom>
        </p:spPr>
      </p:pic>
    </p:spTree>
    <p:extLst>
      <p:ext uri="{BB962C8B-B14F-4D97-AF65-F5344CB8AC3E}">
        <p14:creationId xmlns:p14="http://schemas.microsoft.com/office/powerpoint/2010/main" val="1931220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2E5803E1-3DE5-6693-B76E-F3F99ACC30E6}"/>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FE16F4A-C7D4-BF78-30E7-7173D332508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2DB492AA-593D-D49B-369F-B0788568163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A82DAED3-51CE-0551-6842-E59C5787A65A}"/>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34</a:t>
            </a:fld>
            <a:endParaRPr/>
          </a:p>
        </p:txBody>
      </p:sp>
      <p:sp>
        <p:nvSpPr>
          <p:cNvPr id="6" name="CuadroTexto 5">
            <a:extLst>
              <a:ext uri="{FF2B5EF4-FFF2-40B4-BE49-F238E27FC236}">
                <a16:creationId xmlns:a16="http://schemas.microsoft.com/office/drawing/2014/main" id="{92773016-A219-55B2-E798-E5EF2434027F}"/>
              </a:ext>
            </a:extLst>
          </p:cNvPr>
          <p:cNvSpPr txBox="1"/>
          <p:nvPr/>
        </p:nvSpPr>
        <p:spPr>
          <a:xfrm>
            <a:off x="381000" y="2123291"/>
            <a:ext cx="8643410" cy="1629933"/>
          </a:xfrm>
          <a:prstGeom prst="rect">
            <a:avLst/>
          </a:prstGeom>
          <a:noFill/>
        </p:spPr>
        <p:txBody>
          <a:bodyPr wrap="square">
            <a:spAutoFit/>
          </a:bodyPr>
          <a:lstStyle/>
          <a:p>
            <a:pPr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codifica la clase modelo PartidoFutbol.java con los atributos: codigo (int), equipoLocal (String), equipoVisita (String), fecha (Date) y lugar (String), correspondientes a la tabla PARTIDO_FUTBOL en MySQL..</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F2CFB7A8-F98A-441A-8802-7332F7158D9F}"/>
              </a:ext>
            </a:extLst>
          </p:cNvPr>
          <p:cNvPicPr>
            <a:picLocks noChangeAspect="1"/>
          </p:cNvPicPr>
          <p:nvPr/>
        </p:nvPicPr>
        <p:blipFill>
          <a:blip r:embed="rId3"/>
          <a:stretch>
            <a:fillRect/>
          </a:stretch>
        </p:blipFill>
        <p:spPr>
          <a:xfrm>
            <a:off x="1466625" y="3279710"/>
            <a:ext cx="5136005" cy="3375089"/>
          </a:xfrm>
          <a:prstGeom prst="rect">
            <a:avLst/>
          </a:prstGeom>
        </p:spPr>
      </p:pic>
    </p:spTree>
    <p:extLst>
      <p:ext uri="{BB962C8B-B14F-4D97-AF65-F5344CB8AC3E}">
        <p14:creationId xmlns:p14="http://schemas.microsoft.com/office/powerpoint/2010/main" val="4019010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DA96902-FD6F-F745-3299-51DD1324F23A}"/>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21A2168-5B0B-C437-4879-9FAB3934120F}"/>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3EDFD594-22D3-9285-0E20-E9BD716820B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407F99DD-9D91-9CE1-AA0D-4E74289EA9F5}"/>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35</a:t>
            </a:fld>
            <a:endParaRPr/>
          </a:p>
        </p:txBody>
      </p:sp>
      <p:sp>
        <p:nvSpPr>
          <p:cNvPr id="6" name="CuadroTexto 5">
            <a:extLst>
              <a:ext uri="{FF2B5EF4-FFF2-40B4-BE49-F238E27FC236}">
                <a16:creationId xmlns:a16="http://schemas.microsoft.com/office/drawing/2014/main" id="{8CC547BE-F367-BCBA-6288-5A6DFB2D6AC9}"/>
              </a:ext>
            </a:extLst>
          </p:cNvPr>
          <p:cNvSpPr txBox="1"/>
          <p:nvPr/>
        </p:nvSpPr>
        <p:spPr>
          <a:xfrm>
            <a:off x="381000" y="2123291"/>
            <a:ext cx="8643410" cy="392159"/>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Codificación de la clase:</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28A33458-BA0C-4817-BD39-C260305C1721}"/>
              </a:ext>
            </a:extLst>
          </p:cNvPr>
          <p:cNvPicPr>
            <a:picLocks noChangeAspect="1"/>
          </p:cNvPicPr>
          <p:nvPr/>
        </p:nvPicPr>
        <p:blipFill>
          <a:blip r:embed="rId3"/>
          <a:stretch>
            <a:fillRect/>
          </a:stretch>
        </p:blipFill>
        <p:spPr>
          <a:xfrm>
            <a:off x="3419543" y="1989471"/>
            <a:ext cx="5013258" cy="4166373"/>
          </a:xfrm>
          <a:prstGeom prst="rect">
            <a:avLst/>
          </a:prstGeom>
        </p:spPr>
      </p:pic>
    </p:spTree>
    <p:extLst>
      <p:ext uri="{BB962C8B-B14F-4D97-AF65-F5344CB8AC3E}">
        <p14:creationId xmlns:p14="http://schemas.microsoft.com/office/powerpoint/2010/main" val="18466369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7A305C0-49C5-2D91-75AB-05015E5C8855}"/>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35CC3DC-2101-3E39-400D-47B8B6FC973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57BBAC3D-E1B6-F81E-6F29-F37D120CB0D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7B7B6449-34DE-6A6D-8C77-9000210BD524}"/>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36</a:t>
            </a:fld>
            <a:endParaRPr/>
          </a:p>
        </p:txBody>
      </p:sp>
      <p:sp>
        <p:nvSpPr>
          <p:cNvPr id="6" name="CuadroTexto 5">
            <a:extLst>
              <a:ext uri="{FF2B5EF4-FFF2-40B4-BE49-F238E27FC236}">
                <a16:creationId xmlns:a16="http://schemas.microsoft.com/office/drawing/2014/main" id="{8455FFD9-F528-0306-A39F-DB9B852FFD7B}"/>
              </a:ext>
            </a:extLst>
          </p:cNvPr>
          <p:cNvSpPr txBox="1"/>
          <p:nvPr/>
        </p:nvSpPr>
        <p:spPr>
          <a:xfrm>
            <a:off x="296334" y="1762419"/>
            <a:ext cx="8643410" cy="1311385"/>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Asimismo, se procede con la codificación de la clase RESULTADOS dentro del modelo, siguiendo los pasos anteriormente mencionados. </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Codificación de la clase, teniendo en cuenta los atributos de la tabla en la base de datos.</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Imagen 3">
            <a:extLst>
              <a:ext uri="{FF2B5EF4-FFF2-40B4-BE49-F238E27FC236}">
                <a16:creationId xmlns:a16="http://schemas.microsoft.com/office/drawing/2014/main" id="{8A8D4889-BA0D-4136-B027-81663CD61F22}"/>
              </a:ext>
            </a:extLst>
          </p:cNvPr>
          <p:cNvPicPr>
            <a:picLocks noChangeAspect="1"/>
          </p:cNvPicPr>
          <p:nvPr/>
        </p:nvPicPr>
        <p:blipFill>
          <a:blip r:embed="rId3"/>
          <a:stretch>
            <a:fillRect/>
          </a:stretch>
        </p:blipFill>
        <p:spPr>
          <a:xfrm>
            <a:off x="2428898" y="3296656"/>
            <a:ext cx="3521960" cy="3098020"/>
          </a:xfrm>
          <a:prstGeom prst="rect">
            <a:avLst/>
          </a:prstGeom>
        </p:spPr>
      </p:pic>
    </p:spTree>
    <p:extLst>
      <p:ext uri="{BB962C8B-B14F-4D97-AF65-F5344CB8AC3E}">
        <p14:creationId xmlns:p14="http://schemas.microsoft.com/office/powerpoint/2010/main" val="32651818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FF9A3A88-BCFD-7317-29E7-770A6A23D6FB}"/>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CC6BAE40-9A5F-6FD7-9C1C-4DC4C6131FD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F7D76D91-949C-5D66-7F00-0F8C3ADE6AD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861F3306-EE60-BF88-37DF-2687B2A0D7AF}"/>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37</a:t>
            </a:fld>
            <a:endParaRPr/>
          </a:p>
        </p:txBody>
      </p:sp>
      <p:sp>
        <p:nvSpPr>
          <p:cNvPr id="6" name="CuadroTexto 5">
            <a:extLst>
              <a:ext uri="{FF2B5EF4-FFF2-40B4-BE49-F238E27FC236}">
                <a16:creationId xmlns:a16="http://schemas.microsoft.com/office/drawing/2014/main" id="{1D76D932-5A87-2CFB-1DFA-9046F1DDC7A3}"/>
              </a:ext>
            </a:extLst>
          </p:cNvPr>
          <p:cNvSpPr txBox="1"/>
          <p:nvPr/>
        </p:nvSpPr>
        <p:spPr>
          <a:xfrm>
            <a:off x="355601" y="2101085"/>
            <a:ext cx="8643410" cy="392159"/>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codifican las clases FacturaCabecera.java y FacturaDetalle.java para la base de datos de TicketPremium, incluyendo el cálculo de subtotal, IVA 15% y total a pagar..</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Imagen 3">
            <a:extLst>
              <a:ext uri="{FF2B5EF4-FFF2-40B4-BE49-F238E27FC236}">
                <a16:creationId xmlns:a16="http://schemas.microsoft.com/office/drawing/2014/main" id="{E9D6C55A-C352-447D-B6D9-1C90CFB68197}"/>
              </a:ext>
            </a:extLst>
          </p:cNvPr>
          <p:cNvPicPr>
            <a:picLocks noChangeAspect="1"/>
          </p:cNvPicPr>
          <p:nvPr/>
        </p:nvPicPr>
        <p:blipFill>
          <a:blip r:embed="rId3"/>
          <a:stretch>
            <a:fillRect/>
          </a:stretch>
        </p:blipFill>
        <p:spPr>
          <a:xfrm>
            <a:off x="355601" y="2981319"/>
            <a:ext cx="4103024" cy="3434684"/>
          </a:xfrm>
          <a:prstGeom prst="rect">
            <a:avLst/>
          </a:prstGeom>
        </p:spPr>
      </p:pic>
      <p:pic>
        <p:nvPicPr>
          <p:cNvPr id="7" name="Imagen 6">
            <a:extLst>
              <a:ext uri="{FF2B5EF4-FFF2-40B4-BE49-F238E27FC236}">
                <a16:creationId xmlns:a16="http://schemas.microsoft.com/office/drawing/2014/main" id="{E1C1E5E2-62CA-4E62-BFF6-E9CBF643000C}"/>
              </a:ext>
            </a:extLst>
          </p:cNvPr>
          <p:cNvPicPr>
            <a:picLocks noChangeAspect="1"/>
          </p:cNvPicPr>
          <p:nvPr/>
        </p:nvPicPr>
        <p:blipFill>
          <a:blip r:embed="rId4"/>
          <a:stretch>
            <a:fillRect/>
          </a:stretch>
        </p:blipFill>
        <p:spPr>
          <a:xfrm>
            <a:off x="4672058" y="2878373"/>
            <a:ext cx="4231875" cy="3537630"/>
          </a:xfrm>
          <a:prstGeom prst="rect">
            <a:avLst/>
          </a:prstGeom>
        </p:spPr>
      </p:pic>
    </p:spTree>
    <p:extLst>
      <p:ext uri="{BB962C8B-B14F-4D97-AF65-F5344CB8AC3E}">
        <p14:creationId xmlns:p14="http://schemas.microsoft.com/office/powerpoint/2010/main" val="2206693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478EC6C3-8E4F-0FD2-C95D-0C120E7431FB}"/>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0DB33309-0EDC-B8D0-BBB7-881EB1269F1C}"/>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4F82934D-A970-9911-3698-FD8B2A2B1A2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03503DA9-AB19-BD99-89B9-484E71ABFCC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38</a:t>
            </a:fld>
            <a:endParaRPr/>
          </a:p>
        </p:txBody>
      </p:sp>
      <p:sp>
        <p:nvSpPr>
          <p:cNvPr id="6" name="CuadroTexto 5">
            <a:extLst>
              <a:ext uri="{FF2B5EF4-FFF2-40B4-BE49-F238E27FC236}">
                <a16:creationId xmlns:a16="http://schemas.microsoft.com/office/drawing/2014/main" id="{667C9E6C-49D1-60F9-9EEA-54C87383F8AA}"/>
              </a:ext>
            </a:extLst>
          </p:cNvPr>
          <p:cNvSpPr txBox="1"/>
          <p:nvPr/>
        </p:nvSpPr>
        <p:spPr>
          <a:xfrm>
            <a:off x="355601" y="2101085"/>
            <a:ext cx="8643410" cy="1029256"/>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Una vez agregado el modelo se procede a realizar la codificación de los métodos o servicios SOAP, para lo cual se deberá hacer clic derecho sobre la carpeta “controlador” agregar controlador.</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9" name="Imagen 8">
            <a:extLst>
              <a:ext uri="{FF2B5EF4-FFF2-40B4-BE49-F238E27FC236}">
                <a16:creationId xmlns:a16="http://schemas.microsoft.com/office/drawing/2014/main" id="{78680F06-F997-4A78-BBE4-E6EF74C774A6}"/>
              </a:ext>
            </a:extLst>
          </p:cNvPr>
          <p:cNvPicPr>
            <a:picLocks noChangeAspect="1"/>
          </p:cNvPicPr>
          <p:nvPr/>
        </p:nvPicPr>
        <p:blipFill>
          <a:blip r:embed="rId3"/>
          <a:stretch>
            <a:fillRect/>
          </a:stretch>
        </p:blipFill>
        <p:spPr>
          <a:xfrm>
            <a:off x="2013968" y="3047147"/>
            <a:ext cx="5562489" cy="3712653"/>
          </a:xfrm>
          <a:prstGeom prst="rect">
            <a:avLst/>
          </a:prstGeom>
        </p:spPr>
      </p:pic>
    </p:spTree>
    <p:extLst>
      <p:ext uri="{BB962C8B-B14F-4D97-AF65-F5344CB8AC3E}">
        <p14:creationId xmlns:p14="http://schemas.microsoft.com/office/powerpoint/2010/main" val="3360476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BED6392B-8990-81EE-6F9A-A785EA91A66D}"/>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3023578-C5F9-E172-1450-28905AD4C2D4}"/>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a:buSzPts val="2800"/>
            </a:pPr>
            <a:r>
              <a:rPr lang="es-EC"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CREACIÓN DE LOS SERVICIOS</a:t>
            </a:r>
            <a:endParaRPr sz="4000">
              <a:solidFill>
                <a:schemeClr val="bg1"/>
              </a:solidFill>
            </a:endParaRPr>
          </a:p>
        </p:txBody>
      </p:sp>
      <p:sp>
        <p:nvSpPr>
          <p:cNvPr id="2065" name="Google Shape;2065;p212">
            <a:extLst>
              <a:ext uri="{FF2B5EF4-FFF2-40B4-BE49-F238E27FC236}">
                <a16:creationId xmlns:a16="http://schemas.microsoft.com/office/drawing/2014/main" id="{00B63804-4FAC-1600-6ACC-4837E548C7B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b="1">
                <a:solidFill>
                  <a:srgbClr val="FFFF00"/>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9F3FB7C3-4AAA-0293-C719-3491BC0BA0E3}"/>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39</a:t>
            </a:fld>
            <a:endParaRPr/>
          </a:p>
        </p:txBody>
      </p:sp>
      <p:sp>
        <p:nvSpPr>
          <p:cNvPr id="6" name="CuadroTexto 5">
            <a:extLst>
              <a:ext uri="{FF2B5EF4-FFF2-40B4-BE49-F238E27FC236}">
                <a16:creationId xmlns:a16="http://schemas.microsoft.com/office/drawing/2014/main" id="{C00E7A37-6C7E-8AB2-4E61-C7EABE20F47F}"/>
              </a:ext>
            </a:extLst>
          </p:cNvPr>
          <p:cNvSpPr txBox="1"/>
          <p:nvPr/>
        </p:nvSpPr>
        <p:spPr>
          <a:xfrm>
            <a:off x="270934" y="2449460"/>
            <a:ext cx="8643410" cy="710707"/>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procede con la creación del método o servicio, el cual permite validar si el cliente es comprador de boletos, dentro del controlador.</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CuadroTexto 9">
            <a:extLst>
              <a:ext uri="{FF2B5EF4-FFF2-40B4-BE49-F238E27FC236}">
                <a16:creationId xmlns:a16="http://schemas.microsoft.com/office/drawing/2014/main" id="{87986CA1-51E3-2333-66E1-C835F92961DC}"/>
              </a:ext>
            </a:extLst>
          </p:cNvPr>
          <p:cNvSpPr txBox="1"/>
          <p:nvPr/>
        </p:nvSpPr>
        <p:spPr>
          <a:xfrm>
            <a:off x="270934" y="2092574"/>
            <a:ext cx="6104466" cy="325538"/>
          </a:xfrm>
          <a:prstGeom prst="rect">
            <a:avLst/>
          </a:prstGeom>
          <a:noFill/>
        </p:spPr>
        <p:txBody>
          <a:bodyPr wrap="square">
            <a:spAutoFit/>
          </a:bodyPr>
          <a:lstStyle/>
          <a:p>
            <a:pPr marL="0" marR="0" algn="just">
              <a:lnSpc>
                <a:spcPct val="115000"/>
              </a:lnSpc>
              <a:spcBef>
                <a:spcPts val="200"/>
              </a:spcBef>
            </a:pPr>
            <a:r>
              <a:rPr lang="es-EC"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WS SOAP: getPartidosVigentes()</a:t>
            </a:r>
            <a:endParaRPr lang="en-US"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3174E77E-BA8C-4D29-95B9-8B1A0C058174}"/>
              </a:ext>
            </a:extLst>
          </p:cNvPr>
          <p:cNvPicPr>
            <a:picLocks noChangeAspect="1"/>
          </p:cNvPicPr>
          <p:nvPr/>
        </p:nvPicPr>
        <p:blipFill>
          <a:blip r:embed="rId3"/>
          <a:stretch>
            <a:fillRect/>
          </a:stretch>
        </p:blipFill>
        <p:spPr>
          <a:xfrm>
            <a:off x="2507571" y="3219762"/>
            <a:ext cx="3867829" cy="3174914"/>
          </a:xfrm>
          <a:prstGeom prst="rect">
            <a:avLst/>
          </a:prstGeom>
        </p:spPr>
      </p:pic>
    </p:spTree>
    <p:extLst>
      <p:ext uri="{BB962C8B-B14F-4D97-AF65-F5344CB8AC3E}">
        <p14:creationId xmlns:p14="http://schemas.microsoft.com/office/powerpoint/2010/main" val="4036453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14EA4A0B-6AA5-F2E1-3778-DDDA22463E50}"/>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AEC61BF-BF61-0B68-0139-AC78FFF1AEA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a:buSzPts val="2800"/>
            </a:pPr>
            <a:r>
              <a:rPr lang="es-EC"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CREACIÓN DE LOS SERVICIOS</a:t>
            </a:r>
            <a:endParaRPr sz="4000">
              <a:solidFill>
                <a:schemeClr val="bg1"/>
              </a:solidFill>
            </a:endParaRPr>
          </a:p>
        </p:txBody>
      </p:sp>
      <p:sp>
        <p:nvSpPr>
          <p:cNvPr id="2065" name="Google Shape;2065;p212">
            <a:extLst>
              <a:ext uri="{FF2B5EF4-FFF2-40B4-BE49-F238E27FC236}">
                <a16:creationId xmlns:a16="http://schemas.microsoft.com/office/drawing/2014/main" id="{9AEB9983-D40C-C6D3-D848-EE23AFE7A84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b="1">
                <a:solidFill>
                  <a:srgbClr val="FFFF00"/>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11367697-65FE-3F9C-2DF8-A8C1A16E4F85}"/>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40</a:t>
            </a:fld>
            <a:endParaRPr/>
          </a:p>
        </p:txBody>
      </p:sp>
      <p:sp>
        <p:nvSpPr>
          <p:cNvPr id="6" name="CuadroTexto 5">
            <a:extLst>
              <a:ext uri="{FF2B5EF4-FFF2-40B4-BE49-F238E27FC236}">
                <a16:creationId xmlns:a16="http://schemas.microsoft.com/office/drawing/2014/main" id="{C800B890-44BB-E2C4-DB34-6440A3D39A66}"/>
              </a:ext>
            </a:extLst>
          </p:cNvPr>
          <p:cNvSpPr txBox="1"/>
          <p:nvPr/>
        </p:nvSpPr>
        <p:spPr>
          <a:xfrm>
            <a:off x="270934" y="2449460"/>
            <a:ext cx="8643410" cy="392159"/>
          </a:xfrm>
          <a:prstGeom prst="rect">
            <a:avLst/>
          </a:prstGeom>
          <a:noFill/>
        </p:spPr>
        <p:txBody>
          <a:bodyPr wrap="square">
            <a:spAutoFit/>
          </a:bodyPr>
          <a:lstStyle/>
          <a:p>
            <a:pPr marL="0" marR="0" algn="just">
              <a:lnSpc>
                <a:spcPct val="115000"/>
              </a:lnSpc>
              <a:spcBef>
                <a:spcPts val="600"/>
              </a:spcBef>
              <a:spcAft>
                <a:spcPts val="1600"/>
              </a:spcAft>
            </a:pPr>
            <a:r>
              <a:rPr lang="es-E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Servicio que permite determinar el disponibilidad máxima de localidades.</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CuadroTexto 9">
            <a:extLst>
              <a:ext uri="{FF2B5EF4-FFF2-40B4-BE49-F238E27FC236}">
                <a16:creationId xmlns:a16="http://schemas.microsoft.com/office/drawing/2014/main" id="{786EF5CE-0AAC-EB49-976B-BD642B578765}"/>
              </a:ext>
            </a:extLst>
          </p:cNvPr>
          <p:cNvSpPr txBox="1"/>
          <p:nvPr/>
        </p:nvSpPr>
        <p:spPr>
          <a:xfrm>
            <a:off x="270934" y="2092574"/>
            <a:ext cx="6104466" cy="325538"/>
          </a:xfrm>
          <a:prstGeom prst="rect">
            <a:avLst/>
          </a:prstGeom>
          <a:noFill/>
        </p:spPr>
        <p:txBody>
          <a:bodyPr wrap="square">
            <a:spAutoFit/>
          </a:bodyPr>
          <a:lstStyle/>
          <a:p>
            <a:pPr marL="0" marR="0" algn="just">
              <a:lnSpc>
                <a:spcPct val="115000"/>
              </a:lnSpc>
              <a:spcBef>
                <a:spcPts val="200"/>
              </a:spcBef>
            </a:pPr>
            <a:r>
              <a:rPr lang="es-EC"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WS SOAP: getPartidosVigentes()</a:t>
            </a:r>
            <a:endParaRPr lang="en-US"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F52FBF07-5851-48D2-A7EA-6F2A5733AA41}"/>
              </a:ext>
            </a:extLst>
          </p:cNvPr>
          <p:cNvPicPr>
            <a:picLocks noChangeAspect="1"/>
          </p:cNvPicPr>
          <p:nvPr/>
        </p:nvPicPr>
        <p:blipFill>
          <a:blip r:embed="rId3"/>
          <a:stretch>
            <a:fillRect/>
          </a:stretch>
        </p:blipFill>
        <p:spPr>
          <a:xfrm>
            <a:off x="1218807" y="3061728"/>
            <a:ext cx="4761079" cy="3094116"/>
          </a:xfrm>
          <a:prstGeom prst="rect">
            <a:avLst/>
          </a:prstGeom>
        </p:spPr>
      </p:pic>
    </p:spTree>
    <p:extLst>
      <p:ext uri="{BB962C8B-B14F-4D97-AF65-F5344CB8AC3E}">
        <p14:creationId xmlns:p14="http://schemas.microsoft.com/office/powerpoint/2010/main" val="2148183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D0025E14-7A59-65EA-8112-C85FB9D28A34}"/>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6C2F3771-1F6A-53F9-07A9-5608245CCCF6}"/>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a:buSzPts val="2800"/>
            </a:pPr>
            <a:r>
              <a:rPr lang="es-EC"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CREACIÓN DE LOS SERVICIOS</a:t>
            </a:r>
            <a:endParaRPr sz="4000">
              <a:solidFill>
                <a:schemeClr val="bg1"/>
              </a:solidFill>
            </a:endParaRPr>
          </a:p>
        </p:txBody>
      </p:sp>
      <p:sp>
        <p:nvSpPr>
          <p:cNvPr id="2065" name="Google Shape;2065;p212">
            <a:extLst>
              <a:ext uri="{FF2B5EF4-FFF2-40B4-BE49-F238E27FC236}">
                <a16:creationId xmlns:a16="http://schemas.microsoft.com/office/drawing/2014/main" id="{1086176B-B967-30D4-BBB9-887D705DB3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b="1">
                <a:solidFill>
                  <a:srgbClr val="FFFF00"/>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D4BD5BE0-D434-C5DD-8FA2-6F958A1652DA}"/>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41</a:t>
            </a:fld>
            <a:endParaRPr/>
          </a:p>
        </p:txBody>
      </p:sp>
      <p:sp>
        <p:nvSpPr>
          <p:cNvPr id="6" name="CuadroTexto 5">
            <a:extLst>
              <a:ext uri="{FF2B5EF4-FFF2-40B4-BE49-F238E27FC236}">
                <a16:creationId xmlns:a16="http://schemas.microsoft.com/office/drawing/2014/main" id="{2D4CD250-9835-0B9F-1F88-81E43E24831E}"/>
              </a:ext>
            </a:extLst>
          </p:cNvPr>
          <p:cNvSpPr txBox="1"/>
          <p:nvPr/>
        </p:nvSpPr>
        <p:spPr>
          <a:xfrm>
            <a:off x="270934" y="2449460"/>
            <a:ext cx="8643410" cy="710707"/>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crea un nuevo controlador, que se encargará únicamente para registrar ventas de boletos, y para la inserción dentro de la reporte de ventas.</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CuadroTexto 9">
            <a:extLst>
              <a:ext uri="{FF2B5EF4-FFF2-40B4-BE49-F238E27FC236}">
                <a16:creationId xmlns:a16="http://schemas.microsoft.com/office/drawing/2014/main" id="{ABA99372-0760-9D34-0365-9085BEA7102D}"/>
              </a:ext>
            </a:extLst>
          </p:cNvPr>
          <p:cNvSpPr txBox="1"/>
          <p:nvPr/>
        </p:nvSpPr>
        <p:spPr>
          <a:xfrm>
            <a:off x="270934" y="2092574"/>
            <a:ext cx="6104466" cy="358816"/>
          </a:xfrm>
          <a:prstGeom prst="rect">
            <a:avLst/>
          </a:prstGeom>
          <a:noFill/>
        </p:spPr>
        <p:txBody>
          <a:bodyPr wrap="square">
            <a:spAutoFit/>
          </a:bodyPr>
          <a:lstStyle/>
          <a:p>
            <a:pPr marL="0" marR="0" algn="just">
              <a:lnSpc>
                <a:spcPct val="115000"/>
              </a:lnSpc>
              <a:spcBef>
                <a:spcPts val="200"/>
              </a:spcBef>
            </a:pPr>
            <a:r>
              <a:rPr lang="es-EC" sz="16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WS SOAP: decrementarDisponibilidad()</a:t>
            </a:r>
            <a:endParaRPr lang="en-US" sz="16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F63F4956-193F-4974-A2D5-6F6488B13780}"/>
              </a:ext>
            </a:extLst>
          </p:cNvPr>
          <p:cNvPicPr>
            <a:picLocks noChangeAspect="1"/>
          </p:cNvPicPr>
          <p:nvPr/>
        </p:nvPicPr>
        <p:blipFill>
          <a:blip r:embed="rId3"/>
          <a:stretch>
            <a:fillRect/>
          </a:stretch>
        </p:blipFill>
        <p:spPr>
          <a:xfrm>
            <a:off x="1929215" y="3184894"/>
            <a:ext cx="4897751" cy="3574907"/>
          </a:xfrm>
          <a:prstGeom prst="rect">
            <a:avLst/>
          </a:prstGeom>
        </p:spPr>
      </p:pic>
    </p:spTree>
    <p:extLst>
      <p:ext uri="{BB962C8B-B14F-4D97-AF65-F5344CB8AC3E}">
        <p14:creationId xmlns:p14="http://schemas.microsoft.com/office/powerpoint/2010/main" val="2055310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AB831B64-0967-A40F-61F4-AF39AFE0D7D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98C1BD8-1F70-083C-9269-21D5099D1EB2}"/>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AA2871AD-240D-36C2-A4EC-B39DB1B5D51C}"/>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116F8831-692D-7D50-296F-C985A12C127A}"/>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42</a:t>
            </a:fld>
            <a:endParaRPr/>
          </a:p>
        </p:txBody>
      </p:sp>
      <p:sp>
        <p:nvSpPr>
          <p:cNvPr id="6" name="CuadroTexto 5">
            <a:extLst>
              <a:ext uri="{FF2B5EF4-FFF2-40B4-BE49-F238E27FC236}">
                <a16:creationId xmlns:a16="http://schemas.microsoft.com/office/drawing/2014/main" id="{AD880ACB-3F66-213F-6AF8-3DA21B9F274B}"/>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3C58E01E-2759-867C-AF50-61A22DFFD23B}"/>
              </a:ext>
            </a:extLst>
          </p:cNvPr>
          <p:cNvSpPr txBox="1"/>
          <p:nvPr/>
        </p:nvSpPr>
        <p:spPr>
          <a:xfrm>
            <a:off x="406400" y="2418112"/>
            <a:ext cx="8102600" cy="710707"/>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Realizado el servidor se avanza a la aplicación cliente, para ello se crea un nuevo proyecto llamado WS_SOAP_TICKETPREMIUM_CONSOLA.</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EBAB5022-8C72-4947-9194-E85CB78C5FCA}"/>
              </a:ext>
            </a:extLst>
          </p:cNvPr>
          <p:cNvPicPr>
            <a:picLocks noChangeAspect="1"/>
          </p:cNvPicPr>
          <p:nvPr/>
        </p:nvPicPr>
        <p:blipFill>
          <a:blip r:embed="rId3"/>
          <a:stretch>
            <a:fillRect/>
          </a:stretch>
        </p:blipFill>
        <p:spPr>
          <a:xfrm>
            <a:off x="581192" y="4034917"/>
            <a:ext cx="8361633" cy="506765"/>
          </a:xfrm>
          <a:prstGeom prst="rect">
            <a:avLst/>
          </a:prstGeom>
        </p:spPr>
      </p:pic>
    </p:spTree>
    <p:extLst>
      <p:ext uri="{BB962C8B-B14F-4D97-AF65-F5344CB8AC3E}">
        <p14:creationId xmlns:p14="http://schemas.microsoft.com/office/powerpoint/2010/main" val="3805050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1F7237B-0635-0D4D-6A37-FF35FDAADF57}"/>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81E1FB7A-9194-624F-ABAB-904A0D066507}"/>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55DEE250-8A90-05E8-D89B-128B01C8D68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6FA04AC4-407D-3405-80DD-544AD029DAE0}"/>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43</a:t>
            </a:fld>
            <a:endParaRPr/>
          </a:p>
        </p:txBody>
      </p:sp>
      <p:sp>
        <p:nvSpPr>
          <p:cNvPr id="6" name="CuadroTexto 5">
            <a:extLst>
              <a:ext uri="{FF2B5EF4-FFF2-40B4-BE49-F238E27FC236}">
                <a16:creationId xmlns:a16="http://schemas.microsoft.com/office/drawing/2014/main" id="{67B55C59-DFBC-A95D-591F-EE930FC05A81}"/>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09D848AD-9323-4C36-FF02-3032DC441D23}"/>
              </a:ext>
            </a:extLst>
          </p:cNvPr>
          <p:cNvSpPr txBox="1"/>
          <p:nvPr/>
        </p:nvSpPr>
        <p:spPr>
          <a:xfrm>
            <a:off x="693034" y="2328124"/>
            <a:ext cx="6104466" cy="325538"/>
          </a:xfrm>
          <a:prstGeom prst="rect">
            <a:avLst/>
          </a:prstGeom>
          <a:noFill/>
        </p:spPr>
        <p:txBody>
          <a:bodyPr wrap="square">
            <a:spAutoFit/>
          </a:bodyPr>
          <a:lstStyle/>
          <a:p>
            <a:pPr marL="0" marR="0" algn="just">
              <a:lnSpc>
                <a:spcPct val="115000"/>
              </a:lnSpc>
              <a:spcBef>
                <a:spcPts val="200"/>
              </a:spcBef>
            </a:pPr>
            <a:r>
              <a:rPr lang="es-EC" sz="14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CAPA DE MODELO</a:t>
            </a:r>
            <a:endParaRPr lang="en-US" sz="14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E51EF4D2-B503-4A5C-9E6D-63E0661DF909}"/>
              </a:ext>
            </a:extLst>
          </p:cNvPr>
          <p:cNvPicPr>
            <a:picLocks noChangeAspect="1"/>
          </p:cNvPicPr>
          <p:nvPr/>
        </p:nvPicPr>
        <p:blipFill>
          <a:blip r:embed="rId3"/>
          <a:stretch>
            <a:fillRect/>
          </a:stretch>
        </p:blipFill>
        <p:spPr>
          <a:xfrm>
            <a:off x="4040379" y="2637936"/>
            <a:ext cx="3762900" cy="3410426"/>
          </a:xfrm>
          <a:prstGeom prst="rect">
            <a:avLst/>
          </a:prstGeom>
        </p:spPr>
      </p:pic>
    </p:spTree>
    <p:extLst>
      <p:ext uri="{BB962C8B-B14F-4D97-AF65-F5344CB8AC3E}">
        <p14:creationId xmlns:p14="http://schemas.microsoft.com/office/powerpoint/2010/main" val="1849495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DDCBCE4-75EA-D776-B8F9-355DD3EBDB15}"/>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9196AC5-FA2C-DABC-210C-2CF793EA240C}"/>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C6F516DB-B215-5790-EFBF-B5A15A3BD77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94945AB0-6F98-9062-4A32-B156268BC49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44</a:t>
            </a:fld>
            <a:endParaRPr/>
          </a:p>
        </p:txBody>
      </p:sp>
      <p:sp>
        <p:nvSpPr>
          <p:cNvPr id="6" name="CuadroTexto 5">
            <a:extLst>
              <a:ext uri="{FF2B5EF4-FFF2-40B4-BE49-F238E27FC236}">
                <a16:creationId xmlns:a16="http://schemas.microsoft.com/office/drawing/2014/main" id="{950E03C4-ED79-74F2-176A-ADFA608FCA58}"/>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EF6E64DE-9DE2-6152-7F3C-6A667EE93665}"/>
              </a:ext>
            </a:extLst>
          </p:cNvPr>
          <p:cNvSpPr txBox="1"/>
          <p:nvPr/>
        </p:nvSpPr>
        <p:spPr>
          <a:xfrm>
            <a:off x="406399" y="2743094"/>
            <a:ext cx="8102600" cy="1029256"/>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Al tratarse de una aplicación de consola, se facilitan las tareas al momento de únicamente compilar en consola, para ello se crea una nueva clase dentro del paquete de vista, donde va a estar el </a:t>
            </a:r>
            <a:r>
              <a:rPr lang="es-EC" sz="180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main</a:t>
            </a: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del proyecto consola. </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3" name="CuadroTexto 2">
            <a:extLst>
              <a:ext uri="{FF2B5EF4-FFF2-40B4-BE49-F238E27FC236}">
                <a16:creationId xmlns:a16="http://schemas.microsoft.com/office/drawing/2014/main" id="{0D767901-D083-E660-D477-82BCBFAADF1B}"/>
              </a:ext>
            </a:extLst>
          </p:cNvPr>
          <p:cNvSpPr txBox="1"/>
          <p:nvPr/>
        </p:nvSpPr>
        <p:spPr>
          <a:xfrm>
            <a:off x="581192" y="2343113"/>
            <a:ext cx="6104466"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D825211A-D7F8-45E6-9E41-7975DC682871}"/>
              </a:ext>
            </a:extLst>
          </p:cNvPr>
          <p:cNvPicPr>
            <a:picLocks noChangeAspect="1"/>
          </p:cNvPicPr>
          <p:nvPr/>
        </p:nvPicPr>
        <p:blipFill>
          <a:blip r:embed="rId3"/>
          <a:stretch>
            <a:fillRect/>
          </a:stretch>
        </p:blipFill>
        <p:spPr>
          <a:xfrm>
            <a:off x="2518434" y="3926714"/>
            <a:ext cx="3074634" cy="2567319"/>
          </a:xfrm>
          <a:prstGeom prst="rect">
            <a:avLst/>
          </a:prstGeom>
        </p:spPr>
      </p:pic>
    </p:spTree>
    <p:extLst>
      <p:ext uri="{BB962C8B-B14F-4D97-AF65-F5344CB8AC3E}">
        <p14:creationId xmlns:p14="http://schemas.microsoft.com/office/powerpoint/2010/main" val="3559580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A6C7AA1-4A23-E2FF-89A7-429543C6A7E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B50D37BE-1CBE-E209-A712-E1550323714F}"/>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397B1A5-AB37-581D-E5F9-B88FCEEC7BEF}"/>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6461E75A-120B-84F3-42D2-415266F19ED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45</a:t>
            </a:fld>
            <a:endParaRPr/>
          </a:p>
        </p:txBody>
      </p:sp>
      <p:sp>
        <p:nvSpPr>
          <p:cNvPr id="6" name="CuadroTexto 5">
            <a:extLst>
              <a:ext uri="{FF2B5EF4-FFF2-40B4-BE49-F238E27FC236}">
                <a16:creationId xmlns:a16="http://schemas.microsoft.com/office/drawing/2014/main" id="{2C946AA6-86CA-C567-4214-681222B24AC7}"/>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637D3543-8CCA-22FF-BC1C-FCE48316D616}"/>
              </a:ext>
            </a:extLst>
          </p:cNvPr>
          <p:cNvSpPr txBox="1"/>
          <p:nvPr/>
        </p:nvSpPr>
        <p:spPr>
          <a:xfrm>
            <a:off x="406399" y="2743094"/>
            <a:ext cx="8102600" cy="1311385"/>
          </a:xfrm>
          <a:prstGeom prst="rect">
            <a:avLst/>
          </a:prstGeom>
          <a:noFill/>
        </p:spPr>
        <p:txBody>
          <a:bodyPr wrap="square">
            <a:spAutoFit/>
          </a:bodyPr>
          <a:lstStyle/>
          <a:p>
            <a:pPr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Para ejecutar el cliente Consola, el servicio SOAP de la Federación debe estar desplegado en el servidor. Se ejecuta el proyecto Java y se verifica que la comunicación XML con el servidor SOAP funcione correctamente..</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3" name="CuadroTexto 2">
            <a:extLst>
              <a:ext uri="{FF2B5EF4-FFF2-40B4-BE49-F238E27FC236}">
                <a16:creationId xmlns:a16="http://schemas.microsoft.com/office/drawing/2014/main" id="{E1F8F26C-C746-2543-D9C4-509779B567EB}"/>
              </a:ext>
            </a:extLst>
          </p:cNvPr>
          <p:cNvSpPr txBox="1"/>
          <p:nvPr/>
        </p:nvSpPr>
        <p:spPr>
          <a:xfrm>
            <a:off x="581192" y="2343113"/>
            <a:ext cx="6104466"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latin typeface="Calibri" panose="020F0502020204030204" pitchFamily="34" charset="0"/>
                <a:ea typeface="Times New Roman" panose="02020603050405020304" pitchFamily="18" charset="0"/>
                <a:cs typeface="Times New Roman" panose="02020603050405020304" pitchFamily="18" charset="0"/>
              </a:rPr>
              <a:t>EJECUCION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2B98E5C5-3A87-6F86-A8FA-A40400EC9680}"/>
              </a:ext>
            </a:extLst>
          </p:cNvPr>
          <p:cNvPicPr>
            <a:picLocks noChangeAspect="1"/>
          </p:cNvPicPr>
          <p:nvPr/>
        </p:nvPicPr>
        <p:blipFill>
          <a:blip r:embed="rId3"/>
          <a:stretch>
            <a:fillRect/>
          </a:stretch>
        </p:blipFill>
        <p:spPr>
          <a:xfrm>
            <a:off x="2137505" y="4197686"/>
            <a:ext cx="4217333" cy="206943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7285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EEB5D615-3363-8DA5-1E8A-548B627E3AFF}"/>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4ADC03B9-FC5F-6631-B154-2FEBC3273401}"/>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7A988A91-FB1A-9498-0336-37830C91FAD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BB2CC0B1-4D8B-44D7-C4F0-B5DBB8A5386E}"/>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46</a:t>
            </a:fld>
            <a:endParaRPr/>
          </a:p>
        </p:txBody>
      </p:sp>
      <p:sp>
        <p:nvSpPr>
          <p:cNvPr id="6" name="CuadroTexto 5">
            <a:extLst>
              <a:ext uri="{FF2B5EF4-FFF2-40B4-BE49-F238E27FC236}">
                <a16:creationId xmlns:a16="http://schemas.microsoft.com/office/drawing/2014/main" id="{C5133236-2B48-A92C-A987-034D61951DF7}"/>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ESCRITORIO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9E35D792-942E-3A68-C8B3-5035EB8395F5}"/>
              </a:ext>
            </a:extLst>
          </p:cNvPr>
          <p:cNvSpPr txBox="1"/>
          <p:nvPr/>
        </p:nvSpPr>
        <p:spPr>
          <a:xfrm>
            <a:off x="406399" y="2418112"/>
            <a:ext cx="8102600" cy="1311385"/>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Realizado el servidor se avanza a la aplicación cliente, para ello se crea un nuevo proyecto llamado WS_SOAP_TICKETPREMIUM_ESCRITORIO.</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6C5E3A90-0785-4A5B-A9C7-76C9EF8B8BA8}"/>
              </a:ext>
            </a:extLst>
          </p:cNvPr>
          <p:cNvPicPr>
            <a:picLocks noChangeAspect="1"/>
          </p:cNvPicPr>
          <p:nvPr/>
        </p:nvPicPr>
        <p:blipFill>
          <a:blip r:embed="rId3"/>
          <a:stretch>
            <a:fillRect/>
          </a:stretch>
        </p:blipFill>
        <p:spPr>
          <a:xfrm>
            <a:off x="2680505" y="4117883"/>
            <a:ext cx="3315163" cy="2276793"/>
          </a:xfrm>
          <a:prstGeom prst="rect">
            <a:avLst/>
          </a:prstGeom>
        </p:spPr>
      </p:pic>
    </p:spTree>
    <p:extLst>
      <p:ext uri="{BB962C8B-B14F-4D97-AF65-F5344CB8AC3E}">
        <p14:creationId xmlns:p14="http://schemas.microsoft.com/office/powerpoint/2010/main" val="443498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90A1441C-FA24-57B4-0209-BCAFD50DFAAA}"/>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9A2350C-EE98-54C1-2223-4B7B2CFCC66B}"/>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4F81EA32-3E46-1ACA-0534-5734C9E4874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57BBD5FA-AFCA-C0C6-02B0-FBD8464DE7EF}"/>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47</a:t>
            </a:fld>
            <a:endParaRPr/>
          </a:p>
        </p:txBody>
      </p:sp>
      <p:sp>
        <p:nvSpPr>
          <p:cNvPr id="6" name="CuadroTexto 5">
            <a:extLst>
              <a:ext uri="{FF2B5EF4-FFF2-40B4-BE49-F238E27FC236}">
                <a16:creationId xmlns:a16="http://schemas.microsoft.com/office/drawing/2014/main" id="{3BED8BDA-6C7B-2F15-5F27-1C2F95E05FC0}"/>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ESCRITORIO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15B97C6F-DA5B-240D-62A1-701B510D48D5}"/>
              </a:ext>
            </a:extLst>
          </p:cNvPr>
          <p:cNvSpPr txBox="1"/>
          <p:nvPr/>
        </p:nvSpPr>
        <p:spPr>
          <a:xfrm>
            <a:off x="406399" y="2418112"/>
            <a:ext cx="8102600" cy="992836"/>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Si todo va bien se muestra la siguiente estructura.</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7" name="CuadroTexto 6">
            <a:extLst>
              <a:ext uri="{FF2B5EF4-FFF2-40B4-BE49-F238E27FC236}">
                <a16:creationId xmlns:a16="http://schemas.microsoft.com/office/drawing/2014/main" id="{E016394F-4F92-3070-4990-DA43295FEAB4}"/>
              </a:ext>
            </a:extLst>
          </p:cNvPr>
          <p:cNvSpPr txBox="1"/>
          <p:nvPr/>
        </p:nvSpPr>
        <p:spPr>
          <a:xfrm>
            <a:off x="4601546" y="3205984"/>
            <a:ext cx="4157134" cy="325538"/>
          </a:xfrm>
          <a:prstGeom prst="rect">
            <a:avLst/>
          </a:prstGeom>
          <a:noFill/>
        </p:spPr>
        <p:txBody>
          <a:bodyPr wrap="square">
            <a:spAutoFit/>
          </a:bodyPr>
          <a:lstStyle/>
          <a:p>
            <a:pPr marL="0" marR="0" algn="just">
              <a:lnSpc>
                <a:spcPct val="115000"/>
              </a:lnSpc>
              <a:spcBef>
                <a:spcPts val="600"/>
              </a:spcBef>
              <a:spcAft>
                <a:spcPts val="1600"/>
              </a:spcAft>
            </a:pPr>
            <a:r>
              <a:rPr lang="es-EC" sz="14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t>
            </a:r>
            <a:endParaRPr lang="en-US" sz="14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A9695F96-D316-4CB3-88B0-29F055877B86}"/>
              </a:ext>
            </a:extLst>
          </p:cNvPr>
          <p:cNvPicPr>
            <a:picLocks noChangeAspect="1"/>
          </p:cNvPicPr>
          <p:nvPr/>
        </p:nvPicPr>
        <p:blipFill>
          <a:blip r:embed="rId3"/>
          <a:stretch>
            <a:fillRect/>
          </a:stretch>
        </p:blipFill>
        <p:spPr>
          <a:xfrm>
            <a:off x="1934459" y="2914530"/>
            <a:ext cx="3591426" cy="2105319"/>
          </a:xfrm>
          <a:prstGeom prst="rect">
            <a:avLst/>
          </a:prstGeom>
        </p:spPr>
      </p:pic>
    </p:spTree>
    <p:extLst>
      <p:ext uri="{BB962C8B-B14F-4D97-AF65-F5344CB8AC3E}">
        <p14:creationId xmlns:p14="http://schemas.microsoft.com/office/powerpoint/2010/main" val="4129520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D8747191-B7DE-037F-365D-D880AD3DB882}"/>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87448683-0BAA-DA48-76EA-16360AF9C29F}"/>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CAA5CAFA-15AE-F6AB-44A0-008C4467699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BC47412B-5F5F-AF70-E750-B3CB44DC3AF6}"/>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48</a:t>
            </a:fld>
            <a:endParaRPr/>
          </a:p>
        </p:txBody>
      </p:sp>
      <p:sp>
        <p:nvSpPr>
          <p:cNvPr id="6" name="CuadroTexto 5">
            <a:extLst>
              <a:ext uri="{FF2B5EF4-FFF2-40B4-BE49-F238E27FC236}">
                <a16:creationId xmlns:a16="http://schemas.microsoft.com/office/drawing/2014/main" id="{230D215F-A087-5A77-6AE8-5A85F9E7897F}"/>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23EA4737-6FA5-48BD-8F0F-08B52139228C}"/>
              </a:ext>
            </a:extLst>
          </p:cNvPr>
          <p:cNvPicPr>
            <a:picLocks noChangeAspect="1"/>
          </p:cNvPicPr>
          <p:nvPr/>
        </p:nvPicPr>
        <p:blipFill>
          <a:blip r:embed="rId3"/>
          <a:stretch>
            <a:fillRect/>
          </a:stretch>
        </p:blipFill>
        <p:spPr>
          <a:xfrm>
            <a:off x="406399" y="2508226"/>
            <a:ext cx="5689601" cy="4130698"/>
          </a:xfrm>
          <a:prstGeom prst="rect">
            <a:avLst/>
          </a:prstGeom>
        </p:spPr>
      </p:pic>
    </p:spTree>
    <p:extLst>
      <p:ext uri="{BB962C8B-B14F-4D97-AF65-F5344CB8AC3E}">
        <p14:creationId xmlns:p14="http://schemas.microsoft.com/office/powerpoint/2010/main" val="200736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DE8B7699-5FA0-7BBE-2D5C-9ECEE9078954}"/>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BB1D5703-3BD2-64F6-6691-26BFA3CDE01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CF03E1B-3530-2C5A-5CFB-80D8D67F87F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EB4406F8-74B8-A6AE-2A9C-E9833950698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49</a:t>
            </a:fld>
            <a:endParaRPr/>
          </a:p>
        </p:txBody>
      </p:sp>
      <p:sp>
        <p:nvSpPr>
          <p:cNvPr id="6" name="CuadroTexto 5">
            <a:extLst>
              <a:ext uri="{FF2B5EF4-FFF2-40B4-BE49-F238E27FC236}">
                <a16:creationId xmlns:a16="http://schemas.microsoft.com/office/drawing/2014/main" id="{BBA2DCA0-FFC0-6AF5-5F19-2FA9E8D43748}"/>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EJECUCIÓN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6955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1937DDB6-6E84-FF99-E6C0-BA81919BD132}"/>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49B7C23-F60F-CDFC-B974-045975257C8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34B0DA69-B1FA-C6F0-7455-7FA572A16AD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5C8B438E-AFF3-0A53-6492-E148CE77912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50</a:t>
            </a:fld>
            <a:endParaRPr/>
          </a:p>
        </p:txBody>
      </p:sp>
      <p:sp>
        <p:nvSpPr>
          <p:cNvPr id="6" name="CuadroTexto 5">
            <a:extLst>
              <a:ext uri="{FF2B5EF4-FFF2-40B4-BE49-F238E27FC236}">
                <a16:creationId xmlns:a16="http://schemas.microsoft.com/office/drawing/2014/main" id="{8F00FCB0-62B8-6B9C-2441-AFC238E142F0}"/>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EJECUCIÓN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5420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1937DDB6-6E84-FF99-E6C0-BA81919BD132}"/>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49B7C23-F60F-CDFC-B974-045975257C8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34B0DA69-B1FA-C6F0-7455-7FA572A16AD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5C8B438E-AFF3-0A53-6492-E148CE77912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51</a:t>
            </a:fld>
            <a:endParaRPr/>
          </a:p>
        </p:txBody>
      </p:sp>
      <p:sp>
        <p:nvSpPr>
          <p:cNvPr id="6" name="CuadroTexto 5">
            <a:extLst>
              <a:ext uri="{FF2B5EF4-FFF2-40B4-BE49-F238E27FC236}">
                <a16:creationId xmlns:a16="http://schemas.microsoft.com/office/drawing/2014/main" id="{8F00FCB0-62B8-6B9C-2441-AFC238E142F0}"/>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EJECUCIÓN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0265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95603F94-75BF-F86A-7AE7-F401645ABB4D}"/>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E4501C45-EB11-3DAC-B323-C0659299BF8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C7714D61-21C2-8043-CE7F-0811296B07E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E9FA543-593C-6610-B8E3-0E2BB53E2EB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52</a:t>
            </a:fld>
            <a:endParaRPr/>
          </a:p>
        </p:txBody>
      </p:sp>
      <p:sp>
        <p:nvSpPr>
          <p:cNvPr id="6" name="CuadroTexto 5">
            <a:extLst>
              <a:ext uri="{FF2B5EF4-FFF2-40B4-BE49-F238E27FC236}">
                <a16:creationId xmlns:a16="http://schemas.microsoft.com/office/drawing/2014/main" id="{62597552-BF74-E5D9-2874-E207003D6B90}"/>
              </a:ext>
            </a:extLst>
          </p:cNvPr>
          <p:cNvSpPr txBox="1"/>
          <p:nvPr/>
        </p:nvSpPr>
        <p:spPr>
          <a:xfrm>
            <a:off x="406399" y="1935965"/>
            <a:ext cx="5782733" cy="392159"/>
          </a:xfrm>
          <a:prstGeom prst="rect">
            <a:avLst/>
          </a:prstGeom>
          <a:noFill/>
        </p:spPr>
        <p:txBody>
          <a:bodyPr wrap="square">
            <a:spAutoFit/>
          </a:bodyPr>
          <a:lstStyle/>
          <a:p>
            <a:pPr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WEB</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162E6267-7EF2-0796-7150-3645975E27AF}"/>
              </a:ext>
            </a:extLst>
          </p:cNvPr>
          <p:cNvSpPr txBox="1"/>
          <p:nvPr/>
        </p:nvSpPr>
        <p:spPr>
          <a:xfrm>
            <a:off x="421673" y="2337137"/>
            <a:ext cx="8477275" cy="634533"/>
          </a:xfrm>
          <a:prstGeom prst="rect">
            <a:avLst/>
          </a:prstGeom>
          <a:noFill/>
        </p:spPr>
        <p:txBody>
          <a:bodyPr wrap="square" lIns="91440" tIns="45720" rIns="91440" bIns="45720" anchor="t">
            <a:spAutoFit/>
          </a:bodyPr>
          <a:lstStyle/>
          <a:p>
            <a:pPr algn="just">
              <a:lnSpc>
                <a:spcPct val="114999"/>
              </a:lnSpc>
              <a:spcBef>
                <a:spcPts val="600"/>
              </a:spcBef>
              <a:spcAft>
                <a:spcPts val="1600"/>
              </a:spcAft>
            </a:pPr>
            <a:r>
              <a:rPr lang="es-EC" sz="1600">
                <a:solidFill>
                  <a:srgbClr val="548DD4"/>
                </a:solidFill>
                <a:latin typeface="Cambria"/>
                <a:ea typeface="Calibri"/>
                <a:cs typeface="Calibri"/>
              </a:rPr>
              <a:t>En este caso</a:t>
            </a:r>
            <a:r>
              <a:rPr lang="es-EC" sz="1600">
                <a:solidFill>
                  <a:srgbClr val="548DD4"/>
                </a:solidFill>
                <a:effectLst/>
                <a:latin typeface="Cambria"/>
                <a:ea typeface="Calibri"/>
                <a:cs typeface="Calibri"/>
              </a:rPr>
              <a:t>, se </a:t>
            </a:r>
            <a:r>
              <a:rPr lang="es-EC" sz="1600">
                <a:solidFill>
                  <a:srgbClr val="548DD4"/>
                </a:solidFill>
                <a:latin typeface="Cambria"/>
                <a:ea typeface="Calibri"/>
                <a:cs typeface="Calibri"/>
              </a:rPr>
              <a:t>utilizó Python para construir una aplicación web que consumiera el servicio web de la Comercializadora TicketPremium. </a:t>
            </a:r>
            <a:endParaRPr lang="es-ES" sz="1600">
              <a:solidFill>
                <a:srgbClr val="548DD4"/>
              </a:solidFill>
              <a:effectLst/>
              <a:latin typeface="Cambria"/>
              <a:ea typeface="Calibri"/>
              <a:cs typeface="Calibri"/>
            </a:endParaRPr>
          </a:p>
        </p:txBody>
      </p:sp>
      <p:pic>
        <p:nvPicPr>
          <p:cNvPr id="2" name="Imagen 1">
            <a:extLst>
              <a:ext uri="{FF2B5EF4-FFF2-40B4-BE49-F238E27FC236}">
                <a16:creationId xmlns:a16="http://schemas.microsoft.com/office/drawing/2014/main" id="{D47CB3D5-31EF-E10F-EF2D-C79FC294A726}"/>
              </a:ext>
            </a:extLst>
          </p:cNvPr>
          <p:cNvPicPr>
            <a:picLocks noChangeAspect="1"/>
          </p:cNvPicPr>
          <p:nvPr/>
        </p:nvPicPr>
        <p:blipFill>
          <a:blip r:embed="rId3"/>
          <a:stretch>
            <a:fillRect/>
          </a:stretch>
        </p:blipFill>
        <p:spPr>
          <a:xfrm>
            <a:off x="3520392" y="3013517"/>
            <a:ext cx="1842786" cy="3647473"/>
          </a:xfrm>
          <a:prstGeom prst="rect">
            <a:avLst/>
          </a:prstGeom>
        </p:spPr>
      </p:pic>
    </p:spTree>
    <p:extLst>
      <p:ext uri="{BB962C8B-B14F-4D97-AF65-F5344CB8AC3E}">
        <p14:creationId xmlns:p14="http://schemas.microsoft.com/office/powerpoint/2010/main" val="313982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4173AAA6-D3A1-603D-B774-9C05654627A8}"/>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9AD1493-100A-0775-716D-960ADD8B7FB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3D1140A-4258-7528-A136-964D8401001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CB2D8D7D-3F4A-0CFA-6BD9-D5EF3520663E}"/>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53</a:t>
            </a:fld>
            <a:endParaRPr/>
          </a:p>
        </p:txBody>
      </p:sp>
      <p:sp>
        <p:nvSpPr>
          <p:cNvPr id="6" name="CuadroTexto 5">
            <a:extLst>
              <a:ext uri="{FF2B5EF4-FFF2-40B4-BE49-F238E27FC236}">
                <a16:creationId xmlns:a16="http://schemas.microsoft.com/office/drawing/2014/main" id="{45ED61A7-0666-C8A8-4107-B3A1CDE5AC84}"/>
              </a:ext>
            </a:extLst>
          </p:cNvPr>
          <p:cNvSpPr txBox="1"/>
          <p:nvPr/>
        </p:nvSpPr>
        <p:spPr>
          <a:xfrm>
            <a:off x="406399" y="1935965"/>
            <a:ext cx="5782733" cy="392159"/>
          </a:xfrm>
          <a:prstGeom prst="rect">
            <a:avLst/>
          </a:prstGeom>
          <a:noFill/>
        </p:spPr>
        <p:txBody>
          <a:bodyPr wrap="square">
            <a:spAutoFit/>
          </a:bodyPr>
          <a:lstStyle/>
          <a:p>
            <a:pPr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WEB</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AF137B04-E812-02D6-D42D-FBD3A14674EF}"/>
              </a:ext>
            </a:extLst>
          </p:cNvPr>
          <p:cNvSpPr txBox="1"/>
          <p:nvPr/>
        </p:nvSpPr>
        <p:spPr>
          <a:xfrm>
            <a:off x="469900" y="2385364"/>
            <a:ext cx="6104466" cy="1339406"/>
          </a:xfrm>
          <a:prstGeom prst="rect">
            <a:avLst/>
          </a:prstGeom>
          <a:noFill/>
        </p:spPr>
        <p:txBody>
          <a:bodyPr wrap="square" lIns="91440" tIns="45720" rIns="91440" bIns="45720" anchor="t">
            <a:spAutoFit/>
          </a:bodyPr>
          <a:lstStyle/>
          <a:p>
            <a:pPr algn="just">
              <a:lnSpc>
                <a:spcPct val="114999"/>
              </a:lnSpc>
              <a:spcBef>
                <a:spcPts val="600"/>
              </a:spcBef>
              <a:spcAft>
                <a:spcPts val="1600"/>
              </a:spcAft>
            </a:pPr>
            <a:r>
              <a:rPr lang="es-EC" sz="1800">
                <a:solidFill>
                  <a:srgbClr val="548DD4"/>
                </a:solidFill>
                <a:latin typeface="Cambria"/>
                <a:ea typeface="Calibri"/>
                <a:cs typeface="Calibri"/>
              </a:rPr>
              <a:t>Para la codificación de las clases hay que tener en cuenta que </a:t>
            </a:r>
            <a:r>
              <a:rPr lang="es-EC" sz="1800">
                <a:solidFill>
                  <a:srgbClr val="548DD4"/>
                </a:solidFill>
                <a:effectLst/>
                <a:latin typeface="Cambria"/>
                <a:ea typeface="Calibri"/>
                <a:cs typeface="Calibri"/>
              </a:rPr>
              <a:t>el </a:t>
            </a:r>
            <a:r>
              <a:rPr lang="es-EC" sz="1800">
                <a:solidFill>
                  <a:srgbClr val="548DD4"/>
                </a:solidFill>
                <a:latin typeface="Cambria"/>
                <a:ea typeface="Calibri"/>
                <a:cs typeface="Calibri"/>
              </a:rPr>
              <a:t>servicio es </a:t>
            </a:r>
            <a:r>
              <a:rPr lang="es-EC" sz="1800" err="1">
                <a:solidFill>
                  <a:srgbClr val="548DD4"/>
                </a:solidFill>
                <a:latin typeface="Cambria"/>
                <a:ea typeface="Calibri"/>
                <a:cs typeface="Calibri"/>
              </a:rPr>
              <a:t>RESTful</a:t>
            </a:r>
            <a:r>
              <a:rPr lang="es-EC" sz="1800">
                <a:solidFill>
                  <a:srgbClr val="548DD4"/>
                </a:solidFill>
                <a:latin typeface="Cambria"/>
                <a:ea typeface="Calibri"/>
                <a:cs typeface="Calibri"/>
              </a:rPr>
              <a:t>, por lo que se genera el stub del cliente JAX-WS a partir del WSDL publicado en el servidor de aplicaciones.</a:t>
            </a:r>
            <a:endParaRPr lang="es-ES" sz="1800">
              <a:solidFill>
                <a:srgbClr val="548DD4"/>
              </a:solidFill>
              <a:effectLst/>
              <a:latin typeface="Cambria"/>
              <a:ea typeface="Calibri"/>
              <a:cs typeface="Calibri"/>
            </a:endParaRPr>
          </a:p>
        </p:txBody>
      </p:sp>
      <p:pic>
        <p:nvPicPr>
          <p:cNvPr id="5" name="Imagen 4">
            <a:extLst>
              <a:ext uri="{FF2B5EF4-FFF2-40B4-BE49-F238E27FC236}">
                <a16:creationId xmlns:a16="http://schemas.microsoft.com/office/drawing/2014/main" id="{B02A65F0-D588-4BF6-AABD-5B9234C5E389}"/>
              </a:ext>
            </a:extLst>
          </p:cNvPr>
          <p:cNvPicPr>
            <a:picLocks noChangeAspect="1"/>
          </p:cNvPicPr>
          <p:nvPr/>
        </p:nvPicPr>
        <p:blipFill>
          <a:blip r:embed="rId3"/>
          <a:stretch>
            <a:fillRect/>
          </a:stretch>
        </p:blipFill>
        <p:spPr>
          <a:xfrm>
            <a:off x="1992708" y="3782010"/>
            <a:ext cx="4581658" cy="1942516"/>
          </a:xfrm>
          <a:prstGeom prst="rect">
            <a:avLst/>
          </a:prstGeom>
        </p:spPr>
      </p:pic>
    </p:spTree>
    <p:extLst>
      <p:ext uri="{BB962C8B-B14F-4D97-AF65-F5344CB8AC3E}">
        <p14:creationId xmlns:p14="http://schemas.microsoft.com/office/powerpoint/2010/main" val="157322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54</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B47ACC54-6103-DA6D-B32B-3BB00A327BC3}"/>
              </a:ext>
            </a:extLst>
          </p:cNvPr>
          <p:cNvSpPr txBox="1"/>
          <p:nvPr/>
        </p:nvSpPr>
        <p:spPr>
          <a:xfrm>
            <a:off x="469900" y="2385364"/>
            <a:ext cx="8242300" cy="664926"/>
          </a:xfrm>
          <a:prstGeom prst="rect">
            <a:avLst/>
          </a:prstGeom>
          <a:noFill/>
        </p:spPr>
        <p:txBody>
          <a:bodyPr wrap="square" lIns="91440" tIns="45720" rIns="91440" bIns="45720" anchor="t">
            <a:spAutoFit/>
          </a:bodyPr>
          <a:lstStyle/>
          <a:p>
            <a:pPr algn="just">
              <a:lnSpc>
                <a:spcPct val="114999"/>
              </a:lnSpc>
              <a:spcBef>
                <a:spcPts val="600"/>
              </a:spcBef>
              <a:spcAft>
                <a:spcPts val="1600"/>
              </a:spcAft>
            </a:pPr>
            <a:r>
              <a:rPr lang="es-EC" sz="1100">
                <a:solidFill>
                  <a:srgbClr val="548DD4"/>
                </a:solidFill>
                <a:latin typeface="Calibri"/>
                <a:ea typeface="Calibri"/>
                <a:cs typeface="Calibri"/>
              </a:rPr>
              <a:t>La aplicación web también requiere </a:t>
            </a:r>
            <a:r>
              <a:rPr lang="es-EC" sz="1100">
                <a:solidFill>
                  <a:srgbClr val="548DD4"/>
                </a:solidFill>
                <a:effectLst/>
                <a:latin typeface="Calibri"/>
                <a:ea typeface="Calibri"/>
                <a:cs typeface="Calibri"/>
              </a:rPr>
              <a:t>de una </a:t>
            </a:r>
            <a:r>
              <a:rPr lang="es-EC" sz="1100">
                <a:solidFill>
                  <a:srgbClr val="548DD4"/>
                </a:solidFill>
                <a:latin typeface="Calibri"/>
                <a:ea typeface="Calibri"/>
                <a:cs typeface="Calibri"/>
              </a:rPr>
              <a:t>clase Servidor.py dentro de la carpeta Servidor. EN esta clase </a:t>
            </a:r>
            <a:r>
              <a:rPr lang="es-EC" sz="1100">
                <a:solidFill>
                  <a:srgbClr val="548DD4"/>
                </a:solidFill>
                <a:effectLst/>
                <a:latin typeface="Calibri"/>
                <a:ea typeface="Calibri"/>
                <a:cs typeface="Calibri"/>
              </a:rPr>
              <a:t>se </a:t>
            </a:r>
            <a:r>
              <a:rPr lang="es-EC" sz="1100">
                <a:solidFill>
                  <a:srgbClr val="548DD4"/>
                </a:solidFill>
                <a:latin typeface="Calibri"/>
                <a:ea typeface="Calibri"/>
                <a:cs typeface="Calibri"/>
              </a:rPr>
              <a:t>programaron todos los métodos necesarios para la implementación del sitio web como tal: el levantamiento del puerto y </a:t>
            </a:r>
            <a:r>
              <a:rPr lang="es-EC" sz="1100">
                <a:solidFill>
                  <a:srgbClr val="548DD4"/>
                </a:solidFill>
                <a:effectLst/>
                <a:latin typeface="Calibri"/>
                <a:ea typeface="Calibri"/>
                <a:cs typeface="Calibri"/>
              </a:rPr>
              <a:t>el </a:t>
            </a:r>
            <a:r>
              <a:rPr lang="es-EC" sz="1100">
                <a:solidFill>
                  <a:srgbClr val="548DD4"/>
                </a:solidFill>
                <a:latin typeface="Calibri"/>
                <a:ea typeface="Calibri"/>
                <a:cs typeface="Calibri"/>
              </a:rPr>
              <a:t>manejo </a:t>
            </a:r>
            <a:r>
              <a:rPr lang="es-EC" sz="1100">
                <a:solidFill>
                  <a:srgbClr val="548DD4"/>
                </a:solidFill>
                <a:effectLst/>
                <a:latin typeface="Calibri"/>
                <a:ea typeface="Calibri"/>
                <a:cs typeface="Calibri"/>
              </a:rPr>
              <a:t>de </a:t>
            </a:r>
            <a:r>
              <a:rPr lang="es-EC" sz="1100">
                <a:solidFill>
                  <a:srgbClr val="548DD4"/>
                </a:solidFill>
                <a:latin typeface="Calibri"/>
                <a:ea typeface="Calibri"/>
                <a:cs typeface="Calibri"/>
              </a:rPr>
              <a:t>sesiones</a:t>
            </a:r>
            <a:r>
              <a:rPr lang="es-EC" sz="1100">
                <a:solidFill>
                  <a:srgbClr val="548DD4"/>
                </a:solidFill>
                <a:effectLst/>
                <a:latin typeface="Calibri"/>
                <a:ea typeface="Calibri"/>
                <a:cs typeface="Calibri"/>
              </a:rPr>
              <a:t>, </a:t>
            </a:r>
            <a:r>
              <a:rPr lang="es-EC" sz="1100">
                <a:solidFill>
                  <a:srgbClr val="548DD4"/>
                </a:solidFill>
                <a:latin typeface="Calibri"/>
                <a:ea typeface="Calibri"/>
                <a:cs typeface="Calibri"/>
              </a:rPr>
              <a:t>así como los métodos necesarios para la invocación de las funciones del servidor</a:t>
            </a:r>
            <a:r>
              <a:rPr lang="es-EC" sz="1100">
                <a:solidFill>
                  <a:srgbClr val="548DD4"/>
                </a:solidFill>
                <a:effectLst/>
                <a:latin typeface="Calibri"/>
                <a:ea typeface="Calibri"/>
                <a:cs typeface="Calibri"/>
              </a:rPr>
              <a:t>.</a:t>
            </a:r>
          </a:p>
        </p:txBody>
      </p:sp>
      <p:pic>
        <p:nvPicPr>
          <p:cNvPr id="5" name="Imagen 4">
            <a:extLst>
              <a:ext uri="{FF2B5EF4-FFF2-40B4-BE49-F238E27FC236}">
                <a16:creationId xmlns:a16="http://schemas.microsoft.com/office/drawing/2014/main" id="{7184550C-C15C-4B13-847A-B2049CA57679}"/>
              </a:ext>
            </a:extLst>
          </p:cNvPr>
          <p:cNvPicPr>
            <a:picLocks noChangeAspect="1"/>
          </p:cNvPicPr>
          <p:nvPr/>
        </p:nvPicPr>
        <p:blipFill>
          <a:blip r:embed="rId3"/>
          <a:stretch>
            <a:fillRect/>
          </a:stretch>
        </p:blipFill>
        <p:spPr>
          <a:xfrm>
            <a:off x="1538271" y="3185209"/>
            <a:ext cx="4659329" cy="3209467"/>
          </a:xfrm>
          <a:prstGeom prst="rect">
            <a:avLst/>
          </a:prstGeom>
        </p:spPr>
      </p:pic>
    </p:spTree>
    <p:extLst>
      <p:ext uri="{BB962C8B-B14F-4D97-AF65-F5344CB8AC3E}">
        <p14:creationId xmlns:p14="http://schemas.microsoft.com/office/powerpoint/2010/main" val="1625413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55</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7577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56</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56479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57</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079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58</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8" name="Imagen 7" descr="Interfaz de usuario gráfica, Aplicación  Descripción generada automáticamente">
            <a:extLst>
              <a:ext uri="{FF2B5EF4-FFF2-40B4-BE49-F238E27FC236}">
                <a16:creationId xmlns:a16="http://schemas.microsoft.com/office/drawing/2014/main" id="{F3441DC7-384D-9B8D-7E27-64D8C8F9943D}"/>
              </a:ext>
            </a:extLst>
          </p:cNvPr>
          <p:cNvPicPr>
            <a:picLocks noChangeAspect="1"/>
          </p:cNvPicPr>
          <p:nvPr/>
        </p:nvPicPr>
        <p:blipFill>
          <a:blip r:embed="rId3"/>
          <a:stretch>
            <a:fillRect/>
          </a:stretch>
        </p:blipFill>
        <p:spPr>
          <a:xfrm>
            <a:off x="585919" y="2486612"/>
            <a:ext cx="5268630" cy="3899378"/>
          </a:xfrm>
          <a:prstGeom prst="rect">
            <a:avLst/>
          </a:prstGeom>
        </p:spPr>
      </p:pic>
      <p:sp>
        <p:nvSpPr>
          <p:cNvPr id="10" name="CuadroTexto 9">
            <a:extLst>
              <a:ext uri="{FF2B5EF4-FFF2-40B4-BE49-F238E27FC236}">
                <a16:creationId xmlns:a16="http://schemas.microsoft.com/office/drawing/2014/main" id="{1EB43A10-C47A-8DAD-830D-AA7DFBC8723A}"/>
              </a:ext>
            </a:extLst>
          </p:cNvPr>
          <p:cNvSpPr txBox="1"/>
          <p:nvPr/>
        </p:nvSpPr>
        <p:spPr>
          <a:xfrm>
            <a:off x="5856092" y="3711035"/>
            <a:ext cx="3054437" cy="646331"/>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Selección del tipo de proyecto </a:t>
            </a:r>
            <a:r>
              <a:rPr lang="es-EC" sz="1800" err="1">
                <a:solidFill>
                  <a:srgbClr val="548DD4"/>
                </a:solidFill>
                <a:latin typeface="Calibri"/>
                <a:ea typeface="Times New Roman" panose="02020603050405020304" pitchFamily="18" charset="0"/>
              </a:rPr>
              <a:t>Empty</a:t>
            </a:r>
            <a:r>
              <a:rPr lang="es-EC" sz="1800">
                <a:solidFill>
                  <a:srgbClr val="548DD4"/>
                </a:solidFill>
                <a:latin typeface="Calibri"/>
                <a:ea typeface="Times New Roman" panose="02020603050405020304" pitchFamily="18" charset="0"/>
              </a:rPr>
              <a:t> </a:t>
            </a:r>
            <a:r>
              <a:rPr lang="es-EC" sz="1800" err="1">
                <a:solidFill>
                  <a:srgbClr val="548DD4"/>
                </a:solidFill>
                <a:latin typeface="Calibri"/>
                <a:ea typeface="Times New Roman" panose="02020603050405020304" pitchFamily="18" charset="0"/>
              </a:rPr>
              <a:t>Views</a:t>
            </a:r>
            <a:r>
              <a:rPr lang="es-EC" sz="1800">
                <a:solidFill>
                  <a:srgbClr val="548DD4"/>
                </a:solidFill>
                <a:latin typeface="Calibri"/>
                <a:ea typeface="Times New Roman" panose="02020603050405020304" pitchFamily="18" charset="0"/>
              </a:rPr>
              <a:t> </a:t>
            </a:r>
            <a:r>
              <a:rPr lang="es-EC" sz="1800" err="1">
                <a:solidFill>
                  <a:srgbClr val="548DD4"/>
                </a:solidFill>
                <a:latin typeface="Calibri"/>
                <a:ea typeface="Times New Roman" panose="02020603050405020304" pitchFamily="18" charset="0"/>
              </a:rPr>
              <a:t>Activity</a:t>
            </a:r>
            <a:endParaRPr lang="es-EC" sz="1800" err="1">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2457111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59</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Creación de los paquetes</a:t>
            </a:r>
            <a:endParaRPr lang="es-EC" sz="1800">
              <a:solidFill>
                <a:srgbClr val="548DD4"/>
              </a:solidFill>
              <a:effectLst/>
              <a:latin typeface="Calibri"/>
              <a:ea typeface="Times New Roman" panose="02020603050405020304" pitchFamily="18" charset="0"/>
            </a:endParaRPr>
          </a:p>
        </p:txBody>
      </p:sp>
      <p:pic>
        <p:nvPicPr>
          <p:cNvPr id="2" name="Imagen 1" descr="Pantalla de computadora con letras  Descripción generada automáticamente">
            <a:extLst>
              <a:ext uri="{FF2B5EF4-FFF2-40B4-BE49-F238E27FC236}">
                <a16:creationId xmlns:a16="http://schemas.microsoft.com/office/drawing/2014/main" id="{CA6E0757-22A8-317D-F6F8-064E04DAE47F}"/>
              </a:ext>
            </a:extLst>
          </p:cNvPr>
          <p:cNvPicPr>
            <a:picLocks noChangeAspect="1"/>
          </p:cNvPicPr>
          <p:nvPr/>
        </p:nvPicPr>
        <p:blipFill>
          <a:blip r:embed="rId3"/>
          <a:stretch>
            <a:fillRect/>
          </a:stretch>
        </p:blipFill>
        <p:spPr>
          <a:xfrm>
            <a:off x="812170" y="2785280"/>
            <a:ext cx="2394429" cy="2498291"/>
          </a:xfrm>
          <a:prstGeom prst="rect">
            <a:avLst/>
          </a:prstGeom>
        </p:spPr>
      </p:pic>
      <p:pic>
        <p:nvPicPr>
          <p:cNvPr id="3" name="Imagen 2" descr="Interfaz de usuario gráfica, Texto  Descripción generada automáticamente">
            <a:extLst>
              <a:ext uri="{FF2B5EF4-FFF2-40B4-BE49-F238E27FC236}">
                <a16:creationId xmlns:a16="http://schemas.microsoft.com/office/drawing/2014/main" id="{56B5A2A1-6DA2-4752-812A-4DFEB252A272}"/>
              </a:ext>
            </a:extLst>
          </p:cNvPr>
          <p:cNvPicPr>
            <a:picLocks noChangeAspect="1"/>
          </p:cNvPicPr>
          <p:nvPr/>
        </p:nvPicPr>
        <p:blipFill>
          <a:blip r:embed="rId4"/>
          <a:stretch>
            <a:fillRect/>
          </a:stretch>
        </p:blipFill>
        <p:spPr>
          <a:xfrm>
            <a:off x="3644748" y="3328922"/>
            <a:ext cx="5048642" cy="1400567"/>
          </a:xfrm>
          <a:prstGeom prst="rect">
            <a:avLst/>
          </a:prstGeom>
        </p:spPr>
      </p:pic>
      <p:sp>
        <p:nvSpPr>
          <p:cNvPr id="4" name="CuadroTexto 3">
            <a:extLst>
              <a:ext uri="{FF2B5EF4-FFF2-40B4-BE49-F238E27FC236}">
                <a16:creationId xmlns:a16="http://schemas.microsoft.com/office/drawing/2014/main" id="{D1E5A8F9-C8F6-82EA-769F-6B2D1F99D861}"/>
              </a:ext>
            </a:extLst>
          </p:cNvPr>
          <p:cNvSpPr txBox="1"/>
          <p:nvPr/>
        </p:nvSpPr>
        <p:spPr>
          <a:xfrm>
            <a:off x="4415598" y="5276789"/>
            <a:ext cx="3054437" cy="646331"/>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Configuración para el acceso a internet</a:t>
            </a:r>
            <a:endParaRPr lang="es-EC" sz="1800">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1767057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60</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Creación de los paquetes</a:t>
            </a:r>
            <a:endParaRPr lang="es-EC" sz="1800">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4074882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61</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4480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62</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8030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63</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latin typeface="Calibri"/>
                <a:ea typeface="Times New Roman" panose="02020603050405020304" pitchFamily="18" charset="0"/>
                <a:cs typeface="Times New Roman"/>
              </a:rPr>
              <a:t>CODIFICACIÓN CLASES</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7994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64</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6974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65</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2177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DIAGRAMA DE ARQUITECTURA DEL SISTEMA TICKETPREMIUM</a:t>
            </a:r>
          </a:p>
          <a:p>
            <a:pPr marL="630000" lvl="1" indent="-306000" algn="l" rtl="0">
              <a:lnSpc>
                <a:spcPct val="90000"/>
              </a:lnSpc>
              <a:spcBef>
                <a:spcPts val="800"/>
              </a:spcBef>
              <a:spcAft>
                <a:spcPts val="0"/>
              </a:spcAft>
              <a:buSzPts val="920"/>
              <a:buChar char="◼"/>
            </a:pPr>
            <a:r>
              <a:rPr lang="es-ES" sz="650">
                <a:solidFill>
                  <a:srgbClr val="FFFF00"/>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66</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8069032" cy="644087"/>
          </a:xfrm>
          <a:prstGeom prst="rect">
            <a:avLst/>
          </a:prstGeom>
          <a:noFill/>
        </p:spPr>
        <p:txBody>
          <a:bodyPr wrap="square">
            <a:spAutoFit/>
          </a:bodyPr>
          <a:lstStyle/>
          <a:p>
            <a:pPr>
              <a:lnSpc>
                <a:spcPct val="115000"/>
              </a:lnSpc>
              <a:spcBef>
                <a:spcPts val="1200"/>
              </a:spcBef>
            </a:pPr>
            <a:r>
              <a:rPr lang="es-EC"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CONCLUSIONES</a:t>
            </a: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0C2F1CEA-6CF0-D4A4-2ACB-0D66912333CE}"/>
              </a:ext>
            </a:extLst>
          </p:cNvPr>
          <p:cNvSpPr txBox="1"/>
          <p:nvPr/>
        </p:nvSpPr>
        <p:spPr>
          <a:xfrm>
            <a:off x="581192" y="2591775"/>
            <a:ext cx="7953208" cy="3061094"/>
          </a:xfrm>
          <a:prstGeom prst="rect">
            <a:avLst/>
          </a:prstGeom>
          <a:noFill/>
        </p:spPr>
        <p:txBody>
          <a:bodyPr wrap="square">
            <a:spAutoFit/>
          </a:bodyPr>
          <a:lstStyle/>
          <a:p>
            <a:pPr marR="0" lvl="0" algn="just">
              <a:lnSpc>
                <a:spcPct val="115000"/>
              </a:lnSpc>
              <a:spcBef>
                <a:spcPts val="600"/>
              </a:spcBef>
            </a:pPr>
            <a:r>
              <a:rPr lang="es-MX" sz="16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El sistema de boletaje transaccional cumple con los objetivos planteados al implementar una arquitectura orientada a servicios (SOA) basada en SOAP, permitiendo la centralización de la lógica de negocio y el consumo unificado desde múltiples clientes como Web, Escritorio, Móvil y Consola.</a:t>
            </a:r>
          </a:p>
          <a:p>
            <a:pPr marR="0" lvl="0" algn="just">
              <a:lnSpc>
                <a:spcPct val="115000"/>
              </a:lnSpc>
              <a:spcBef>
                <a:spcPts val="600"/>
              </a:spcBef>
            </a:pPr>
            <a:r>
              <a:rPr lang="es-MX" sz="16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La definición clara de los requisitos funcionales y no funcionales proporciona una base sólida para el desarrollo del sistema, asegurando la consistencia en el decremento de asientos y exactitud en los desgloses financieros independientemente de la plataforma utilizada.</a:t>
            </a:r>
          </a:p>
          <a:p>
            <a:pPr marR="0" lvl="0" algn="just">
              <a:lnSpc>
                <a:spcPct val="115000"/>
              </a:lnSpc>
              <a:spcBef>
                <a:spcPts val="600"/>
              </a:spcBef>
            </a:pPr>
            <a:r>
              <a:rPr lang="es-MX" sz="16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El uso de estándares corporativos como SOAP, XML y WSDL garantiza la interoperabilidad entre diferentes tecnologías, facilitando la integración de múltiples clientes sin necesidad de modificar el servicio central de la corporación "Monster".</a:t>
            </a:r>
          </a:p>
        </p:txBody>
      </p:sp>
    </p:spTree>
    <p:extLst>
      <p:ext uri="{BB962C8B-B14F-4D97-AF65-F5344CB8AC3E}">
        <p14:creationId xmlns:p14="http://schemas.microsoft.com/office/powerpoint/2010/main" val="31403334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DIAGRAMA DE ARQUITECTURA DEL SISTEMA TICKETPREMIUM</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rgbClr val="FFFF00"/>
                </a:solidFill>
              </a:rPr>
              <a:t>RECOMENDACIONE</a:t>
            </a:r>
            <a:r>
              <a:rPr lang="es-ES" sz="600">
                <a:solidFill>
                  <a:srgbClr val="FFFF00"/>
                </a:solidFill>
              </a:rPr>
              <a:t>S</a:t>
            </a: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67</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8069032" cy="1116524"/>
          </a:xfrm>
          <a:prstGeom prst="rect">
            <a:avLst/>
          </a:prstGeom>
          <a:noFill/>
        </p:spPr>
        <p:txBody>
          <a:bodyPr wrap="square">
            <a:spAutoFit/>
          </a:bodyPr>
          <a:lstStyle/>
          <a:p>
            <a:pPr>
              <a:lnSpc>
                <a:spcPct val="115000"/>
              </a:lnSpc>
              <a:spcBef>
                <a:spcPts val="1200"/>
              </a:spcBef>
            </a:pPr>
            <a:r>
              <a:rPr lang="es-EC"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RECOMENDACIONES</a:t>
            </a: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Bef>
                <a:spcPts val="1200"/>
              </a:spcBef>
            </a:pP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0C2F1CEA-6CF0-D4A4-2ACB-0D66912333CE}"/>
              </a:ext>
            </a:extLst>
          </p:cNvPr>
          <p:cNvSpPr txBox="1"/>
          <p:nvPr/>
        </p:nvSpPr>
        <p:spPr>
          <a:xfrm>
            <a:off x="581192" y="2591775"/>
            <a:ext cx="8069032" cy="4050083"/>
          </a:xfrm>
          <a:prstGeom prst="rect">
            <a:avLst/>
          </a:prstGeom>
          <a:noFill/>
        </p:spPr>
        <p:txBody>
          <a:bodyPr wrap="square">
            <a:spAutoFit/>
          </a:bodyPr>
          <a:lstStyle/>
          <a:p>
            <a:pPr marR="0" lvl="0" algn="just">
              <a:lnSpc>
                <a:spcPct val="115000"/>
              </a:lnSpc>
              <a:spcBef>
                <a:spcPts val="600"/>
              </a:spcBef>
            </a:pPr>
            <a:r>
              <a:rPr lang="es-MX"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recomienda implementar un certificado SSL en el servidor de aplicaciones para cifrar el tráfico XML y proteger la información transaccional e intercambiada entre los clientes y el servicio SOAP durante su transmisión.</a:t>
            </a:r>
          </a:p>
          <a:p>
            <a:pPr marR="0" lvl="0" algn="just">
              <a:lnSpc>
                <a:spcPct val="115000"/>
              </a:lnSpc>
              <a:spcBef>
                <a:spcPts val="600"/>
              </a:spcBef>
            </a:pPr>
            <a:r>
              <a:rPr lang="es-MX"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Es fundamental realizar pruebas de carga (Stress Testing) y de rendimiento sobre los métodos de decremento de stock y concurrencia antes del despliegue, con el fin de garantizar que el motor de base de datos MySQL y el backend respondan adecuadamente ante múltiples solicitudes simultáneas de boletos sin afectar los tiempos de respuesta.</a:t>
            </a:r>
          </a:p>
          <a:p>
            <a:pPr marR="0" lvl="0" algn="just">
              <a:lnSpc>
                <a:spcPct val="115000"/>
              </a:lnSpc>
              <a:spcBef>
                <a:spcPts val="600"/>
              </a:spcBef>
            </a:pPr>
            <a:r>
              <a:rPr lang="es-MX"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sugiere desarrollar librerías cliente (stubs) compartidas para los clientes de Consola y Escritorio, evitando la duplicidad de código en la generación de peticiones SOAP y estandarizando el manejo de excepciones, mapeo de entidades y validaciones.</a:t>
            </a:r>
            <a:endParaRPr lang="es-MX"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518301605"/>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6933</Words>
  <Application>Microsoft Office PowerPoint</Application>
  <PresentationFormat>Panorámica</PresentationFormat>
  <Paragraphs>1459</Paragraphs>
  <Slides>67</Slides>
  <Notes>67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67</vt:i4>
      </vt:variant>
    </vt:vector>
  </HeadingPairs>
  <TitlesOfParts>
    <vt:vector size="75" baseType="lpstr">
      <vt:lpstr>Noto Sans Symbols</vt:lpstr>
      <vt:lpstr>Arial</vt:lpstr>
      <vt:lpstr>Gill Sans</vt:lpstr>
      <vt:lpstr>Calibri Light</vt:lpstr>
      <vt:lpstr>Cambria</vt:lpstr>
      <vt:lpstr>Calibri</vt:lpstr>
      <vt:lpstr>MS Mincho</vt:lpstr>
      <vt:lpstr>Dividendo</vt:lpstr>
      <vt:lpstr>PROYECTO WS SOAP JAVA - TICKETPREMIUM</vt:lpstr>
      <vt:lpstr>Presentación de PowerPoint</vt:lpstr>
      <vt:lpstr>1 INTRODUCCIÓN</vt:lpstr>
      <vt:lpstr>OBJETIVO GENERAL</vt:lpstr>
      <vt:lpstr>OBJETIVOS ESPECÍFICOS</vt:lpstr>
      <vt:lpstr>Sistema TicketPremium Módulo de Crédito</vt:lpstr>
      <vt:lpstr>Sistema de la Comercializadora TicketPremium</vt:lpstr>
      <vt:lpstr>Sistema de la Federación de Fútbol - TicketPremium.</vt:lpstr>
      <vt:lpstr>1I PRÁCTICA</vt:lpstr>
      <vt:lpstr>1I PRÁCTICA</vt:lpstr>
      <vt:lpstr>1I PRÁCTICA</vt:lpstr>
      <vt:lpstr>1I PRACTICA</vt:lpstr>
      <vt:lpstr>1I PRACTICA</vt:lpstr>
      <vt:lpstr>1 PRACTICA</vt:lpstr>
      <vt:lpstr>1 PRACTICA</vt:lpstr>
      <vt:lpstr>1 PRACTICA</vt:lpstr>
      <vt:lpstr>1 PRACTICA</vt:lpstr>
      <vt:lpstr>1 PRACTICA</vt:lpstr>
      <vt:lpstr>1 PRACTICA</vt:lpstr>
      <vt:lpstr>1 PRACTICA</vt:lpstr>
      <vt:lpstr>1 PRACTICA</vt:lpstr>
      <vt:lpstr>1 PRACTICA</vt:lpstr>
      <vt:lpstr>1 PRACTICA</vt:lpstr>
      <vt:lpstr>1I PRÁCTICA</vt:lpstr>
      <vt:lpstr>1 PRACTICA</vt:lpstr>
      <vt:lpstr>1 PRACTICA</vt:lpstr>
      <vt:lpstr>1I PRÁCTICA</vt:lpstr>
      <vt:lpstr>1 PRACTICA</vt:lpstr>
      <vt:lpstr>1I PRÁCTICA</vt:lpstr>
      <vt:lpstr>1 PRACTICA</vt:lpstr>
      <vt:lpstr>CREACION DEL PROYECTO</vt:lpstr>
      <vt:lpstr>1 PRACTICA</vt:lpstr>
      <vt:lpstr>1 PRACTICA</vt:lpstr>
      <vt:lpstr>1 PRACTICA</vt:lpstr>
      <vt:lpstr>1 PRACTICA</vt:lpstr>
      <vt:lpstr>1 PRACTICA</vt:lpstr>
      <vt:lpstr>1 PRACTICA</vt:lpstr>
      <vt:lpstr>1 PRACTICA</vt:lpstr>
      <vt:lpstr>CREACIÓN DE LOS SERVICIOS</vt:lpstr>
      <vt:lpstr>CREACIÓN DE LOS SERVICIOS</vt:lpstr>
      <vt:lpstr>CREACIÓN DE LOS SERVICIOS</vt:lpstr>
      <vt:lpstr>APLICACIÓN CLIENTE</vt:lpstr>
      <vt:lpstr>APLICACIÓN CLIENTE</vt:lpstr>
      <vt:lpstr>APLICACIÓN CLIENTE</vt:lpstr>
      <vt:lpstr>APLICACIÓN CLIENTE</vt:lpstr>
      <vt:lpstr>APLICACIÓN CLIENTE</vt:lpstr>
      <vt:lpstr>APLICACIÓN CLIENTE</vt:lpstr>
      <vt:lpstr>APLICACIÓN CLIENTE ESCRITORIO</vt:lpstr>
      <vt:lpstr>APLICACIÓN CLIENTE ESCRITORIO</vt:lpstr>
      <vt:lpstr>APLICACIÓN CLIENTE ESCRITORIO</vt:lpstr>
      <vt:lpstr>APLICACIÓN CLIENTE ESCRITORIO</vt:lpstr>
      <vt:lpstr>APLICACIÓN CLIENTE WEB</vt:lpstr>
      <vt:lpstr>APLICACIÓN CLIENTE WEB</vt:lpstr>
      <vt:lpstr>APLICACIÓN CLIENTE WEB</vt:lpstr>
      <vt:lpstr>APLICACIÓN CLIENTE WEB</vt:lpstr>
      <vt:lpstr>APLICACIÓN CLIENTE WEB</vt:lpstr>
      <vt:lpstr>APLICACIÓN CLIENTE WEB</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APLICACIÓN CLIENTE MÓVIL</vt:lpstr>
      <vt:lpstr>1 PRACTICA</vt:lpstr>
      <vt:lpstr>1 PRACTICA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WS SOAP JAVA - TICKETPREMIUM</dc:title>
  <dc:creator>Michael Villarruel</dc:creator>
  <cp:lastModifiedBy>Micaela Salcedo</cp:lastModifiedBy>
  <cp:revision>4</cp:revision>
  <dcterms:created xsi:type="dcterms:W3CDTF">2020-07-10T23:33:49Z</dcterms:created>
  <dcterms:modified xsi:type="dcterms:W3CDTF">2026-05-20T12:13:59Z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0x01010005BCD8BC1B8CD347A0B549198BACA7FF</vt:lpwstr>
  </property>
</Properties>
</file>