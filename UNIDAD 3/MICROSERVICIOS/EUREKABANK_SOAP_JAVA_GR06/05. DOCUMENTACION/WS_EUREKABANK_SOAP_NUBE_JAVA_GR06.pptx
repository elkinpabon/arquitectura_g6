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3"/>
  </p:notesMasterIdLst>
  <p:sldIdLst>
    <p:sldId id="256" r:id="rId3"/>
    <p:sldId id="330" r:id="rId4"/>
    <p:sldId id="331" r:id="rId5"/>
    <p:sldId id="332" r:id="rId6"/>
    <p:sldId id="333" r:id="rId7"/>
    <p:sldId id="334" r:id="rId8"/>
    <p:sldId id="335" r:id="rId9"/>
    <p:sldId id="336" r:id="rId10"/>
    <p:sldId id="338" r:id="rId11"/>
    <p:sldId id="339" r:id="rId12"/>
    <p:sldId id="340" r:id="rId13"/>
    <p:sldId id="341" r:id="rId14"/>
    <p:sldId id="342" r:id="rId15"/>
    <p:sldId id="343" r:id="rId16"/>
    <p:sldId id="344" r:id="rId17"/>
    <p:sldId id="345" r:id="rId18"/>
    <p:sldId id="352" r:id="rId19"/>
    <p:sldId id="353" r:id="rId20"/>
    <p:sldId id="351" r:id="rId21"/>
    <p:sldId id="337"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Gill Sans" panose="020B0604020202020204" charset="0"/>
      <p:regular r:id="rId32"/>
      <p:bold r:id="rId33"/>
    </p:embeddedFont>
    <p:embeddedFont>
      <p:font typeface="Gill Sans MT" panose="020B0502020104020203" pitchFamily="34" charset="0"/>
      <p:regular r:id="rId34"/>
      <p:bold r:id="rId35"/>
      <p:italic r:id="rId36"/>
      <p:boldItalic r:id="rId37"/>
    </p:embeddedFont>
    <p:embeddedFont>
      <p:font typeface="Noto Sans Symbols" panose="020B0604020202020204" charset="0"/>
      <p:regular r:id="rId38"/>
      <p:bold r:id="rId39"/>
    </p:embeddedFont>
    <p:embeddedFont>
      <p:font typeface="Wingdings 2" panose="05020102010507070707" pitchFamily="18" charset="2"/>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2" d="100"/>
          <a:sy n="42" d="100"/>
        </p:scale>
        <p:origin x="60" y="5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9.xml"/><Relationship Id="rId34" Type="http://schemas.openxmlformats.org/officeDocument/2006/relationships/font" Target="fonts/font11.fntdata"/><Relationship Id="rId84"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82"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6.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8.xml"/><Relationship Id="rId8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935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5187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2933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5801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6980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2670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1663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244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7180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3677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9904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7077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2183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628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2916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7731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007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864447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737482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043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330376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28262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5859741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207235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4220932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616263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942262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97229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Tree>
    <p:extLst>
      <p:ext uri="{BB962C8B-B14F-4D97-AF65-F5344CB8AC3E}">
        <p14:creationId xmlns:p14="http://schemas.microsoft.com/office/powerpoint/2010/main" val="4118370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WEB SERVICE SOAP CON JAVA
EN LA NUBE (AWS)</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Josué Marín</a:t>
            </a:r>
          </a:p>
          <a:p>
            <a:pPr marL="0" lvl="0" indent="0" algn="l" rtl="0">
              <a:lnSpc>
                <a:spcPct val="100000"/>
              </a:lnSpc>
              <a:spcBef>
                <a:spcPts val="0"/>
              </a:spcBef>
              <a:spcAft>
                <a:spcPts val="0"/>
              </a:spcAft>
              <a:buSzPts val="1472"/>
              <a:buNone/>
            </a:pPr>
            <a:r>
              <a:rPr lang="es-ES" b="1" dirty="0">
                <a:solidFill>
                  <a:schemeClr val="lt1"/>
                </a:solidFill>
              </a:rPr>
              <a:t>		</a:t>
            </a:r>
            <a:r>
              <a:rPr lang="es-ES" b="1" dirty="0" err="1">
                <a:solidFill>
                  <a:schemeClr val="lt1"/>
                </a:solidFill>
              </a:rPr>
              <a:t>Elkín</a:t>
            </a:r>
            <a:r>
              <a:rPr lang="es-ES" b="1" dirty="0">
                <a:solidFill>
                  <a:schemeClr val="lt1"/>
                </a:solidFill>
              </a:rPr>
              <a:t> Pabón</a:t>
            </a:r>
          </a:p>
          <a:p>
            <a:pPr marL="0" lvl="0" indent="0" algn="l" rtl="0">
              <a:lnSpc>
                <a:spcPct val="100000"/>
              </a:lnSpc>
              <a:spcBef>
                <a:spcPts val="0"/>
              </a:spcBef>
              <a:spcAft>
                <a:spcPts val="0"/>
              </a:spcAft>
              <a:buSzPts val="1472"/>
              <a:buNone/>
            </a:pPr>
            <a:r>
              <a:rPr lang="es-ES" b="1" dirty="0">
                <a:solidFill>
                  <a:schemeClr val="lt1"/>
                </a:solidFill>
              </a:rPr>
              <a:t>		Micaela Salcedo</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a:solidFill>
                  <a:schemeClr val="lt1"/>
                </a:solidFill>
                <a:latin typeface="Gill Sans"/>
              </a:rPr>
              <a:t>30742</a:t>
            </a:r>
            <a:endParaRPr lang="es-EC" sz="1600" dirty="0">
              <a:solidFill>
                <a:schemeClr val="lt1"/>
              </a:solidFill>
              <a:latin typeface="Gill Sans"/>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S" sz="1600" b="1" dirty="0">
                <a:solidFill>
                  <a:schemeClr val="lt1"/>
                </a:solidFill>
                <a:latin typeface="Gill Sans"/>
                <a:ea typeface="Gill Sans"/>
                <a:cs typeface="Gill Sans"/>
                <a:sym typeface="Gill Sans"/>
              </a:rPr>
              <a:t>09</a:t>
            </a:r>
            <a:r>
              <a:rPr lang="es-ES" sz="1600" b="1" i="0" u="none" strike="noStrike" cap="none" dirty="0">
                <a:solidFill>
                  <a:schemeClr val="lt1"/>
                </a:solidFill>
                <a:latin typeface="Gill Sans"/>
                <a:ea typeface="Gill Sans"/>
                <a:cs typeface="Gill Sans"/>
                <a:sym typeface="Gill Sans"/>
              </a:rPr>
              <a:t>/6/2026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Marcador de contenido 2">
            <a:extLst>
              <a:ext uri="{FF2B5EF4-FFF2-40B4-BE49-F238E27FC236}">
                <a16:creationId xmlns:a16="http://schemas.microsoft.com/office/drawing/2014/main" id="{E7FCC8BE-29CF-4C4C-BE9D-AC08DC5E481A}"/>
              </a:ext>
            </a:extLst>
          </p:cNvPr>
          <p:cNvSpPr>
            <a:spLocks noGrp="1"/>
          </p:cNvSpPr>
          <p:nvPr>
            <p:ph idx="1"/>
          </p:nvPr>
        </p:nvSpPr>
        <p:spPr>
          <a:xfrm>
            <a:off x="596348" y="701336"/>
            <a:ext cx="3389726" cy="5424255"/>
          </a:xfrm>
        </p:spPr>
        <p:txBody>
          <a:bodyPr vert="horz" lIns="91440" tIns="45720" rIns="91440" bIns="45720" rtlCol="0" anchor="ctr">
            <a:normAutofit/>
          </a:bodyPr>
          <a:lstStyle/>
          <a:p>
            <a:pPr>
              <a:spcBef>
                <a:spcPts val="0"/>
              </a:spcBef>
              <a:spcAft>
                <a:spcPts val="0"/>
              </a:spcAft>
              <a:buClr>
                <a:schemeClr val="lt1"/>
              </a:buClr>
              <a:buSzPts val="2100"/>
              <a:buFont typeface="Calibri"/>
              <a:buChar char="◼"/>
            </a:pPr>
            <a:r>
              <a:t>INTRODUCCIÓN</a:t>
            </a:r>
          </a:p>
          <a:p>
            <a:pPr>
              <a:spcBef>
                <a:spcPts val="0"/>
              </a:spcBef>
              <a:spcAft>
                <a:spcPts val="0"/>
              </a:spcAft>
              <a:buClr>
                <a:schemeClr val="lt1"/>
              </a:buClr>
              <a:buSzPts val="2100"/>
              <a:buFont typeface="Calibri"/>
              <a:buChar char="◼"/>
            </a:pPr>
            <a:endParaRPr/>
          </a:p>
          <a:p>
            <a:pPr>
              <a:spcBef>
                <a:spcPts val="0"/>
              </a:spcBef>
              <a:spcAft>
                <a:spcPts val="0"/>
              </a:spcAft>
              <a:buClr>
                <a:schemeClr val="lt1"/>
              </a:buClr>
              <a:buSzPts val="2100"/>
              <a:buFont typeface="Calibri"/>
              <a:buChar char="◼"/>
            </a:pPr>
            <a:endParaRPr/>
          </a:p>
          <a:p>
            <a:pPr lvl="0">
              <a:spcBef>
                <a:spcPts val="0"/>
              </a:spcBef>
              <a:spcAft>
                <a:spcPts val="0"/>
              </a:spcAft>
              <a:buClr>
                <a:schemeClr val="lt1"/>
              </a:buClr>
              <a:buSzPts val="2100"/>
              <a:buFont typeface="Calibri"/>
              <a:buChar char="◼"/>
            </a:pPr>
            <a:endParaRPr/>
          </a:p>
          <a:p>
            <a:pPr lvl="0">
              <a:spcBef>
                <a:spcPts val="0"/>
              </a:spcBef>
              <a:spcAft>
                <a:spcPts val="0"/>
              </a:spcAft>
              <a:buClr>
                <a:schemeClr val="lt1"/>
              </a:buClr>
              <a:buSzPts val="2100"/>
              <a:buFont typeface="Calibri"/>
              <a:buChar char="◼"/>
            </a:pPr>
            <a:endParaRPr/>
          </a:p>
          <a:p>
            <a:pPr lvl="0">
              <a:spcBef>
                <a:spcPts val="0"/>
              </a:spcBef>
              <a:spcAft>
                <a:spcPts val="0"/>
              </a:spcAft>
              <a:buClr>
                <a:schemeClr val="lt1"/>
              </a:buClr>
              <a:buSzPts val="2100"/>
              <a:buFont typeface="Calibri"/>
              <a:buChar char="◼"/>
            </a:pPr>
            <a:endParaRPr lang="es-ES" sz="1100" dirty="0">
              <a:solidFill>
                <a:schemeClr val="dk1"/>
              </a:solidFill>
              <a:latin typeface="Arial"/>
              <a:ea typeface="Calibri"/>
              <a:cs typeface="Arial"/>
              <a:sym typeface="Arial"/>
            </a:endParaRPr>
          </a:p>
          <a:p>
            <a:pPr lvl="0">
              <a:spcBef>
                <a:spcPts val="0"/>
              </a:spcBef>
              <a:spcAft>
                <a:spcPts val="0"/>
              </a:spcAft>
              <a:buClr>
                <a:schemeClr val="lt1"/>
              </a:buClr>
              <a:buSzPts val="2100"/>
              <a:buFont typeface="Calibri"/>
              <a:buChar char="◼"/>
            </a:pPr>
            <a:endParaRPr lang="es-ES" dirty="0">
              <a:solidFill>
                <a:schemeClr val="lt1"/>
              </a:solidFill>
            </a:endParaRPr>
          </a:p>
          <a:p>
            <a:r>
              <a:t>OBJETIVOS</a:t>
            </a:r>
          </a:p>
          <a:p>
            <a:r>
              <a:t>MARCO TEÓRICO</a:t>
            </a:r>
          </a:p>
          <a:p>
            <a:r>
              <a:t>ARQUITECTURA SOA/SOAP</a:t>
            </a:r>
          </a:p>
          <a:p>
            <a:r>
              <a:t>SERVIDOR SOAP (JAVA)</a:t>
            </a:r>
          </a:p>
          <a:p>
            <a:r>
              <a:t>CLIENTES: WEB, ESCRITORIO, CONSOLA, MÓVIL</a:t>
            </a:r>
          </a:p>
          <a:p>
            <a:r>
              <a:t>RESULTADOS</a:t>
            </a:r>
          </a:p>
          <a:p>
            <a:r>
              <a:t>CONCLUSIONES</a:t>
            </a: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INTRODUCCIÓN</a:t>
            </a:r>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fontScale="62500" lnSpcReduction="20000"/>
          </a:bodyPr>
          <a:lstStyle/>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En la actualidad, las organizaciones y empresas dependen de sistemas informáticos capaces de intercambiar información de manera rápida, segura y eficiente entre diferentes plataformas tecnológicas. Debido al crecimiento de las aplicaciones distribuidas y al uso de múltiples dispositivos conectados a internet, surge la necesidad de implementar mecanismos de comunicación estandarizados que permitan integrar sistemas desarrollados en distintos lenguajes de programación y ejecutados sobre diferentes entornos operativos. Dentro de este contexto, los servicios web representan una de las soluciones más utilizadas para lograr interoperabilidad entre aplicaciones.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Los servicios web permiten que diferentes sistemas puedan comunicarse entre sí mediante protocolos estándar de red, facilitando el intercambio de datos y funcionalidades a través de internet o redes locales. Gracias a esto, una aplicación puede consumir información o ejecutar procesos que se encuentran alojados en otro servidor sin necesidad de conocer detalles internos de su implementación. Este enfoque favorece la reutilización de componentes, la modularidad del software y la integración entre aplicaciones heterogéneas.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Entre las distintas arquitecturas utilizadas para el desarrollo de servicios web,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se ha convertido en una de las más utilizadas debido a su simplicidad, flexibilidad y compatibilidad con tecnologías modernas. REST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Representational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State</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Transfer) es un estilo de arquitectura basado en el protocolo HTTP que organiza las funcionalidades del sistema mediante recursos accesibles a través de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URLs</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A diferencia de arquitecturas tradicionales como SOAP,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utiliza operaciones HTTP como GET, POST, PUT y DELETE para realizar operaciones sobre los recursos, permitiendo un intercambio de información más ligero y eficiente, generalmente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La arquitectura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se caracteriza por ser escalable, sencilla de implementar y fácil de consumir desde diferentes tipos de clientes, tales como aplicaciones web, aplicaciones móviles, clientes de escritorio o aplicaciones de consola. Debido a estas ventajas, actualmente es ampliamente utilizada en el desarrollo de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APIs</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modernas y sistemas distribuidos. Además,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facilita la separación entre el cliente y el servidor, permitiendo que ambos evolucionen de forma independiente mientras mantengan el mismo contrato de comunicación basado en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endpoints</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y respuestas estructuradas.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274320">
              <a:lnSpc>
                <a:spcPct val="115000"/>
              </a:lnSpc>
              <a:spcAft>
                <a:spcPts val="1000"/>
              </a:spcAft>
            </a:pP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En el presente proyecto se desarrolla un servicio web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RESTful</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denominado, implementado utilizando Java y el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framework</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Spring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Boot</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El objetivo principal del sistema es exponer operaciones relacionadas con conversiones de unidades de longitud, masa y temperatura, permitiendo que diferentes clientes consuman dichas funcionalidades mediante solicitudes HTTP. Spring </a:t>
            </a:r>
            <a:r>
              <a:rPr lang="es-EC" sz="1800" dirty="0" err="1">
                <a:effectLst/>
                <a:latin typeface="Times New Roman" panose="02020603050405020304" pitchFamily="18" charset="0"/>
                <a:ea typeface="Times New Roman" panose="02020603050405020304" pitchFamily="18" charset="0"/>
                <a:cs typeface="Times New Roman" panose="02020603050405020304" pitchFamily="18" charset="0"/>
              </a:rPr>
              <a:t>Boot</a:t>
            </a:r>
            <a:r>
              <a:rPr lang="es-EC" sz="1800" dirty="0">
                <a:effectLst/>
                <a:latin typeface="Times New Roman" panose="02020603050405020304" pitchFamily="18" charset="0"/>
                <a:ea typeface="Times New Roman" panose="02020603050405020304" pitchFamily="18" charset="0"/>
                <a:cs typeface="Times New Roman" panose="02020603050405020304" pitchFamily="18" charset="0"/>
              </a:rPr>
              <a:t> proporciona una estructura robusta para la creación de servicios web, simplificando la configuración y facilitando el desarrollo de aplicaciones empresariales basadas en Java.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267468" y="-1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rgbClr val="FFFF00"/>
                </a:solidFill>
                <a:latin typeface="Calibri"/>
                <a:ea typeface="Calibri"/>
                <a:cs typeface="Calibri"/>
                <a:sym typeface="Calibri"/>
              </a:rPr>
              <a:t>INTRODUCCIÓN</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MARCO TEÓRICO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OBJETIVOS</a:t>
            </a: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algn="just">
              <a:lnSpc>
                <a:spcPct val="115000"/>
              </a:lnSpc>
              <a:spcAft>
                <a:spcPts val="1000"/>
              </a:spcAft>
            </a:pPr>
            <a:r>
              <a:rPr lang="es-EC"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Desarrollar un servicio web </a:t>
            </a:r>
            <a:r>
              <a:rPr lang="es-EC" sz="1800"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RESTful</a:t>
            </a:r>
            <a:r>
              <a:rPr lang="es-EC"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en .NET denominado CONUNI, capaz de exponer operaciones de conversión de unidades de longitud, masa y temperatura, incorporando un mecanismo de autenticación basado en un archivo plano de credenciales y permitiendo su consumo desde clientes de consola, escritorio, web y móvil mediante protocolos HTTP y respuestas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spcBef>
                <a:spcPts val="1000"/>
              </a:spcBef>
              <a:buFont typeface="+mj-lt"/>
              <a:buAutoNum type="arabicPeriod"/>
            </a:pPr>
            <a:r>
              <a:rPr lang="es-419"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Objetivo específico  </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EC" sz="1800" dirty="0">
                <a:effectLst/>
                <a:latin typeface="Calibri" panose="020F0502020204030204" pitchFamily="34" charset="0"/>
                <a:ea typeface="MS Mincho" panose="02020609040205080304" pitchFamily="49" charset="-128"/>
                <a:cs typeface="Calibri" panose="020F0502020204030204" pitchFamily="34" charset="0"/>
              </a:rPr>
              <a:t>Implementar un servidor </a:t>
            </a:r>
            <a:r>
              <a:rPr lang="es-EC" sz="1800" dirty="0" err="1">
                <a:effectLst/>
                <a:latin typeface="Calibri" panose="020F0502020204030204" pitchFamily="34" charset="0"/>
                <a:ea typeface="MS Mincho" panose="02020609040205080304" pitchFamily="49" charset="-128"/>
                <a:cs typeface="Calibri" panose="020F0502020204030204" pitchFamily="34" charset="0"/>
              </a:rPr>
              <a:t>RESTful</a:t>
            </a:r>
            <a:r>
              <a:rPr lang="es-EC" sz="1800" dirty="0">
                <a:effectLst/>
                <a:latin typeface="Calibri" panose="020F0502020204030204" pitchFamily="34" charset="0"/>
                <a:ea typeface="MS Mincho" panose="02020609040205080304" pitchFamily="49" charset="-128"/>
                <a:cs typeface="Calibri" panose="020F0502020204030204" pitchFamily="34" charset="0"/>
              </a:rPr>
              <a:t> utilizando ASP.NET Core Web API para publicar </a:t>
            </a:r>
            <a:r>
              <a:rPr lang="es-EC" sz="1800" dirty="0" err="1">
                <a:effectLst/>
                <a:latin typeface="Calibri" panose="020F0502020204030204" pitchFamily="34" charset="0"/>
                <a:ea typeface="MS Mincho" panose="02020609040205080304" pitchFamily="49" charset="-128"/>
                <a:cs typeface="Calibri" panose="020F0502020204030204" pitchFamily="34" charset="0"/>
              </a:rPr>
              <a:t>endpoints</a:t>
            </a:r>
            <a:r>
              <a:rPr lang="es-EC" sz="1800" dirty="0">
                <a:effectLst/>
                <a:latin typeface="Calibri" panose="020F0502020204030204" pitchFamily="34" charset="0"/>
                <a:ea typeface="MS Mincho" panose="02020609040205080304" pitchFamily="49" charset="-128"/>
                <a:cs typeface="Calibri" panose="020F0502020204030204" pitchFamily="34" charset="0"/>
              </a:rPr>
              <a:t>.</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EC" sz="1800" dirty="0">
                <a:effectLst/>
                <a:latin typeface="Calibri" panose="020F0502020204030204" pitchFamily="34" charset="0"/>
                <a:ea typeface="MS Mincho" panose="02020609040205080304" pitchFamily="49" charset="-128"/>
                <a:cs typeface="Calibri" panose="020F0502020204030204" pitchFamily="34" charset="0"/>
              </a:rPr>
              <a:t>Consumir el servicio </a:t>
            </a:r>
            <a:r>
              <a:rPr lang="es-EC" sz="1800" dirty="0" err="1">
                <a:effectLst/>
                <a:latin typeface="Calibri" panose="020F0502020204030204" pitchFamily="34" charset="0"/>
                <a:ea typeface="MS Mincho" panose="02020609040205080304" pitchFamily="49" charset="-128"/>
                <a:cs typeface="Calibri" panose="020F0502020204030204" pitchFamily="34" charset="0"/>
              </a:rPr>
              <a:t>RESTful</a:t>
            </a:r>
            <a:r>
              <a:rPr lang="es-EC" sz="1800" dirty="0">
                <a:effectLst/>
                <a:latin typeface="Calibri" panose="020F0502020204030204" pitchFamily="34" charset="0"/>
                <a:ea typeface="MS Mincho" panose="02020609040205080304" pitchFamily="49" charset="-128"/>
                <a:cs typeface="Calibri" panose="020F0502020204030204" pitchFamily="34" charset="0"/>
              </a:rPr>
              <a:t> desde clientes de consola, escritorio, web y móvil utilizando solicitudes HTTP y respuestas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EC" sz="1800" dirty="0">
                <a:effectLst/>
                <a:latin typeface="Calibri" panose="020F0502020204030204" pitchFamily="34" charset="0"/>
                <a:ea typeface="MS Mincho" panose="02020609040205080304" pitchFamily="49" charset="-128"/>
                <a:cs typeface="Calibri" panose="020F0502020204030204" pitchFamily="34" charset="0"/>
              </a:rPr>
              <a:t>Aplicar una estructura organizada basada en controladores, modelos y servicios para mantener una adecuada separación de responsabilidades en el proyecto.</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gn="just">
              <a:lnSpc>
                <a:spcPct val="115000"/>
              </a:lnSpc>
              <a:spcAft>
                <a:spcPts val="10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OBJETIVO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MARCO TEÓRICO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1035587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Marco teórico</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marL="342900" lvl="0" indent="-342900">
              <a:lnSpc>
                <a:spcPct val="115000"/>
              </a:lnSpc>
              <a:spcBef>
                <a:spcPts val="1000"/>
              </a:spcBef>
              <a:buFont typeface="+mj-lt"/>
              <a:buAutoNum type="arabicPeriod"/>
            </a:pP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Web </a:t>
            </a:r>
            <a:r>
              <a:rPr lang="es-EC" sz="1800" b="1" dirty="0" err="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Service</a:t>
            </a:r>
            <a:endPar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marL="0" indent="0" algn="just">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Un Web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Service</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o servicio web, es un mecanismo de comunicación entre aplicaciones conectadas a una red. Su finalidad es permitir que diferentes sistemas puedan intercambiar información o consumir funcionalidades sin depender directamente del lenguaje de programación, sistema operativo o plataforma en la que fueron desarrollados.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gn="just">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Los servicios web son ampliamente utilizados en aplicaciones distribuidas, ya que permiten que un sistema actúe como proveedor de funcionalidades y que otros sistemas funcionen como clientes consumidores. Por ejemplo, una aplicación móvil puede solicitar datos a un servidor, una aplicación web puede enviar información para ser procesada o un sistema de escritorio puede consumir operaciones publicadas en una API.</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MARCO TEÓRICO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37307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Marco teórico</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fontScale="85000" lnSpcReduction="10000"/>
          </a:bodyPr>
          <a:lstStyle/>
          <a:p>
            <a:pPr marL="342900" lvl="0" indent="-342900">
              <a:lnSpc>
                <a:spcPct val="115000"/>
              </a:lnSpc>
              <a:spcBef>
                <a:spcPts val="1000"/>
              </a:spcBef>
              <a:buFont typeface="+mj-lt"/>
              <a:buAutoNum type="arabicPeriod"/>
            </a:pP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REST</a:t>
            </a:r>
          </a:p>
          <a:p>
            <a:pPr algn="just">
              <a:lnSpc>
                <a:spcPct val="115000"/>
              </a:lnSpc>
              <a:spcAft>
                <a:spcPts val="1000"/>
              </a:spcAft>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REST, cuyas siglas significan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Representational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State</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Transfer, es un estilo de arquitectura utilizado para diseñar servicios web basados en recursos. En una arquitectura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RESTful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cada recurso se identifica mediante una URL y se accede a él utilizando métodos del protocolo HTTP.</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Los métodos HTTP más utilizados 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GET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Consultar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POST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Enviar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o registrar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PUT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Actualizar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completa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PATCH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Actualizar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parcial</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1800" dirty="0">
                <a:effectLst/>
                <a:latin typeface="Calibri" panose="020F0502020204030204" pitchFamily="34" charset="0"/>
                <a:ea typeface="MS Mincho" panose="02020609040205080304" pitchFamily="49" charset="-128"/>
                <a:cs typeface="Times New Roman" panose="02020603050405020304" pitchFamily="18" charset="0"/>
              </a:rPr>
              <a:t>DELETE -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Eliminar</a:t>
            </a:r>
            <a:r>
              <a:rPr lang="en-US" sz="1800" dirty="0">
                <a:effectLst/>
                <a:latin typeface="Calibri" panose="020F0502020204030204" pitchFamily="34" charset="0"/>
                <a:ea typeface="MS Mincho" panose="02020609040205080304" pitchFamily="49" charset="-128"/>
                <a:cs typeface="Times New Roman" panose="02020603050405020304" pitchFamily="18" charset="0"/>
              </a:rPr>
              <a:t> </a:t>
            </a:r>
            <a:r>
              <a:rPr lang="en-US" sz="1800" dirty="0" err="1">
                <a:effectLst/>
                <a:latin typeface="Calibri" panose="020F0502020204030204" pitchFamily="34" charset="0"/>
                <a:ea typeface="MS Mincho" panose="02020609040205080304" pitchFamily="49" charset="-128"/>
                <a:cs typeface="Times New Roman" panose="02020603050405020304" pitchFamily="18" charset="0"/>
              </a:rPr>
              <a:t>información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REST se caracteriza por ser ligero, flexible y fácil de consumir, ya que normalmente utiliza datos en formato JSON. Esto permite que aplicaciones de consola, escritorio, web y móviles puedan comunicarse con el mismo servicio de forma sencilla.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MARCO TEÓRICO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8" name="Imagen 17" descr="API REST | Aprendiendo Arduino">
            <a:extLst>
              <a:ext uri="{FF2B5EF4-FFF2-40B4-BE49-F238E27FC236}">
                <a16:creationId xmlns:a16="http://schemas.microsoft.com/office/drawing/2014/main" id="{D9B6047C-DA2E-4DC6-866A-8186605E41D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503853" y="3117423"/>
            <a:ext cx="3931487" cy="1943100"/>
          </a:xfrm>
          <a:prstGeom prst="rect">
            <a:avLst/>
          </a:prstGeom>
          <a:noFill/>
          <a:ln>
            <a:noFill/>
          </a:ln>
        </p:spPr>
      </p:pic>
    </p:spTree>
    <p:extLst>
      <p:ext uri="{BB962C8B-B14F-4D97-AF65-F5344CB8AC3E}">
        <p14:creationId xmlns:p14="http://schemas.microsoft.com/office/powerpoint/2010/main" val="3177758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Marco teórico</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63242" cy="5445718"/>
          </a:xfrm>
          <a:prstGeom prst="rect">
            <a:avLst/>
          </a:prstGeom>
          <a:noFill/>
          <a:ln>
            <a:noFill/>
          </a:ln>
        </p:spPr>
        <p:txBody>
          <a:bodyPr spcFirstLastPara="1" wrap="square" lIns="91425" tIns="45700" rIns="91425" bIns="45700" anchor="ctr" anchorCtr="0">
            <a:normAutofit fontScale="77500" lnSpcReduction="20000"/>
          </a:bodyPr>
          <a:lstStyle/>
          <a:p>
            <a:pPr marL="342900" lvl="0" indent="-342900">
              <a:lnSpc>
                <a:spcPct val="115000"/>
              </a:lnSpc>
              <a:spcBef>
                <a:spcPts val="1000"/>
              </a:spcBef>
              <a:buFont typeface="+mj-lt"/>
              <a:buAutoNum type="arabicPeriod"/>
            </a:pP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Web </a:t>
            </a:r>
            <a:r>
              <a:rPr lang="es-EC" sz="1800" b="1" dirty="0" err="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Service</a:t>
            </a:r>
            <a:r>
              <a:rPr lang="es-EC"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 RESTFUL</a:t>
            </a:r>
          </a:p>
          <a:p>
            <a:pPr>
              <a:lnSpc>
                <a:spcPct val="115000"/>
              </a:lnSpc>
              <a:spcAft>
                <a:spcPts val="1000"/>
              </a:spcAft>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Un Web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Service</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RESTful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es un servicio web que aplica los principios de REST para exponer funcionalidades mediante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endpoints</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HTTP.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Cadaendpoint</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representa una operación o recurso específico del sistema.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En este proyecto, el servicio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RESTful</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CONUNI expone </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endpoints</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para autenticación y conversión de unidades. Por ejemplo:</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POST /api/</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auth</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login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GET  /api/longitud/</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metros-a-pies?valor</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=10</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GET  /api/masa/</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kilogramos-a-libras?valor</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=5</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GET  /api/temperatura/</a:t>
            </a:r>
            <a:r>
              <a:rPr lang="es-MX" sz="1800" dirty="0" err="1">
                <a:effectLst/>
                <a:latin typeface="Calibri" panose="020F0502020204030204" pitchFamily="34" charset="0"/>
                <a:ea typeface="Roboto Condensed Light" panose="02000000000000000000" pitchFamily="2" charset="0"/>
                <a:cs typeface="Times New Roman" panose="02020603050405020304" pitchFamily="18" charset="0"/>
              </a:rPr>
              <a:t>celsius-a-fahrenheit?valor</a:t>
            </a: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=25</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Cada cliente realiza una solicitud HTTP al servidor, el servidor procesa la petición y devuelve una respuesta estructurada en formato JSON.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s-MX" sz="1800" dirty="0">
                <a:effectLst/>
                <a:latin typeface="Calibri" panose="020F0502020204030204" pitchFamily="34" charset="0"/>
                <a:ea typeface="Roboto Condensed Light" panose="02000000000000000000" pitchFamily="2" charset="0"/>
                <a:cs typeface="Times New Roman" panose="02020603050405020304" pitchFamily="18" charset="0"/>
              </a:rPr>
              <a:t>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MARCO TEÓRICO</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2117001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marL="0" indent="0">
              <a:lnSpc>
                <a:spcPct val="107000"/>
              </a:lnSpc>
              <a:spcAft>
                <a:spcPts val="800"/>
              </a:spcAft>
              <a:buNone/>
            </a:pPr>
            <a:r>
              <a:rPr lang="es-419" sz="1800" dirty="0">
                <a:effectLst/>
                <a:latin typeface="Cambria" panose="02040503050406030204" pitchFamily="18" charset="0"/>
                <a:ea typeface="Times New Roman" panose="02020603050405020304" pitchFamily="18" charset="0"/>
                <a:cs typeface="Cambria" panose="02040503050406030204" pitchFamily="18" charset="0"/>
              </a:rPr>
              <a:t>Formulario inicial de registro en AWS. Se ingresa el correo del usuario raíz y el nombre de la cuenta, siendo el primer paso para acceder a la capa gratuita y los servicios en la nube.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2" name="image16.png">
            <a:extLst>
              <a:ext uri="{FF2B5EF4-FFF2-40B4-BE49-F238E27FC236}">
                <a16:creationId xmlns:a16="http://schemas.microsoft.com/office/drawing/2014/main" id="{DF3CCD32-A2C8-4677-BDB0-C3C82694FF74}"/>
              </a:ext>
            </a:extLst>
          </p:cNvPr>
          <p:cNvPicPr/>
          <p:nvPr/>
        </p:nvPicPr>
        <p:blipFill>
          <a:blip r:embed="rId4"/>
          <a:srcRect/>
          <a:stretch>
            <a:fillRect/>
          </a:stretch>
        </p:blipFill>
        <p:spPr>
          <a:xfrm>
            <a:off x="2174018" y="2918222"/>
            <a:ext cx="5153025" cy="3267075"/>
          </a:xfrm>
          <a:prstGeom prst="rect">
            <a:avLst/>
          </a:prstGeom>
          <a:ln w="25400">
            <a:solidFill>
              <a:srgbClr val="000000"/>
            </a:solidFill>
            <a:prstDash val="solid"/>
          </a:ln>
        </p:spPr>
      </p:pic>
    </p:spTree>
    <p:extLst>
      <p:ext uri="{BB962C8B-B14F-4D97-AF65-F5344CB8AC3E}">
        <p14:creationId xmlns:p14="http://schemas.microsoft.com/office/powerpoint/2010/main" val="3798765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Pantalla de verificación de identidad de AWS. El sistema exige validar un código de seguridad enviado al correo registrado antes de proceder con la recopilación de datos de facturación.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3" name="image5.png">
            <a:extLst>
              <a:ext uri="{FF2B5EF4-FFF2-40B4-BE49-F238E27FC236}">
                <a16:creationId xmlns:a16="http://schemas.microsoft.com/office/drawing/2014/main" id="{1A5B200F-6BE3-4893-B1EC-0B710937571E}"/>
              </a:ext>
            </a:extLst>
          </p:cNvPr>
          <p:cNvPicPr/>
          <p:nvPr/>
        </p:nvPicPr>
        <p:blipFill>
          <a:blip r:embed="rId4"/>
          <a:srcRect/>
          <a:stretch>
            <a:fillRect/>
          </a:stretch>
        </p:blipFill>
        <p:spPr>
          <a:xfrm>
            <a:off x="1603405" y="3669611"/>
            <a:ext cx="5276850" cy="2171700"/>
          </a:xfrm>
          <a:prstGeom prst="rect">
            <a:avLst/>
          </a:prstGeom>
          <a:ln w="25400">
            <a:solidFill>
              <a:srgbClr val="000000"/>
            </a:solidFill>
            <a:prstDash val="solid"/>
          </a:ln>
        </p:spPr>
      </p:pic>
    </p:spTree>
    <p:extLst>
      <p:ext uri="{BB962C8B-B14F-4D97-AF65-F5344CB8AC3E}">
        <p14:creationId xmlns:p14="http://schemas.microsoft.com/office/powerpoint/2010/main" val="46529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marL="0" indent="0">
              <a:lnSpc>
                <a:spcPct val="107000"/>
              </a:lnSpc>
              <a:spcAft>
                <a:spcPts val="800"/>
              </a:spcAft>
              <a:buNone/>
            </a:pPr>
            <a:r>
              <a:rPr lang="es-419" sz="1800" dirty="0">
                <a:effectLst/>
                <a:latin typeface="Cambria" panose="02040503050406030204" pitchFamily="18" charset="0"/>
                <a:ea typeface="MS Mincho" panose="02020609040205080304" pitchFamily="49" charset="-128"/>
                <a:cs typeface="Cambria" panose="02040503050406030204" pitchFamily="18" charset="0"/>
              </a:rPr>
              <a:t>Interfaz de configuración de seguridad. Tras verificar el correo, el usuario establece una contraseña segura para el usuario raíz, indispensable para resguardar el acceso total administrativo a la cuenta.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3" name="image17.png">
            <a:extLst>
              <a:ext uri="{FF2B5EF4-FFF2-40B4-BE49-F238E27FC236}">
                <a16:creationId xmlns:a16="http://schemas.microsoft.com/office/drawing/2014/main" id="{44996D62-6057-4AF3-BADE-03D967B89B81}"/>
              </a:ext>
            </a:extLst>
          </p:cNvPr>
          <p:cNvPicPr/>
          <p:nvPr/>
        </p:nvPicPr>
        <p:blipFill>
          <a:blip r:embed="rId4"/>
          <a:srcRect/>
          <a:stretch>
            <a:fillRect/>
          </a:stretch>
        </p:blipFill>
        <p:spPr>
          <a:xfrm>
            <a:off x="1939588" y="3343974"/>
            <a:ext cx="5181600" cy="3305175"/>
          </a:xfrm>
          <a:prstGeom prst="rect">
            <a:avLst/>
          </a:prstGeom>
          <a:ln w="25400">
            <a:solidFill>
              <a:srgbClr val="000000"/>
            </a:solidFill>
            <a:prstDash val="solid"/>
          </a:ln>
        </p:spPr>
      </p:pic>
    </p:spTree>
    <p:extLst>
      <p:ext uri="{BB962C8B-B14F-4D97-AF65-F5344CB8AC3E}">
        <p14:creationId xmlns:p14="http://schemas.microsoft.com/office/powerpoint/2010/main" val="636441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6"/>
            <a:ext cx="8620500" cy="2104612"/>
          </a:xfrm>
          <a:prstGeom prst="rect">
            <a:avLst/>
          </a:prstGeom>
          <a:noFill/>
          <a:ln>
            <a:noFill/>
          </a:ln>
        </p:spPr>
        <p:txBody>
          <a:bodyPr spcFirstLastPara="1" wrap="square" lIns="91425" tIns="45700" rIns="91425" bIns="45700" anchor="ctr" anchorCtr="0">
            <a:normAutofit/>
          </a:bodyPr>
          <a:lstStyle/>
          <a:p>
            <a:pPr marL="0" indent="0">
              <a:lnSpc>
                <a:spcPct val="107000"/>
              </a:lnSpc>
              <a:spcAft>
                <a:spcPts val="800"/>
              </a:spcAft>
              <a:buNone/>
            </a:pPr>
            <a:r>
              <a:rPr lang="es-419" sz="1800" dirty="0">
                <a:effectLst/>
                <a:latin typeface="Cambria" panose="02040503050406030204" pitchFamily="18" charset="0"/>
                <a:ea typeface="MS Mincho" panose="02020609040205080304" pitchFamily="49" charset="-128"/>
                <a:cs typeface="Cambria" panose="02040503050406030204" pitchFamily="18" charset="0"/>
              </a:rPr>
              <a:t>Formulario de información de contacto. Recopila datos empresariales o personales (nombre, organización, dirección y teléfono) requeridos obligatoriamente por AWS para completar el perfil legal y de facturación de la cuenta.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pic>
        <p:nvPicPr>
          <p:cNvPr id="13" name="image23.png">
            <a:extLst>
              <a:ext uri="{FF2B5EF4-FFF2-40B4-BE49-F238E27FC236}">
                <a16:creationId xmlns:a16="http://schemas.microsoft.com/office/drawing/2014/main" id="{01808FCD-C829-4B28-B873-E16F177A7565}"/>
              </a:ext>
            </a:extLst>
          </p:cNvPr>
          <p:cNvPicPr/>
          <p:nvPr/>
        </p:nvPicPr>
        <p:blipFill>
          <a:blip r:embed="rId4"/>
          <a:srcRect/>
          <a:stretch>
            <a:fillRect/>
          </a:stretch>
        </p:blipFill>
        <p:spPr>
          <a:xfrm>
            <a:off x="2298194" y="3669611"/>
            <a:ext cx="5162550" cy="2315210"/>
          </a:xfrm>
          <a:prstGeom prst="rect">
            <a:avLst/>
          </a:prstGeom>
          <a:ln w="25400">
            <a:solidFill>
              <a:srgbClr val="000000"/>
            </a:solidFill>
            <a:prstDash val="solid"/>
          </a:ln>
        </p:spPr>
      </p:pic>
    </p:spTree>
    <p:extLst>
      <p:ext uri="{BB962C8B-B14F-4D97-AF65-F5344CB8AC3E}">
        <p14:creationId xmlns:p14="http://schemas.microsoft.com/office/powerpoint/2010/main" val="338248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5079833"/>
          </a:xfrm>
          <a:prstGeom prst="rect">
            <a:avLst/>
          </a:prstGeom>
          <a:noFill/>
          <a:ln>
            <a:noFill/>
          </a:ln>
        </p:spPr>
        <p:txBody>
          <a:bodyPr spcFirstLastPara="1" wrap="square" lIns="91425" tIns="45700" rIns="91425" bIns="45700" anchor="ctr" anchorCtr="0">
            <a:normAutofit fontScale="85000" lnSpcReduction="20000"/>
          </a:bodyPr>
          <a:lstStyle/>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El proceso de registro en Amazon Web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Services</a:t>
            </a:r>
            <a:r>
              <a:rPr lang="es-419" sz="1800" dirty="0">
                <a:effectLst/>
                <a:latin typeface="Cambria" panose="02040503050406030204" pitchFamily="18" charset="0"/>
                <a:ea typeface="Times New Roman" panose="02020603050405020304" pitchFamily="18" charset="0"/>
                <a:cs typeface="Cambria" panose="02040503050406030204" pitchFamily="18" charset="0"/>
              </a:rPr>
              <a:t> (AWS) constituye el punto de partida para la implementación de cualquier infraestructura en la nube. Durante esta etapa, AWS solicita información de contacto, validación de correo electrónico, verificación telefónica y un método de pago válido con el fin de garantizar la identidad del usuario y habilitar el acceso a los servicios de la plataforma.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Una vez creada la cuenta, es recomendable aplicar buenas prácticas de seguridad desde el inicio. Entre ellas se encuentran la habilitación de la autenticación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multifactor</a:t>
            </a:r>
            <a:r>
              <a:rPr lang="es-419" sz="1800" dirty="0">
                <a:effectLst/>
                <a:latin typeface="Cambria" panose="02040503050406030204" pitchFamily="18" charset="0"/>
                <a:ea typeface="Times New Roman" panose="02020603050405020304" pitchFamily="18" charset="0"/>
                <a:cs typeface="Cambria" panose="02040503050406030204" pitchFamily="18" charset="0"/>
              </a:rPr>
              <a:t> (MFA) para el usuario raíz, la creación de usuarios IAM con permisos específicos para las actividades diarias y la utilización del usuario raíz únicamente para tareas administrativas críticas. Estas medidas contribuyen a reducir riesgos de acceso no autorizado y fortalecen la protección de la cuenta.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AWS ofrece un conjunto de recursos gratuitos a través de AWS Free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Tier</a:t>
            </a:r>
            <a:r>
              <a:rPr lang="es-419" sz="1800" dirty="0">
                <a:effectLst/>
                <a:latin typeface="Cambria" panose="02040503050406030204" pitchFamily="18" charset="0"/>
                <a:ea typeface="Times New Roman" panose="02020603050405020304" pitchFamily="18" charset="0"/>
                <a:cs typeface="Cambria" panose="02040503050406030204" pitchFamily="18" charset="0"/>
              </a:rPr>
              <a:t>, permitiendo a estudiantes, desarrolladores y organizaciones explorar diversos servicios sin incurrir en costos significativos durante un período determinado. Esta modalidad facilita el aprendizaje y la experimentación con tecnologías de nube antes de realizar inversiones en entornos de producción.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Times New Roman" panose="02020603050405020304" pitchFamily="18" charset="0"/>
                <a:cs typeface="Cambria" panose="02040503050406030204" pitchFamily="18" charset="0"/>
              </a:rPr>
              <a:t>La administración de los servicios se realiza mediante la Consola de Administración de AWS, una interfaz web centralizada que permite aprovisionar recursos, monitorear el consumo, administrar configuraciones de seguridad y acceder a los diferentes servicios disponibles. Adicionalmente, herramientas como AWS IAM, AWS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Budgets</a:t>
            </a:r>
            <a:r>
              <a:rPr lang="es-419" sz="1800" dirty="0">
                <a:effectLst/>
                <a:latin typeface="Cambria" panose="02040503050406030204" pitchFamily="18" charset="0"/>
                <a:ea typeface="Times New Roman" panose="02020603050405020304" pitchFamily="18" charset="0"/>
                <a:cs typeface="Cambria" panose="02040503050406030204" pitchFamily="18" charset="0"/>
              </a:rPr>
              <a:t> y AWS </a:t>
            </a:r>
            <a:r>
              <a:rPr lang="es-419" sz="1800" dirty="0" err="1">
                <a:effectLst/>
                <a:latin typeface="Cambria" panose="02040503050406030204" pitchFamily="18" charset="0"/>
                <a:ea typeface="Times New Roman" panose="02020603050405020304" pitchFamily="18" charset="0"/>
                <a:cs typeface="Cambria" panose="02040503050406030204" pitchFamily="18" charset="0"/>
              </a:rPr>
              <a:t>CloudTrail</a:t>
            </a:r>
            <a:r>
              <a:rPr lang="es-419" sz="1800" dirty="0">
                <a:effectLst/>
                <a:latin typeface="Cambria" panose="02040503050406030204" pitchFamily="18" charset="0"/>
                <a:ea typeface="Times New Roman" panose="02020603050405020304" pitchFamily="18" charset="0"/>
                <a:cs typeface="Cambria" panose="02040503050406030204" pitchFamily="18" charset="0"/>
              </a:rPr>
              <a:t> permiten fortalecer la gestión de accesos, el control de costos y la auditoría de actividades dentro de la plataforma.</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indent="0">
              <a:lnSpc>
                <a:spcPct val="107000"/>
              </a:lnSpc>
              <a:spcAft>
                <a:spcPts val="800"/>
              </a:spcAft>
              <a:buNone/>
            </a:pP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1609499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477328"/>
          </a:xfrm>
          <a:prstGeom prst="rect">
            <a:avLst/>
          </a:prstGeom>
          <a:noFill/>
        </p:spPr>
        <p:txBody>
          <a:bodyPr wrap="square">
            <a:spAutoFit/>
          </a:bodyPr>
          <a:lstStyle/>
          <a:p>
            <a:r>
              <a:rPr lang="es-419" sz="1800" dirty="0">
                <a:effectLst/>
                <a:latin typeface="Cambria" panose="02040503050406030204" pitchFamily="18" charset="0"/>
                <a:ea typeface="MS Mincho" panose="02020609040205080304" pitchFamily="49" charset="-128"/>
                <a:cs typeface="Cambria" panose="02040503050406030204" pitchFamily="18" charset="0"/>
              </a:rPr>
              <a:t>Interfaz del cliente RDP basado en navegador de Amazon </a:t>
            </a:r>
            <a:r>
              <a:rPr lang="es-419" sz="1800" dirty="0" err="1">
                <a:effectLst/>
                <a:latin typeface="Cambria" panose="02040503050406030204" pitchFamily="18" charset="0"/>
                <a:ea typeface="MS Mincho" panose="02020609040205080304" pitchFamily="49" charset="-128"/>
                <a:cs typeface="Cambria" panose="02040503050406030204" pitchFamily="18" charset="0"/>
              </a:rPr>
              <a:t>Lightsail</a:t>
            </a:r>
            <a:r>
              <a:rPr lang="es-419" sz="1800" dirty="0">
                <a:effectLst/>
                <a:latin typeface="Cambria" panose="02040503050406030204" pitchFamily="18" charset="0"/>
                <a:ea typeface="MS Mincho" panose="02020609040205080304" pitchFamily="49" charset="-128"/>
                <a:cs typeface="Cambria" panose="02040503050406030204" pitchFamily="18" charset="0"/>
              </a:rPr>
              <a:t>. Confirma la conexión remota exitosa al escritorio de la instancia Windows Server. Esta herramienta integrada permite administrar el servidor directamente desde la web, sin requerir software externo, facilitando las instalaciones posteriores de las bases de datos. </a:t>
            </a:r>
            <a:endParaRPr lang="es-EC" dirty="0"/>
          </a:p>
        </p:txBody>
      </p:sp>
      <p:pic>
        <p:nvPicPr>
          <p:cNvPr id="13" name="image22.png">
            <a:extLst>
              <a:ext uri="{FF2B5EF4-FFF2-40B4-BE49-F238E27FC236}">
                <a16:creationId xmlns:a16="http://schemas.microsoft.com/office/drawing/2014/main" id="{D03B673E-9F8A-4F30-94F7-4E883E32E429}"/>
              </a:ext>
            </a:extLst>
          </p:cNvPr>
          <p:cNvPicPr/>
          <p:nvPr/>
        </p:nvPicPr>
        <p:blipFill>
          <a:blip r:embed="rId4"/>
          <a:srcRect/>
          <a:stretch>
            <a:fillRect/>
          </a:stretch>
        </p:blipFill>
        <p:spPr>
          <a:xfrm>
            <a:off x="1016903" y="3429000"/>
            <a:ext cx="5362575" cy="2924175"/>
          </a:xfrm>
          <a:prstGeom prst="rect">
            <a:avLst/>
          </a:prstGeom>
          <a:ln w="25400">
            <a:solidFill>
              <a:srgbClr val="000000"/>
            </a:solidFill>
            <a:prstDash val="solid"/>
          </a:ln>
        </p:spPr>
      </p:pic>
    </p:spTree>
    <p:extLst>
      <p:ext uri="{BB962C8B-B14F-4D97-AF65-F5344CB8AC3E}">
        <p14:creationId xmlns:p14="http://schemas.microsoft.com/office/powerpoint/2010/main" val="287275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440286" y="1994940"/>
            <a:ext cx="8493084" cy="1346010"/>
          </a:xfrm>
          <a:prstGeom prst="rect">
            <a:avLst/>
          </a:prstGeom>
          <a:noFill/>
        </p:spPr>
        <p:txBody>
          <a:bodyPr wrap="square">
            <a:spAutoFit/>
          </a:bodyPr>
          <a:lstStyle/>
          <a:p>
            <a:pPr>
              <a:lnSpc>
                <a:spcPct val="115000"/>
              </a:lnSpc>
              <a:spcBef>
                <a:spcPts val="1200"/>
              </a:spcBef>
              <a:spcAft>
                <a:spcPts val="12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Portal oficial de descargas de MySQL </a:t>
            </a:r>
            <a:r>
              <a:rPr lang="es-419" sz="1800" dirty="0" err="1">
                <a:effectLst/>
                <a:latin typeface="Cambria" panose="02040503050406030204" pitchFamily="18" charset="0"/>
                <a:ea typeface="MS Mincho" panose="02020609040205080304" pitchFamily="49" charset="-128"/>
                <a:cs typeface="Cambria" panose="02040503050406030204" pitchFamily="18" charset="0"/>
              </a:rPr>
              <a:t>Community</a:t>
            </a:r>
            <a:r>
              <a:rPr lang="es-419" sz="1800" dirty="0">
                <a:effectLst/>
                <a:latin typeface="Cambria" panose="02040503050406030204" pitchFamily="18" charset="0"/>
                <a:ea typeface="MS Mincho" panose="02020609040205080304" pitchFamily="49" charset="-128"/>
                <a:cs typeface="Cambria" panose="02040503050406030204" pitchFamily="18" charset="0"/>
              </a:rPr>
              <a:t>. La pantalla permite omitir el registro opcional de Oracle para iniciar directamente la obtención del instalador. Esta acción es clave para agilizar el aprovisionamiento del segundo motor de base de datos relacional requerido dentro de la instancia VPS.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5" name="image12.png">
            <a:extLst>
              <a:ext uri="{FF2B5EF4-FFF2-40B4-BE49-F238E27FC236}">
                <a16:creationId xmlns:a16="http://schemas.microsoft.com/office/drawing/2014/main" id="{7B29EDE2-2AE5-4CD9-972A-087D115D1987}"/>
              </a:ext>
            </a:extLst>
          </p:cNvPr>
          <p:cNvPicPr/>
          <p:nvPr/>
        </p:nvPicPr>
        <p:blipFill>
          <a:blip r:embed="rId4"/>
          <a:srcRect/>
          <a:stretch>
            <a:fillRect/>
          </a:stretch>
        </p:blipFill>
        <p:spPr>
          <a:xfrm>
            <a:off x="1176065" y="3863336"/>
            <a:ext cx="5429250" cy="2790825"/>
          </a:xfrm>
          <a:prstGeom prst="rect">
            <a:avLst/>
          </a:prstGeom>
          <a:ln w="25400">
            <a:solidFill>
              <a:srgbClr val="000000"/>
            </a:solidFill>
            <a:prstDash val="solid"/>
          </a:ln>
        </p:spPr>
      </p:pic>
    </p:spTree>
    <p:extLst>
      <p:ext uri="{BB962C8B-B14F-4D97-AF65-F5344CB8AC3E}">
        <p14:creationId xmlns:p14="http://schemas.microsoft.com/office/powerpoint/2010/main" val="3527933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7075764" cy="4663841"/>
          </a:xfrm>
          <a:prstGeom prst="rect">
            <a:avLst/>
          </a:prstGeom>
          <a:noFill/>
        </p:spPr>
        <p:txBody>
          <a:bodyPr wrap="square">
            <a:spAutoFit/>
          </a:bodyPr>
          <a:lstStyle/>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Asistente de instalación de MySQL Server 9.7. Muestra el inicio del despliegue del motor de base de datos en el servidor Windows. Esta fase es esencial para configurar el servicio local, instalar automáticamente los controladores ODBC y establecer las credenciales administrativas que permitirán las conexiones TCP/IP por el puerto 3306.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err="1">
                <a:effectLst/>
                <a:latin typeface="Cambria" panose="02040503050406030204" pitchFamily="18" charset="0"/>
                <a:ea typeface="MS Mincho" panose="02020609040205080304" pitchFamily="49" charset="-128"/>
                <a:cs typeface="Cambria" panose="02040503050406030204" pitchFamily="18" charset="0"/>
              </a:rPr>
              <a:t>Connection</a:t>
            </a: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Name</a:t>
            </a:r>
            <a:r>
              <a:rPr lang="es-419" sz="1800" dirty="0">
                <a:effectLst/>
                <a:latin typeface="Cambria" panose="02040503050406030204" pitchFamily="18" charset="0"/>
                <a:ea typeface="MS Mincho" panose="02020609040205080304" pitchFamily="49" charset="-128"/>
                <a:cs typeface="Cambria" panose="02040503050406030204" pitchFamily="18" charset="0"/>
              </a:rPr>
              <a:t>: MYSQL AMAZON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Connection</a:t>
            </a: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Method</a:t>
            </a:r>
            <a:r>
              <a:rPr lang="es-419" sz="1800" dirty="0">
                <a:effectLst/>
                <a:latin typeface="Cambria" panose="02040503050406030204" pitchFamily="18" charset="0"/>
                <a:ea typeface="MS Mincho" panose="02020609040205080304" pitchFamily="49" charset="-128"/>
                <a:cs typeface="Cambria" panose="02040503050406030204" pitchFamily="18" charset="0"/>
              </a:rPr>
              <a:t>: Standard (TCP/IP)</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Hostname</a:t>
            </a:r>
            <a:r>
              <a:rPr lang="es-419" sz="1800" dirty="0">
                <a:effectLst/>
                <a:latin typeface="Cambria" panose="02040503050406030204" pitchFamily="18" charset="0"/>
                <a:ea typeface="MS Mincho" panose="02020609040205080304" pitchFamily="49" charset="-128"/>
                <a:cs typeface="Cambria" panose="02040503050406030204" pitchFamily="18" charset="0"/>
              </a:rPr>
              <a:t>: 3.239.254.34</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Port: 3306</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Username</a:t>
            </a:r>
            <a:r>
              <a:rPr lang="es-419" sz="1800" dirty="0">
                <a:effectLst/>
                <a:latin typeface="Cambria" panose="02040503050406030204" pitchFamily="18" charset="0"/>
                <a:ea typeface="MS Mincho" panose="02020609040205080304" pitchFamily="49" charset="-128"/>
                <a:cs typeface="Cambria" panose="02040503050406030204" pitchFamily="18" charset="0"/>
              </a:rPr>
              <a:t>: </a:t>
            </a:r>
            <a:r>
              <a:rPr lang="es-419" sz="1800" dirty="0" err="1">
                <a:effectLst/>
                <a:latin typeface="Cambria" panose="02040503050406030204" pitchFamily="18" charset="0"/>
                <a:ea typeface="MS Mincho" panose="02020609040205080304" pitchFamily="49" charset="-128"/>
                <a:cs typeface="Cambria" panose="02040503050406030204" pitchFamily="18" charset="0"/>
              </a:rPr>
              <a:t>admin</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indent="457200">
              <a:lnSpc>
                <a:spcPct val="115000"/>
              </a:lnSpc>
              <a:spcAft>
                <a:spcPts val="1000"/>
              </a:spcAft>
            </a:pPr>
            <a:r>
              <a:rPr lang="es-419" sz="1800" dirty="0" err="1">
                <a:effectLst/>
                <a:latin typeface="Cambria" panose="02040503050406030204" pitchFamily="18" charset="0"/>
                <a:ea typeface="MS Mincho" panose="02020609040205080304" pitchFamily="49" charset="-128"/>
                <a:cs typeface="Cambria" panose="02040503050406030204" pitchFamily="18" charset="0"/>
              </a:rPr>
              <a:t>Password</a:t>
            </a:r>
            <a:r>
              <a:rPr lang="es-419" sz="1800" dirty="0">
                <a:effectLst/>
                <a:latin typeface="Cambria" panose="02040503050406030204" pitchFamily="18" charset="0"/>
                <a:ea typeface="MS Mincho" panose="02020609040205080304" pitchFamily="49" charset="-128"/>
                <a:cs typeface="Cambria" panose="02040503050406030204" pitchFamily="18" charset="0"/>
              </a:rPr>
              <a:t>: SqlAmazon2026</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3" name="image30.png">
            <a:extLst>
              <a:ext uri="{FF2B5EF4-FFF2-40B4-BE49-F238E27FC236}">
                <a16:creationId xmlns:a16="http://schemas.microsoft.com/office/drawing/2014/main" id="{1EEB97BD-08B6-4DA4-A23D-670976C571D9}"/>
              </a:ext>
            </a:extLst>
          </p:cNvPr>
          <p:cNvPicPr/>
          <p:nvPr/>
        </p:nvPicPr>
        <p:blipFill>
          <a:blip r:embed="rId4"/>
          <a:srcRect/>
          <a:stretch>
            <a:fillRect/>
          </a:stretch>
        </p:blipFill>
        <p:spPr>
          <a:xfrm>
            <a:off x="4241830" y="4732020"/>
            <a:ext cx="4337253" cy="1797736"/>
          </a:xfrm>
          <a:prstGeom prst="rect">
            <a:avLst/>
          </a:prstGeom>
          <a:ln w="25400">
            <a:solidFill>
              <a:srgbClr val="000000"/>
            </a:solidFill>
            <a:prstDash val="solid"/>
          </a:ln>
        </p:spPr>
      </p:pic>
    </p:spTree>
    <p:extLst>
      <p:ext uri="{BB962C8B-B14F-4D97-AF65-F5344CB8AC3E}">
        <p14:creationId xmlns:p14="http://schemas.microsoft.com/office/powerpoint/2010/main" val="863123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664558"/>
          </a:xfrm>
          <a:prstGeom prst="rect">
            <a:avLst/>
          </a:prstGeom>
          <a:noFill/>
        </p:spPr>
        <p:txBody>
          <a:bodyPr wrap="square">
            <a:spAutoFit/>
          </a:bodyPr>
          <a:lstStyle/>
          <a:p>
            <a:pPr>
              <a:lnSpc>
                <a:spcPct val="115000"/>
              </a:lnSpc>
              <a:spcAft>
                <a:spcPts val="10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Consola PowerShell validando el despliegue de MySQL. Mediante comandos de diagnóstico, se confirma la ejecución del motor y la escucha activa en el puerto 3306. Finalmente, se aplica el comando </a:t>
            </a:r>
            <a:r>
              <a:rPr lang="es-419" sz="1800" dirty="0">
                <a:effectLst/>
                <a:latin typeface="Cambria" panose="02040503050406030204" pitchFamily="18" charset="0"/>
                <a:ea typeface="Roboto Mono"/>
                <a:cs typeface="Cambria" panose="02040503050406030204" pitchFamily="18" charset="0"/>
              </a:rPr>
              <a:t>New-</a:t>
            </a:r>
            <a:r>
              <a:rPr lang="es-419" sz="1800" dirty="0" err="1">
                <a:effectLst/>
                <a:latin typeface="Cambria" panose="02040503050406030204" pitchFamily="18" charset="0"/>
                <a:ea typeface="Roboto Mono"/>
                <a:cs typeface="Cambria" panose="02040503050406030204" pitchFamily="18" charset="0"/>
              </a:rPr>
              <a:t>NetFirewallRule</a:t>
            </a:r>
            <a:r>
              <a:rPr lang="es-419" sz="1800" dirty="0">
                <a:effectLst/>
                <a:latin typeface="Cambria" panose="02040503050406030204" pitchFamily="18" charset="0"/>
                <a:ea typeface="MS Mincho" panose="02020609040205080304" pitchFamily="49" charset="-128"/>
                <a:cs typeface="Cambria" panose="02040503050406030204" pitchFamily="18" charset="0"/>
              </a:rPr>
              <a:t> para habilitar el tráfico TCP entrante en el firewall de Windows, requisito indispensable para permitir conexiones remotas. </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3" name="image31.png">
            <a:extLst>
              <a:ext uri="{FF2B5EF4-FFF2-40B4-BE49-F238E27FC236}">
                <a16:creationId xmlns:a16="http://schemas.microsoft.com/office/drawing/2014/main" id="{7C5C1A1C-C94D-4D4B-AEFF-300BB1A5CDC7}"/>
              </a:ext>
            </a:extLst>
          </p:cNvPr>
          <p:cNvPicPr/>
          <p:nvPr/>
        </p:nvPicPr>
        <p:blipFill>
          <a:blip r:embed="rId4"/>
          <a:srcRect/>
          <a:stretch>
            <a:fillRect/>
          </a:stretch>
        </p:blipFill>
        <p:spPr>
          <a:xfrm>
            <a:off x="2554298" y="3372430"/>
            <a:ext cx="5372100" cy="3124200"/>
          </a:xfrm>
          <a:prstGeom prst="rect">
            <a:avLst/>
          </a:prstGeom>
          <a:ln w="25400">
            <a:solidFill>
              <a:srgbClr val="000000"/>
            </a:solidFill>
            <a:prstDash val="solid"/>
          </a:ln>
        </p:spPr>
      </p:pic>
    </p:spTree>
    <p:extLst>
      <p:ext uri="{BB962C8B-B14F-4D97-AF65-F5344CB8AC3E}">
        <p14:creationId xmlns:p14="http://schemas.microsoft.com/office/powerpoint/2010/main" val="2475822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664558"/>
          </a:xfrm>
          <a:prstGeom prst="rect">
            <a:avLst/>
          </a:prstGeom>
          <a:noFill/>
        </p:spPr>
        <p:txBody>
          <a:bodyPr wrap="square">
            <a:spAutoFit/>
          </a:bodyPr>
          <a:lstStyle/>
          <a:p>
            <a:pPr>
              <a:lnSpc>
                <a:spcPct val="115000"/>
              </a:lnSpc>
              <a:spcBef>
                <a:spcPts val="1200"/>
              </a:spcBef>
              <a:spcAft>
                <a:spcPts val="12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Portal oficial de descarga de MySQL </a:t>
            </a:r>
            <a:r>
              <a:rPr lang="es-419" sz="1800" dirty="0" err="1">
                <a:effectLst/>
                <a:latin typeface="Cambria" panose="02040503050406030204" pitchFamily="18" charset="0"/>
                <a:ea typeface="MS Mincho" panose="02020609040205080304" pitchFamily="49" charset="-128"/>
                <a:cs typeface="Cambria" panose="02040503050406030204" pitchFamily="18" charset="0"/>
              </a:rPr>
              <a:t>Workbench</a:t>
            </a:r>
            <a:r>
              <a:rPr lang="es-419" sz="1800" dirty="0">
                <a:effectLst/>
                <a:latin typeface="Cambria" panose="02040503050406030204" pitchFamily="18" charset="0"/>
                <a:ea typeface="MS Mincho" panose="02020609040205080304" pitchFamily="49" charset="-128"/>
                <a:cs typeface="Cambria" panose="02040503050406030204" pitchFamily="18" charset="0"/>
              </a:rPr>
              <a:t> y comando PowerShell para habilitar el puerto 3306. La obtención de este cliente es vital, ya que proporciona un entorno gráfico unificado para modelar esquemas, ejecutar consultas SQL y administrar visualmente la instancia de base de datos directamente desde el servidor.</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3" name="image26.png">
            <a:extLst>
              <a:ext uri="{FF2B5EF4-FFF2-40B4-BE49-F238E27FC236}">
                <a16:creationId xmlns:a16="http://schemas.microsoft.com/office/drawing/2014/main" id="{F6A01706-DA48-48BD-999D-2E0177F4D5B3}"/>
              </a:ext>
            </a:extLst>
          </p:cNvPr>
          <p:cNvPicPr/>
          <p:nvPr/>
        </p:nvPicPr>
        <p:blipFill>
          <a:blip r:embed="rId4"/>
          <a:srcRect/>
          <a:stretch>
            <a:fillRect/>
          </a:stretch>
        </p:blipFill>
        <p:spPr>
          <a:xfrm>
            <a:off x="1654195" y="3592683"/>
            <a:ext cx="5343525" cy="2600325"/>
          </a:xfrm>
          <a:prstGeom prst="rect">
            <a:avLst/>
          </a:prstGeom>
          <a:ln w="25400">
            <a:solidFill>
              <a:srgbClr val="000000"/>
            </a:solidFill>
            <a:prstDash val="solid"/>
          </a:ln>
        </p:spPr>
      </p:pic>
    </p:spTree>
    <p:extLst>
      <p:ext uri="{BB962C8B-B14F-4D97-AF65-F5344CB8AC3E}">
        <p14:creationId xmlns:p14="http://schemas.microsoft.com/office/powerpoint/2010/main" val="277972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Desarrollo </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rgbClr val="FFFF00"/>
                </a:solidFill>
                <a:latin typeface="Calibri"/>
                <a:ea typeface="Calibri"/>
                <a:cs typeface="Calibri"/>
                <a:sym typeface="Calibri"/>
              </a:rPr>
              <a:t>DESARROLLO</a:t>
            </a:r>
            <a:endParaRPr dirty="0">
              <a:solidFill>
                <a:srgbClr val="FFFF00"/>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79416" y="1865915"/>
            <a:ext cx="8493084" cy="1983107"/>
          </a:xfrm>
          <a:prstGeom prst="rect">
            <a:avLst/>
          </a:prstGeom>
          <a:noFill/>
        </p:spPr>
        <p:txBody>
          <a:bodyPr wrap="square">
            <a:spAutoFit/>
          </a:bodyPr>
          <a:lstStyle/>
          <a:p>
            <a:pPr marL="449580" indent="-449580">
              <a:lnSpc>
                <a:spcPct val="115000"/>
              </a:lnSpc>
              <a:spcBef>
                <a:spcPts val="1200"/>
              </a:spcBef>
              <a:spcAft>
                <a:spcPts val="1200"/>
              </a:spcAft>
            </a:pPr>
            <a:r>
              <a:rPr lang="es-419" sz="1800" dirty="0">
                <a:effectLst/>
                <a:latin typeface="Cambria" panose="02040503050406030204" pitchFamily="18" charset="0"/>
                <a:ea typeface="MS Mincho" panose="02020609040205080304" pitchFamily="49" charset="-128"/>
                <a:cs typeface="Cambria" panose="02040503050406030204" pitchFamily="18" charset="0"/>
              </a:rPr>
              <a:t>Pantalla de inicio del gestor gráfico MySQL </a:t>
            </a:r>
            <a:r>
              <a:rPr lang="es-419" sz="1800" dirty="0" err="1">
                <a:effectLst/>
                <a:latin typeface="Cambria" panose="02040503050406030204" pitchFamily="18" charset="0"/>
                <a:ea typeface="MS Mincho" panose="02020609040205080304" pitchFamily="49" charset="-128"/>
                <a:cs typeface="Cambria" panose="02040503050406030204" pitchFamily="18" charset="0"/>
              </a:rPr>
              <a:t>Workbench</a:t>
            </a:r>
            <a:r>
              <a:rPr lang="es-419" sz="1800" dirty="0">
                <a:effectLst/>
                <a:latin typeface="Cambria" panose="02040503050406030204" pitchFamily="18" charset="0"/>
                <a:ea typeface="MS Mincho" panose="02020609040205080304" pitchFamily="49" charset="-128"/>
                <a:cs typeface="Cambria" panose="02040503050406030204" pitchFamily="18" charset="0"/>
              </a:rPr>
              <a:t>. Resalta la detección automática de la conexión hacia la instancia local de MySQL recién desplegada. Este acceso inicial es fundamental, ya que permite al administrador autenticarse de forma segura utilizando el usuario raíz (</a:t>
            </a:r>
            <a:r>
              <a:rPr lang="es-419" sz="1800" dirty="0" err="1">
                <a:effectLst/>
                <a:latin typeface="Cambria" panose="02040503050406030204" pitchFamily="18" charset="0"/>
                <a:ea typeface="MS Mincho" panose="02020609040205080304" pitchFamily="49" charset="-128"/>
                <a:cs typeface="Cambria" panose="02040503050406030204" pitchFamily="18" charset="0"/>
              </a:rPr>
              <a:t>root</a:t>
            </a:r>
            <a:r>
              <a:rPr lang="es-419" sz="1800" dirty="0">
                <a:effectLst/>
                <a:latin typeface="Cambria" panose="02040503050406030204" pitchFamily="18" charset="0"/>
                <a:ea typeface="MS Mincho" panose="02020609040205080304" pitchFamily="49" charset="-128"/>
                <a:cs typeface="Cambria" panose="02040503050406030204" pitchFamily="18" charset="0"/>
              </a:rPr>
              <a:t>) local para configurar parámetros avanzados, como la creación de usuarios con privilegios para conexiones remotas.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15" name="image28.png">
            <a:extLst>
              <a:ext uri="{FF2B5EF4-FFF2-40B4-BE49-F238E27FC236}">
                <a16:creationId xmlns:a16="http://schemas.microsoft.com/office/drawing/2014/main" id="{1F0D6EA3-21CC-4190-A779-823F0E96B59A}"/>
              </a:ext>
            </a:extLst>
          </p:cNvPr>
          <p:cNvPicPr/>
          <p:nvPr/>
        </p:nvPicPr>
        <p:blipFill>
          <a:blip r:embed="rId4"/>
          <a:srcRect/>
          <a:stretch>
            <a:fillRect/>
          </a:stretch>
        </p:blipFill>
        <p:spPr>
          <a:xfrm>
            <a:off x="1838685" y="3911232"/>
            <a:ext cx="5343525" cy="2743200"/>
          </a:xfrm>
          <a:prstGeom prst="rect">
            <a:avLst/>
          </a:prstGeom>
          <a:ln w="25400">
            <a:solidFill>
              <a:srgbClr val="000000"/>
            </a:solidFill>
            <a:prstDash val="solid"/>
          </a:ln>
        </p:spPr>
      </p:pic>
    </p:spTree>
    <p:extLst>
      <p:ext uri="{BB962C8B-B14F-4D97-AF65-F5344CB8AC3E}">
        <p14:creationId xmlns:p14="http://schemas.microsoft.com/office/powerpoint/2010/main" val="280718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solidFill>
                  <a:srgbClr val="FFFF00"/>
                </a:solidFill>
              </a:rPr>
              <a:t>Conclusiones</a:t>
            </a:r>
            <a:endParaRPr dirty="0">
              <a:solidFill>
                <a:srgbClr val="FFFF00"/>
              </a:solidFill>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bg1"/>
                </a:solidFill>
                <a:latin typeface="Calibri"/>
                <a:ea typeface="Calibri"/>
                <a:cs typeface="Calibri"/>
                <a:sym typeface="Calibri"/>
              </a:rPr>
              <a:t>DESARROLLO</a:t>
            </a:r>
            <a:endParaRPr dirty="0">
              <a:solidFill>
                <a:schemeClr val="bg1"/>
              </a:solidFil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rgbClr val="FFFF00"/>
                </a:solidFill>
                <a:latin typeface="Calibri"/>
                <a:ea typeface="Calibri"/>
                <a:cs typeface="Calibri"/>
                <a:sym typeface="Calibri"/>
              </a:rPr>
              <a:t>CONCLUSIONES</a:t>
            </a:r>
            <a:endParaRPr sz="2100" b="1" i="0" u="none" strike="noStrike" cap="none" dirty="0">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RECOMENDACIONES</a:t>
            </a:r>
            <a:endParaRPr sz="1400" b="0" i="0" u="none" strike="noStrike" cap="none" dirty="0">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
        <p:nvSpPr>
          <p:cNvPr id="14" name="CuadroTexto 13">
            <a:extLst>
              <a:ext uri="{FF2B5EF4-FFF2-40B4-BE49-F238E27FC236}">
                <a16:creationId xmlns:a16="http://schemas.microsoft.com/office/drawing/2014/main" id="{0373FBA0-2070-4B90-BAA6-6319E87CC561}"/>
              </a:ext>
            </a:extLst>
          </p:cNvPr>
          <p:cNvSpPr txBox="1"/>
          <p:nvPr/>
        </p:nvSpPr>
        <p:spPr>
          <a:xfrm>
            <a:off x="440286" y="1951672"/>
            <a:ext cx="8493084" cy="3108543"/>
          </a:xfrm>
          <a:prstGeom prst="rect">
            <a:avLst/>
          </a:prstGeom>
          <a:noFill/>
        </p:spPr>
        <p:txBody>
          <a:bodyPr wrap="square">
            <a:spAutoFit/>
          </a:bodyPr>
          <a:lstStyle/>
          <a:p>
            <a:pPr marL="285750" indent="-285750">
              <a:buFont typeface="Arial" panose="020B0604020202020204" pitchFamily="34" charset="0"/>
              <a:buChar char="•"/>
            </a:pPr>
            <a:r>
              <a:rPr lang="es-MX" dirty="0"/>
              <a:t>Se logró desarrollar e implementar satisfactoriamente el sistema EUREKABANK mediante una arquitectura basada en servicios web </a:t>
            </a:r>
            <a:r>
              <a:rPr lang="es-MX" dirty="0" err="1"/>
              <a:t>RESTful</a:t>
            </a:r>
            <a:r>
              <a:rPr lang="es-MX" dirty="0"/>
              <a:t> utilizando ASP.NET Core Web API, permitiendo exponer operaciones bancarias como autenticación, depósitos, retiros, transferencias y consultas de saldo a través de </a:t>
            </a:r>
            <a:r>
              <a:rPr lang="es-MX" dirty="0" err="1"/>
              <a:t>endpoints</a:t>
            </a:r>
            <a:r>
              <a:rPr lang="es-MX" dirty="0"/>
              <a:t> HTTP y respuestas en formato </a:t>
            </a:r>
            <a:r>
              <a:rPr lang="es-MX" dirty="0" err="1"/>
              <a:t>JSON.La</a:t>
            </a:r>
            <a:r>
              <a:rPr lang="es-MX" dirty="0"/>
              <a:t> utilización de Amazon Web </a:t>
            </a:r>
            <a:r>
              <a:rPr lang="es-MX" dirty="0" err="1"/>
              <a:t>Services</a:t>
            </a:r>
            <a:r>
              <a:rPr lang="es-MX" dirty="0"/>
              <a:t> (AWS) y específicamente de Amazon </a:t>
            </a:r>
            <a:r>
              <a:rPr lang="es-MX" dirty="0" err="1"/>
              <a:t>Lightsail</a:t>
            </a:r>
            <a:r>
              <a:rPr lang="es-MX" dirty="0"/>
              <a:t> permitió desplegar una infraestructura de nube funcional, proporcionando una plataforma estable para alojar tanto el servidor de aplicaciones como la base de datos SQL Server, demostrando las ventajas de la computación en la nube para proyectos empresariales y </a:t>
            </a:r>
            <a:r>
              <a:rPr lang="es-MX" dirty="0" err="1"/>
              <a:t>académicos.La</a:t>
            </a:r>
            <a:r>
              <a:rPr lang="es-MX" dirty="0"/>
              <a:t> implementación de Microsoft SQL Server 2022 Express como motor de base de datos permitió gestionar de forma segura y eficiente la información relacionada con clientes, cuentas, usuarios y movimientos bancarios, garantizando la integridad de los datos mediante transacciones y mecanismos de control de </a:t>
            </a:r>
            <a:r>
              <a:rPr lang="es-MX" dirty="0" err="1"/>
              <a:t>concurrencia.El</a:t>
            </a:r>
            <a:r>
              <a:rPr lang="es-MX" dirty="0"/>
              <a:t> sistema demostró la interoperabilidad característica de las arquitecturas </a:t>
            </a:r>
            <a:r>
              <a:rPr lang="es-MX" dirty="0" err="1"/>
              <a:t>RESTful</a:t>
            </a:r>
            <a:r>
              <a:rPr lang="es-MX" dirty="0"/>
              <a:t>, permitiendo que diferentes tipos de clientes (consola, escritorio, web y móvil) consuman los mismos servicios utilizando protocolos estándar de comunicación, sin depender de la plataforma o tecnología utilizada en cada cliente.</a:t>
            </a:r>
            <a:endParaRPr lang="es-EC" dirty="0"/>
          </a:p>
        </p:txBody>
      </p:sp>
    </p:spTree>
    <p:extLst>
      <p:ext uri="{BB962C8B-B14F-4D97-AF65-F5344CB8AC3E}">
        <p14:creationId xmlns:p14="http://schemas.microsoft.com/office/powerpoint/2010/main" val="1558723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Bibliografía</a:t>
            </a:r>
            <a:endParaRPr dirty="0"/>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[1] Microsoft. (2024). "ASP.NET Core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fundamentals</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https://learn.microsoft.com/aspnet/core/</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[2]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DigDes</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(2024).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SoapCore</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 SOAP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protocol</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support</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for</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ASP.NET Core". https://github.com/DigDes/SoapCore</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[3] Amazon Web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Services</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(2024). "Amazon RDS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for</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SQL Server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User</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Guide". https://docs.aws.amazon.com/AmazonRDS/</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[4] Microsoft. (2024).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Microsoft.Data.SqlClient</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documentation</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https://learn.microsoft.com/sql/connect/ado-net/</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s-419" sz="1800" dirty="0">
                <a:effectLst/>
                <a:latin typeface="Calibri" panose="020F0502020204030204" pitchFamily="34" charset="0"/>
                <a:ea typeface="MS Mincho" panose="02020609040205080304" pitchFamily="49" charset="-128"/>
                <a:cs typeface="Times New Roman" panose="02020603050405020304" pitchFamily="18" charset="0"/>
              </a:rPr>
              <a:t>[5] W3C. (2007). "SOAP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Version</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1.2 </a:t>
            </a:r>
            <a:r>
              <a:rPr lang="es-419" sz="1800" dirty="0" err="1">
                <a:effectLst/>
                <a:latin typeface="Calibri" panose="020F0502020204030204" pitchFamily="34" charset="0"/>
                <a:ea typeface="MS Mincho" panose="02020609040205080304" pitchFamily="49" charset="-128"/>
                <a:cs typeface="Times New Roman" panose="02020603050405020304" pitchFamily="18" charset="0"/>
              </a:rPr>
              <a:t>Specification</a:t>
            </a:r>
            <a:r>
              <a:rPr lang="es-419" sz="1800" dirty="0">
                <a:effectLst/>
                <a:latin typeface="Calibri" panose="020F0502020204030204" pitchFamily="34" charset="0"/>
                <a:ea typeface="MS Mincho" panose="02020609040205080304" pitchFamily="49" charset="-128"/>
                <a:cs typeface="Times New Roman" panose="02020603050405020304" pitchFamily="18" charset="0"/>
              </a:rPr>
              <a:t>". https://www.w3.org/TR/soap12/</a:t>
            </a:r>
            <a:endParaRPr lang="es-EC" sz="18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dirty="0">
                <a:solidFill>
                  <a:schemeClr val="bg1"/>
                </a:solidFill>
                <a:latin typeface="Calibri"/>
                <a:ea typeface="Calibri"/>
                <a:cs typeface="Calibri"/>
                <a:sym typeface="Calibri"/>
              </a:rPr>
              <a:t>INTRODUCCIÓN</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OBJETIVO</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MARCO TEÓRICO</a:t>
            </a:r>
            <a:endParaRPr sz="2100" b="1" i="0" u="none" strike="noStrike" cap="none" dirty="0">
              <a:solidFill>
                <a:schemeClr val="bg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dirty="0">
                <a:solidFill>
                  <a:schemeClr val="lt1"/>
                </a:solidFill>
                <a:latin typeface="Calibri"/>
                <a:ea typeface="Calibri"/>
                <a:cs typeface="Calibri"/>
                <a:sym typeface="Calibri"/>
              </a:rPr>
              <a:t>DESARROLLO</a:t>
            </a:r>
            <a:endParaRPr dirty="0"/>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CONCLUSIONES</a:t>
            </a:r>
            <a:endParaRPr sz="2100" b="1" i="0" u="none" strike="noStrike" cap="none" dirty="0">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bg1"/>
                </a:solidFill>
                <a:latin typeface="Calibri"/>
                <a:ea typeface="Calibri"/>
                <a:cs typeface="Calibri"/>
                <a:sym typeface="Calibri"/>
              </a:rPr>
              <a:t>RECOMENDACIONES</a:t>
            </a:r>
            <a:endParaRPr sz="1400" b="0" i="0" u="none" strike="noStrike" cap="none" dirty="0">
              <a:solidFill>
                <a:schemeClr val="bg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dirty="0">
                <a:solidFill>
                  <a:schemeClr val="lt1"/>
                </a:solidFill>
                <a:latin typeface="Calibri"/>
                <a:ea typeface="Calibri"/>
                <a:cs typeface="Calibri"/>
                <a:sym typeface="Calibri"/>
              </a:rPr>
              <a:t>BIBLIOGRAFÍA </a:t>
            </a:r>
            <a:endParaRPr sz="2100" b="1" i="0" u="none" strike="noStrike" cap="none" dirty="0">
              <a:solidFill>
                <a:srgbClr val="FFFF00"/>
              </a:solidFill>
              <a:latin typeface="Calibri"/>
              <a:ea typeface="Calibri"/>
              <a:cs typeface="Calibri"/>
              <a:sym typeface="Calibri"/>
            </a:endParaRPr>
          </a:p>
        </p:txBody>
      </p:sp>
    </p:spTree>
    <p:extLst>
      <p:ext uri="{BB962C8B-B14F-4D97-AF65-F5344CB8AC3E}">
        <p14:creationId xmlns:p14="http://schemas.microsoft.com/office/powerpoint/2010/main" val="122201398"/>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2278</Words>
  <Application>Microsoft Office PowerPoint</Application>
  <PresentationFormat>Panorámica</PresentationFormat>
  <Paragraphs>227</Paragraphs>
  <Slides>20</Slides>
  <Notes>19</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20</vt:i4>
      </vt:variant>
    </vt:vector>
  </HeadingPairs>
  <TitlesOfParts>
    <vt:vector size="31" baseType="lpstr">
      <vt:lpstr>Symbol</vt:lpstr>
      <vt:lpstr>Cambria</vt:lpstr>
      <vt:lpstr>Noto Sans Symbols</vt:lpstr>
      <vt:lpstr>Calibri</vt:lpstr>
      <vt:lpstr>Gill Sans</vt:lpstr>
      <vt:lpstr>Wingdings 2</vt:lpstr>
      <vt:lpstr>Arial</vt:lpstr>
      <vt:lpstr>Gill Sans MT</vt:lpstr>
      <vt:lpstr>Times New Roman</vt:lpstr>
      <vt:lpstr>Dividendo</vt:lpstr>
      <vt:lpstr>1_Dividendo</vt:lpstr>
      <vt:lpstr>WEB SERVICE SOAP CON JAVA
EN LA NUBE (AWS) </vt:lpstr>
      <vt:lpstr>Presentación de PowerPoint</vt:lpstr>
      <vt:lpstr>INTRODUCCIÓN</vt:lpstr>
      <vt:lpstr>OBJETIVOS</vt:lpstr>
      <vt:lpstr>Marco teórico</vt:lpstr>
      <vt:lpstr>Marco teórico</vt:lpstr>
      <vt:lpstr>Marco teórico</vt:lpstr>
      <vt:lpstr>Desarrollo </vt:lpstr>
      <vt:lpstr>Desarrollo </vt:lpstr>
      <vt:lpstr>Desarrollo </vt:lpstr>
      <vt:lpstr>Desarrollo </vt:lpstr>
      <vt:lpstr>Desarrollo </vt:lpstr>
      <vt:lpstr>Desarrollo </vt:lpstr>
      <vt:lpstr>Desarrollo </vt:lpstr>
      <vt:lpstr>Desarrollo </vt:lpstr>
      <vt:lpstr>Desarrollo </vt:lpstr>
      <vt:lpstr>Desarrollo </vt:lpstr>
      <vt:lpstr>Desarrollo </vt:lpstr>
      <vt:lpstr>Conclusiones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Micaela Salcedo</cp:lastModifiedBy>
  <cp:revision>21</cp:revision>
  <dcterms:created xsi:type="dcterms:W3CDTF">2020-07-10T23:33:49Z</dcterms:created>
  <dcterms:modified xsi:type="dcterms:W3CDTF">2026-06-10T16:16:25Z</dcterms:modified>
</cp:coreProperties>
</file>