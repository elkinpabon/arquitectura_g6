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58" r:id="rId5"/>
    <p:sldId id="259" r:id="rId6"/>
    <p:sldId id="434" r:id="rId7"/>
    <p:sldId id="435" r:id="rId8"/>
    <p:sldId id="436" r:id="rId9"/>
    <p:sldId id="437" r:id="rId10"/>
    <p:sldId id="438" r:id="rId11"/>
    <p:sldId id="439" r:id="rId12"/>
    <p:sldId id="440" r:id="rId13"/>
    <p:sldId id="441" r:id="rId14"/>
    <p:sldId id="442" r:id="rId15"/>
    <p:sldId id="443" r:id="rId16"/>
    <p:sldId id="444" r:id="rId17"/>
    <p:sldId id="445" r:id="rId18"/>
    <p:sldId id="446" r:id="rId19"/>
    <p:sldId id="447" r:id="rId20"/>
    <p:sldId id="448" r:id="rId21"/>
    <p:sldId id="449" r:id="rId22"/>
    <p:sldId id="450" r:id="rId23"/>
    <p:sldId id="264" r:id="rId24"/>
    <p:sldId id="358" r:id="rId25"/>
    <p:sldId id="359" r:id="rId26"/>
    <p:sldId id="371" r:id="rId27"/>
    <p:sldId id="372" r:id="rId28"/>
    <p:sldId id="419" r:id="rId29"/>
    <p:sldId id="432" r:id="rId30"/>
    <p:sldId id="280"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7" autoAdjust="0"/>
    <p:restoredTop sz="93482" autoAdjust="0"/>
  </p:normalViewPr>
  <p:slideViewPr>
    <p:cSldViewPr snapToGrid="0">
      <p:cViewPr varScale="1">
        <p:scale>
          <a:sx n="66" d="100"/>
          <a:sy n="66" d="100"/>
        </p:scale>
        <p:origin x="8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0690D5-D519-41DB-B4EF-34C6DC34EE12}" type="datetimeFigureOut">
              <a:rPr lang="es-ES" smtClean="0"/>
              <a:t>22/07/2026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38BF6F-5D13-49E3-B34F-51589BE3BF15}" type="slidenum">
              <a:rPr lang="es-ES" smtClean="0"/>
              <a:t>‹Nº›</a:t>
            </a:fld>
            <a:endParaRPr lang="es-ES"/>
          </a:p>
        </p:txBody>
      </p:sp>
    </p:spTree>
    <p:extLst>
      <p:ext uri="{BB962C8B-B14F-4D97-AF65-F5344CB8AC3E}">
        <p14:creationId xmlns:p14="http://schemas.microsoft.com/office/powerpoint/2010/main" val="1568776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7/22/2026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a:p>
        </p:txBody>
      </p:sp>
    </p:spTree>
    <p:extLst>
      <p:ext uri="{BB962C8B-B14F-4D97-AF65-F5344CB8AC3E}">
        <p14:creationId xmlns:p14="http://schemas.microsoft.com/office/powerpoint/2010/main" val="26643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a:p>
        </p:txBody>
      </p:sp>
    </p:spTree>
    <p:extLst>
      <p:ext uri="{BB962C8B-B14F-4D97-AF65-F5344CB8AC3E}">
        <p14:creationId xmlns:p14="http://schemas.microsoft.com/office/powerpoint/2010/main" val="252162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a:p>
        </p:txBody>
      </p:sp>
    </p:spTree>
    <p:extLst>
      <p:ext uri="{BB962C8B-B14F-4D97-AF65-F5344CB8AC3E}">
        <p14:creationId xmlns:p14="http://schemas.microsoft.com/office/powerpoint/2010/main" val="52464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a:p>
        </p:txBody>
      </p:sp>
    </p:spTree>
    <p:extLst>
      <p:ext uri="{BB962C8B-B14F-4D97-AF65-F5344CB8AC3E}">
        <p14:creationId xmlns:p14="http://schemas.microsoft.com/office/powerpoint/2010/main" val="601711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a:p>
        </p:txBody>
      </p:sp>
    </p:spTree>
    <p:extLst>
      <p:ext uri="{BB962C8B-B14F-4D97-AF65-F5344CB8AC3E}">
        <p14:creationId xmlns:p14="http://schemas.microsoft.com/office/powerpoint/2010/main" val="2980059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a:p>
        </p:txBody>
      </p:sp>
    </p:spTree>
    <p:extLst>
      <p:ext uri="{BB962C8B-B14F-4D97-AF65-F5344CB8AC3E}">
        <p14:creationId xmlns:p14="http://schemas.microsoft.com/office/powerpoint/2010/main" val="194981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a:p>
        </p:txBody>
      </p:sp>
    </p:spTree>
    <p:extLst>
      <p:ext uri="{BB962C8B-B14F-4D97-AF65-F5344CB8AC3E}">
        <p14:creationId xmlns:p14="http://schemas.microsoft.com/office/powerpoint/2010/main" val="3178690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7/22/2026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a:p>
        </p:txBody>
      </p:sp>
    </p:spTree>
    <p:extLst>
      <p:ext uri="{BB962C8B-B14F-4D97-AF65-F5344CB8AC3E}">
        <p14:creationId xmlns:p14="http://schemas.microsoft.com/office/powerpoint/2010/main" val="3348310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a:p>
        </p:txBody>
      </p:sp>
    </p:spTree>
    <p:extLst>
      <p:ext uri="{BB962C8B-B14F-4D97-AF65-F5344CB8AC3E}">
        <p14:creationId xmlns:p14="http://schemas.microsoft.com/office/powerpoint/2010/main" val="3309877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a:p>
        </p:txBody>
      </p:sp>
    </p:spTree>
    <p:extLst>
      <p:ext uri="{BB962C8B-B14F-4D97-AF65-F5344CB8AC3E}">
        <p14:creationId xmlns:p14="http://schemas.microsoft.com/office/powerpoint/2010/main" val="3861749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7/22/2026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a:p>
        </p:txBody>
      </p:sp>
    </p:spTree>
    <p:extLst>
      <p:ext uri="{BB962C8B-B14F-4D97-AF65-F5344CB8AC3E}">
        <p14:creationId xmlns:p14="http://schemas.microsoft.com/office/powerpoint/2010/main" val="1185589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7/22/2026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1132138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56176-055A-4F41-9A1C-5A8ABC57AE1B}"/>
              </a:ext>
            </a:extLst>
          </p:cNvPr>
          <p:cNvSpPr>
            <a:spLocks noGrp="1"/>
          </p:cNvSpPr>
          <p:nvPr>
            <p:ph type="ctrTitle"/>
          </p:nvPr>
        </p:nvSpPr>
        <p:spPr>
          <a:xfrm>
            <a:off x="517945" y="3608618"/>
            <a:ext cx="10993549" cy="678311"/>
          </a:xfrm>
        </p:spPr>
        <p:txBody>
          <a:bodyPr>
            <a:normAutofit/>
          </a:bodyPr>
          <a:lstStyle/>
          <a:p>
            <a:pPr algn="ctr"/>
            <a:r>
              <a:rPr lang="es-MX" dirty="0">
                <a:solidFill>
                  <a:schemeClr val="bg1"/>
                </a:solidFill>
              </a:rPr>
              <a:t>MICROSERVICIOS</a:t>
            </a:r>
            <a:endParaRPr lang="es-EC" dirty="0">
              <a:solidFill>
                <a:schemeClr val="bg1"/>
              </a:solidFill>
            </a:endParaRPr>
          </a:p>
        </p:txBody>
      </p:sp>
      <p:sp>
        <p:nvSpPr>
          <p:cNvPr id="3" name="Subtítulo 2">
            <a:extLst>
              <a:ext uri="{FF2B5EF4-FFF2-40B4-BE49-F238E27FC236}">
                <a16:creationId xmlns:a16="http://schemas.microsoft.com/office/drawing/2014/main" id="{3D0C571E-A349-4667-927F-5916BE6073A2}"/>
              </a:ext>
            </a:extLst>
          </p:cNvPr>
          <p:cNvSpPr>
            <a:spLocks noGrp="1"/>
          </p:cNvSpPr>
          <p:nvPr>
            <p:ph type="subTitle" idx="1"/>
          </p:nvPr>
        </p:nvSpPr>
        <p:spPr>
          <a:xfrm>
            <a:off x="599226" y="4597203"/>
            <a:ext cx="4734774" cy="1674298"/>
          </a:xfrm>
        </p:spPr>
        <p:txBody>
          <a:bodyPr>
            <a:normAutofit/>
          </a:bodyPr>
          <a:lstStyle/>
          <a:p>
            <a:r>
              <a:rPr lang="es-EC" b="1" dirty="0">
                <a:solidFill>
                  <a:schemeClr val="bg1"/>
                </a:solidFill>
              </a:rPr>
              <a:t>Integrantes: </a:t>
            </a:r>
          </a:p>
          <a:p>
            <a:r>
              <a:rPr lang="es-EC" dirty="0">
                <a:solidFill>
                  <a:schemeClr val="bg1"/>
                </a:solidFill>
              </a:rPr>
              <a:t>Josué Marín</a:t>
            </a:r>
          </a:p>
          <a:p>
            <a:r>
              <a:rPr lang="es-EC" dirty="0">
                <a:solidFill>
                  <a:schemeClr val="bg1"/>
                </a:solidFill>
              </a:rPr>
              <a:t>Elkin </a:t>
            </a:r>
            <a:r>
              <a:rPr lang="es-EC" dirty="0" err="1">
                <a:solidFill>
                  <a:schemeClr val="bg1"/>
                </a:solidFill>
              </a:rPr>
              <a:t>pabón</a:t>
            </a:r>
            <a:endParaRPr lang="es-EC" dirty="0">
              <a:solidFill>
                <a:schemeClr val="bg1"/>
              </a:solidFill>
            </a:endParaRPr>
          </a:p>
          <a:p>
            <a:r>
              <a:rPr lang="es-EC" dirty="0">
                <a:solidFill>
                  <a:schemeClr val="bg1"/>
                </a:solidFill>
              </a:rPr>
              <a:t>Micaela Salcedo</a:t>
            </a:r>
          </a:p>
          <a:p>
            <a:endParaRPr lang="es-EC" dirty="0">
              <a:solidFill>
                <a:schemeClr val="bg1"/>
              </a:solidFill>
            </a:endParaRPr>
          </a:p>
          <a:p>
            <a:endParaRPr lang="es-EC" dirty="0">
              <a:solidFill>
                <a:schemeClr val="bg1"/>
              </a:solidFill>
            </a:endParaRPr>
          </a:p>
        </p:txBody>
      </p:sp>
      <p:pic>
        <p:nvPicPr>
          <p:cNvPr id="1026" name="Picture 2" descr="Resultado de imagen para espe">
            <a:extLst>
              <a:ext uri="{FF2B5EF4-FFF2-40B4-BE49-F238E27FC236}">
                <a16:creationId xmlns:a16="http://schemas.microsoft.com/office/drawing/2014/main" id="{F414D571-4BC8-480A-8CAB-8B16FE5157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597" y="716302"/>
            <a:ext cx="11647502" cy="2193925"/>
          </a:xfrm>
          <a:prstGeom prst="rect">
            <a:avLst/>
          </a:prstGeom>
          <a:noFill/>
          <a:extLst>
            <a:ext uri="{909E8E84-426E-40DD-AFC4-6F175D3DCCD1}">
              <a14:hiddenFill xmlns:a14="http://schemas.microsoft.com/office/drawing/2010/main">
                <a:solidFill>
                  <a:srgbClr val="FFFFFF"/>
                </a:solidFill>
              </a14:hiddenFill>
            </a:ext>
          </a:extLst>
        </p:spPr>
      </p:pic>
      <p:sp>
        <p:nvSpPr>
          <p:cNvPr id="5" name="Subtítulo 2">
            <a:extLst>
              <a:ext uri="{FF2B5EF4-FFF2-40B4-BE49-F238E27FC236}">
                <a16:creationId xmlns:a16="http://schemas.microsoft.com/office/drawing/2014/main" id="{1967A448-01D9-4956-A50F-F9BFFBEC42EB}"/>
              </a:ext>
            </a:extLst>
          </p:cNvPr>
          <p:cNvSpPr txBox="1">
            <a:spLocks/>
          </p:cNvSpPr>
          <p:nvPr/>
        </p:nvSpPr>
        <p:spPr>
          <a:xfrm>
            <a:off x="7874427" y="5149400"/>
            <a:ext cx="3718347" cy="132464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C" b="1" dirty="0">
                <a:solidFill>
                  <a:schemeClr val="bg1"/>
                </a:solidFill>
              </a:rPr>
              <a:t>FECHA: </a:t>
            </a:r>
            <a:r>
              <a:rPr lang="es-EC" dirty="0">
                <a:solidFill>
                  <a:schemeClr val="bg1"/>
                </a:solidFill>
              </a:rPr>
              <a:t>22/07/2026</a:t>
            </a:r>
          </a:p>
          <a:p>
            <a:r>
              <a:rPr lang="es-EC" b="1" dirty="0">
                <a:solidFill>
                  <a:schemeClr val="bg1"/>
                </a:solidFill>
              </a:rPr>
              <a:t>TUTOR:	</a:t>
            </a:r>
            <a:r>
              <a:rPr lang="es-EC" dirty="0">
                <a:solidFill>
                  <a:schemeClr val="bg1"/>
                </a:solidFill>
              </a:rPr>
              <a:t>Ing. Mauricio Campaña</a:t>
            </a:r>
            <a:endParaRPr lang="es-EC" b="1" dirty="0">
              <a:solidFill>
                <a:schemeClr val="bg1"/>
              </a:solidFill>
            </a:endParaRPr>
          </a:p>
        </p:txBody>
      </p:sp>
      <p:sp>
        <p:nvSpPr>
          <p:cNvPr id="8" name="CuadroTexto 7">
            <a:extLst>
              <a:ext uri="{FF2B5EF4-FFF2-40B4-BE49-F238E27FC236}">
                <a16:creationId xmlns:a16="http://schemas.microsoft.com/office/drawing/2014/main" id="{2A512A79-B951-4143-9C53-4F290E48939A}"/>
              </a:ext>
            </a:extLst>
          </p:cNvPr>
          <p:cNvSpPr txBox="1"/>
          <p:nvPr/>
        </p:nvSpPr>
        <p:spPr>
          <a:xfrm>
            <a:off x="11817675" y="6457890"/>
            <a:ext cx="374325" cy="400110"/>
          </a:xfrm>
          <a:prstGeom prst="rect">
            <a:avLst/>
          </a:prstGeom>
          <a:noFill/>
        </p:spPr>
        <p:txBody>
          <a:bodyPr wrap="square" rtlCol="0">
            <a:spAutoFit/>
          </a:bodyPr>
          <a:lstStyle/>
          <a:p>
            <a:r>
              <a:rPr lang="es-EC" sz="2000"/>
              <a:t>1</a:t>
            </a:r>
          </a:p>
        </p:txBody>
      </p:sp>
    </p:spTree>
    <p:extLst>
      <p:ext uri="{BB962C8B-B14F-4D97-AF65-F5344CB8AC3E}">
        <p14:creationId xmlns:p14="http://schemas.microsoft.com/office/powerpoint/2010/main" val="420686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pic>
        <p:nvPicPr>
          <p:cNvPr id="5" name="Picture 2" descr="Resultado de imagen para AGENDA PNG">
            <a:extLst>
              <a:ext uri="{FF2B5EF4-FFF2-40B4-BE49-F238E27FC236}">
                <a16:creationId xmlns:a16="http://schemas.microsoft.com/office/drawing/2014/main" id="{65EBAD2C-103F-4596-964B-B9C65A21B10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7238" y="1925261"/>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8F5C24D8-036E-430F-8D59-040D94E2863B}"/>
              </a:ext>
            </a:extLst>
          </p:cNvPr>
          <p:cNvSpPr txBox="1"/>
          <p:nvPr/>
        </p:nvSpPr>
        <p:spPr>
          <a:xfrm>
            <a:off x="11817675" y="6457890"/>
            <a:ext cx="374325" cy="400110"/>
          </a:xfrm>
          <a:prstGeom prst="rect">
            <a:avLst/>
          </a:prstGeom>
          <a:noFill/>
        </p:spPr>
        <p:txBody>
          <a:bodyPr wrap="square" rtlCol="0">
            <a:spAutoFit/>
          </a:bodyPr>
          <a:lstStyle/>
          <a:p>
            <a:r>
              <a:rPr lang="es-EC" sz="2000"/>
              <a:t>2</a:t>
            </a:r>
          </a:p>
        </p:txBody>
      </p:sp>
      <p:sp>
        <p:nvSpPr>
          <p:cNvPr id="3" name="Marcador de contenido 2">
            <a:extLst>
              <a:ext uri="{FF2B5EF4-FFF2-40B4-BE49-F238E27FC236}">
                <a16:creationId xmlns:a16="http://schemas.microsoft.com/office/drawing/2014/main" id="{06CD51B8-3234-035D-E60A-932E3A9BF954}"/>
              </a:ext>
            </a:extLst>
          </p:cNvPr>
          <p:cNvSpPr txBox="1">
            <a:spLocks/>
          </p:cNvSpPr>
          <p:nvPr/>
        </p:nvSpPr>
        <p:spPr>
          <a:xfrm>
            <a:off x="442377" y="0"/>
            <a:ext cx="3781088"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39563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 ARQUITECTURAS MONOLÍTICAS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a:bodyPr>
          <a:lstStyle/>
          <a:p>
            <a:pPr marL="0" indent="0">
              <a:buNone/>
            </a:pPr>
            <a:r>
              <a:rPr lang="es-ES" sz="2000" dirty="0">
                <a:solidFill>
                  <a:schemeClr val="tx1"/>
                </a:solidFill>
              </a:rPr>
              <a:t>Una arquitectura monolítica </a:t>
            </a:r>
            <a:r>
              <a:rPr lang="es-EC" sz="2000" dirty="0">
                <a:solidFill>
                  <a:schemeClr val="tx1"/>
                </a:solidFill>
              </a:rPr>
              <a:t>[1]</a:t>
            </a:r>
            <a:r>
              <a:rPr lang="es-ES" sz="2000" dirty="0">
                <a:solidFill>
                  <a:schemeClr val="tx1"/>
                </a:solidFill>
              </a:rPr>
              <a:t> es un enfoque tradicional en el diseño de aplicaciones en el que todo el sistema se desarrolla como una sola unidad cohesiva. En este modelo, la aplicación se compone de un único código base que contiene todas las funciones, módulos y componentes. Los diferentes aspectos, como la interfaz de usuario, la lógica empresarial y la persistencia de datos, están estrechamente acoplados en un solo programa. </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sp>
        <p:nvSpPr>
          <p:cNvPr id="11" name="Marcador de contenido 2">
            <a:extLst>
              <a:ext uri="{FF2B5EF4-FFF2-40B4-BE49-F238E27FC236}">
                <a16:creationId xmlns:a16="http://schemas.microsoft.com/office/drawing/2014/main" id="{889AAD12-E8FD-D970-1B08-BC3B5DFF478F}"/>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93114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1.2 MICROSERVICIOS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a:bodyPr>
          <a:lstStyle/>
          <a:p>
            <a:pPr marL="0" indent="0">
              <a:buNone/>
            </a:pPr>
            <a:r>
              <a:rPr lang="es-MX" sz="2000" dirty="0">
                <a:solidFill>
                  <a:schemeClr val="tx1"/>
                </a:solidFill>
              </a:rPr>
              <a:t>Los microservicios son un enfoque arquitectónico que ha ganado una gran popularidad en el desarrollo de aplicaciones debido a su capacidad para abordar desafíos clave en el diseño de sistemas complejos y escalables [2]. Aquí te proporcionaré más información detallada sobre los microservicios y sus características distintivas</a:t>
            </a:r>
            <a:endParaRPr lang="es-ES"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21B4D112-20EE-F0F5-D2E0-D7C299E9612A}"/>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659821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1.3 DIFERENCIAS CLAVE</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a:bodyPr>
          <a:lstStyle/>
          <a:p>
            <a:pPr marL="0" indent="0">
              <a:buNone/>
            </a:pPr>
            <a:r>
              <a:rPr lang="es-MX" sz="2000" dirty="0">
                <a:solidFill>
                  <a:schemeClr val="tx1"/>
                </a:solidFill>
              </a:rPr>
              <a:t>Acoplamiento y Cohesión: Las arquitecturas monolíticas tienen un alto acoplamiento, lo que significa que los componentes están estrechamente entrelazados. En contraste, los microservicios tienen un acoplamiento más bajo, lo que facilita la independencia y la actualización de componentes individuales.</a:t>
            </a:r>
          </a:p>
          <a:p>
            <a:pPr marL="0" indent="0">
              <a:buNone/>
            </a:pPr>
            <a:r>
              <a:rPr lang="es-MX" sz="2000" dirty="0">
                <a:solidFill>
                  <a:schemeClr val="tx1"/>
                </a:solidFill>
              </a:rPr>
              <a:t>Escalabilidad: Los microservicios permiten la escalabilidad modular, lo que significa que solo los microservicios que requieren más recursos se escalan, mientras que en las arquitecturas monolíticas, toda la aplicación se debe escalar.</a:t>
            </a:r>
          </a:p>
          <a:p>
            <a:pPr marL="0" indent="0">
              <a:buNone/>
            </a:pPr>
            <a:r>
              <a:rPr lang="es-MX" sz="2000" dirty="0">
                <a:solidFill>
                  <a:schemeClr val="tx1"/>
                </a:solidFill>
              </a:rPr>
              <a:t>Desarrollo Ágil: Los microservicios fomentan la agilidad al permitir que equipos pequeños y multifuncionales trabajen en microservicios individuales, lo que acelera el proceso de desarrollo. En las arquitecturas monolíticas, los cambios pueden ser más complicados debido al acoplamiento.</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7FB103F8-24E8-4DFC-60AE-0D1205942247}"/>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03103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1.4 	DIVISIÓN DE SERVICIOS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a:bodyPr>
          <a:lstStyle/>
          <a:p>
            <a:pPr marL="0" indent="0">
              <a:buNone/>
            </a:pPr>
            <a:r>
              <a:rPr lang="es-MX" sz="2000" dirty="0">
                <a:solidFill>
                  <a:schemeClr val="tx1"/>
                </a:solidFill>
              </a:rPr>
              <a:t>El "concepto de división en servicios" es una idea central en la arquitectura de microservicios y se refiere a la práctica de descomponer una aplicación en pequeños componentes autónomos y bien definidos, conocidos como microservicios. Cada microservicio está diseñado para realizar una función específica dentro de la aplicación y opera de manera independiente, lo que permite una arquitectura modular y altamente escalable. La importancia de este concepto radica en varios beneficios clave que aporta a la arquitectura de microservicios</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5FC731D2-30A8-A501-FE0D-35CA7D66BC4C}"/>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39191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1.5 BENEFICIOS DE ADOPTAR MICROSERVICIOS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85000" lnSpcReduction="20000"/>
          </a:bodyPr>
          <a:lstStyle/>
          <a:p>
            <a:pPr marL="0" indent="0">
              <a:buNone/>
            </a:pPr>
            <a:r>
              <a:rPr lang="es-MX" sz="2000" dirty="0">
                <a:solidFill>
                  <a:schemeClr val="tx1"/>
                </a:solidFill>
              </a:rPr>
              <a:t>Los beneficios de adoptar microservicios en el desarrollo de aplicaciones son:</a:t>
            </a:r>
          </a:p>
          <a:p>
            <a:pPr marL="0" indent="0">
              <a:buNone/>
            </a:pPr>
            <a:r>
              <a:rPr lang="es-MX" sz="2000" dirty="0">
                <a:solidFill>
                  <a:schemeClr val="tx1"/>
                </a:solidFill>
              </a:rPr>
              <a:t>Escalabilidad Eficiente: Los microservicios permiten escalar componentes individuales en función de la carga y la demanda, lo que resulta en un uso más eficiente de los recursos de hardware. En lugar de escalar todo el sistema, solo se escala el microservicio que necesita más recursos, lo que conduce a un rendimiento mejorado y ahorros en recursos.</a:t>
            </a:r>
          </a:p>
          <a:p>
            <a:pPr marL="0" indent="0">
              <a:buNone/>
            </a:pPr>
            <a:r>
              <a:rPr lang="es-MX" sz="2000" dirty="0">
                <a:solidFill>
                  <a:schemeClr val="tx1"/>
                </a:solidFill>
              </a:rPr>
              <a:t>Desarrollo Ágil: La arquitectura de microservicios permite que los equipos trabajen de manera independiente en microservicios específicos. Esto acelera el desarrollo, ya que los equipos pueden trabajar en paralelo en diferentes partes de la aplicación. Los cambios y las mejoras se pueden implementar de manera rápida y segura en microservicios individuales sin afectar a otros componentes.</a:t>
            </a:r>
          </a:p>
          <a:p>
            <a:pPr marL="0" indent="0">
              <a:buNone/>
            </a:pPr>
            <a:r>
              <a:rPr lang="es-MX" sz="2000" dirty="0">
                <a:solidFill>
                  <a:schemeClr val="tx1"/>
                </a:solidFill>
              </a:rPr>
              <a:t>Independencia Tecnológica: Cada microservicio puede ser desarrollado y mantenido utilizando tecnologías y lenguajes específicos para sus necesidades. Esto es especialmente útil en equipos multidisciplinarios donde los desarrolladores pueden elegir las herramientas más adecuadas para cada componente.</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BF80FDE1-C29A-71FB-B747-AE8741153A7E}"/>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88662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1.6 	DESAFÍOS AL ADOPTAR MICROSERVICIOS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77500" lnSpcReduction="20000"/>
          </a:bodyPr>
          <a:lstStyle/>
          <a:p>
            <a:pPr marL="0" indent="0">
              <a:buNone/>
            </a:pPr>
            <a:r>
              <a:rPr lang="es-MX" sz="2000" dirty="0">
                <a:solidFill>
                  <a:schemeClr val="tx1"/>
                </a:solidFill>
              </a:rPr>
              <a:t>Los desafíos al adoptar microservicios pueden ser significativos debido a la naturaleza distribuida y modular de esta arquitectura. Aquí hay detalles sobre algunos de los desafíos clave:</a:t>
            </a:r>
          </a:p>
          <a:p>
            <a:pPr marL="0" indent="0">
              <a:buNone/>
            </a:pPr>
            <a:r>
              <a:rPr lang="es-MX" sz="2000" dirty="0">
                <a:solidFill>
                  <a:schemeClr val="tx1"/>
                </a:solidFill>
              </a:rPr>
              <a:t>Complejidad de Gestión: Con múltiples microservicios en funcionamiento, la gestión y el monitoreo se vuelven más complejos. Se requieren herramientas de orquestación como </a:t>
            </a:r>
            <a:r>
              <a:rPr lang="es-MX" sz="2000" dirty="0" err="1">
                <a:solidFill>
                  <a:schemeClr val="tx1"/>
                </a:solidFill>
              </a:rPr>
              <a:t>Kubernetes</a:t>
            </a:r>
            <a:r>
              <a:rPr lang="es-MX" sz="2000" dirty="0">
                <a:solidFill>
                  <a:schemeClr val="tx1"/>
                </a:solidFill>
              </a:rPr>
              <a:t> para administrar eficazmente los contenedores en los que se ejecutan los microservicios. Además, es necesario implementar sistemas de monitoreo y alerta para garantizar el rendimiento y la disponibilidad de los servicios.</a:t>
            </a:r>
          </a:p>
          <a:p>
            <a:pPr marL="0" indent="0">
              <a:buNone/>
            </a:pPr>
            <a:r>
              <a:rPr lang="es-MX" sz="2000" dirty="0">
                <a:solidFill>
                  <a:schemeClr val="tx1"/>
                </a:solidFill>
              </a:rPr>
              <a:t>Comunicación y Latencia: La comunicación entre microservicios, ya sea síncrona o asíncrona, introduce latencia en comparación con las operaciones dentro de una aplicación monolítica. La elección del patrón de comunicación correcto y la optimización de la latencia son desafíos críticos para garantizar un rendimiento aceptable.</a:t>
            </a:r>
          </a:p>
          <a:p>
            <a:pPr marL="0" indent="0">
              <a:buNone/>
            </a:pPr>
            <a:r>
              <a:rPr lang="es-MX" sz="2000" dirty="0">
                <a:solidFill>
                  <a:schemeClr val="tx1"/>
                </a:solidFill>
              </a:rPr>
              <a:t>Coherencia de Datos: Mantener la coherencia de datos en un entorno distribuido puede ser complicado, especialmente en operaciones que involucran varios microservicios. La transacción y la sincronización de datos deben ser cuidadosamente gestionadas para evitar problemas de integridad y consistencia.</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53A8BC56-8E22-85EE-6FF4-AAE10DE78DBE}"/>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4045169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1.7 Escalabilidad modular y granular de los componentes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a:bodyPr>
          <a:lstStyle/>
          <a:p>
            <a:pPr marL="0" indent="0">
              <a:buNone/>
            </a:pPr>
            <a:r>
              <a:rPr lang="es-MX" sz="2000" dirty="0">
                <a:solidFill>
                  <a:schemeClr val="tx1"/>
                </a:solidFill>
              </a:rPr>
              <a:t>La "escalabilidad modular y granular de los componentes [5]" es una de las características clave de los microservicios que contribuye significativamente a su éxito y popularidad en el desarrollo de aplicaciones modernas. Esta característica se refiere a la capacidad de escalar individualmente cada microservicio en función de la demanda, lo que permite optimizar los recursos y mejorar el rendimiento del sistema en su conjunto</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8141074D-C006-D0D3-1EE1-D3A86EB72EFB}"/>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2336612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1.8 INDEPENDENCIA TECNOLÓGICA Y DE IMPLEMENTACIÓN EN CADA MICROSERVICIO</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a:bodyPr>
          <a:lstStyle/>
          <a:p>
            <a:pPr marL="0" indent="0">
              <a:buNone/>
            </a:pPr>
            <a:r>
              <a:rPr lang="es-MX" sz="2000" dirty="0">
                <a:solidFill>
                  <a:schemeClr val="tx1"/>
                </a:solidFill>
              </a:rPr>
              <a:t>La independencia tecnológica y de implementación en cada microservicio es uno de los conceptos fundamentales en la arquitectura de microservicios. Se refiere a la capacidad de diseñar, desarrollar y mantener cada microservicio de manera autónoma, utilizando tecnologías y lenguajes de programación adecuados para la tarea específica que realiza el servicio. Esto permite a los equipos de desarrollo elegir las mejores herramientas y enfoques para cada microservicio sin depender de las decisiones tecnológicas tomadas en otros microservicios o en la aplicación en su conjunto</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23A6E2BD-9DB6-5669-C76A-6778C9A1AADA}"/>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3322793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1.9 INDEPENDENCIA TECNOLÓGICA Y DE IMPLEMENTACIÓN EN CADA MICROSERVICIO</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4396824"/>
          </a:xfrm>
        </p:spPr>
        <p:txBody>
          <a:bodyPr>
            <a:normAutofit fontScale="70000" lnSpcReduction="20000"/>
          </a:bodyPr>
          <a:lstStyle/>
          <a:p>
            <a:pPr marL="0" indent="0">
              <a:buNone/>
            </a:pPr>
            <a:r>
              <a:rPr lang="es-MX" sz="2000" dirty="0">
                <a:solidFill>
                  <a:schemeClr val="tx1"/>
                </a:solidFill>
              </a:rPr>
              <a:t>La facilitación del desarrollo ágil [6] y la colaboración de equipos multidisciplinarios son beneficios clave que los microservicios aportan a la arquitectura de aplicaciones. Estos aspectos transforman la forma en que se construyen y mantienen los sistemas, promoviendo la agilidad, la innovación y la eficiencia en el desarrollo de software. Aquí hay más detalles sobre este punto:</a:t>
            </a:r>
          </a:p>
          <a:p>
            <a:pPr marL="0" indent="0">
              <a:buNone/>
            </a:pPr>
            <a:r>
              <a:rPr lang="es-MX" sz="2000" dirty="0">
                <a:solidFill>
                  <a:schemeClr val="tx1"/>
                </a:solidFill>
              </a:rPr>
              <a:t>Desarrollo Ágil:</a:t>
            </a:r>
          </a:p>
          <a:p>
            <a:pPr marL="0" indent="0">
              <a:buNone/>
            </a:pPr>
            <a:r>
              <a:rPr lang="es-MX" sz="2000" dirty="0">
                <a:solidFill>
                  <a:schemeClr val="tx1"/>
                </a:solidFill>
              </a:rPr>
              <a:t>Los microservicios son especialmente compatibles con metodologías ágiles de desarrollo, como Scrum o Kanban. Al dividir una aplicación en componentes independientes, los equipos pueden enfocarse en la entrega iterativa y continua de funcionalidades específicas. Cada microservicio se trata como un producto individual, lo que permite una planificación más granular y una mayor adaptabilidad a los cambios en los requisitos del negocio y del usuario.</a:t>
            </a:r>
          </a:p>
          <a:p>
            <a:pPr marL="0" indent="0">
              <a:buNone/>
            </a:pPr>
            <a:r>
              <a:rPr lang="es-MX" sz="2000" dirty="0">
                <a:solidFill>
                  <a:schemeClr val="tx1"/>
                </a:solidFill>
              </a:rPr>
              <a:t>Equipos Multidisciplinarios:</a:t>
            </a:r>
          </a:p>
          <a:p>
            <a:pPr marL="0" indent="0">
              <a:buNone/>
            </a:pPr>
            <a:r>
              <a:rPr lang="es-MX" sz="2000" dirty="0">
                <a:solidFill>
                  <a:schemeClr val="tx1"/>
                </a:solidFill>
              </a:rPr>
              <a:t>La arquitectura de microservicios fomenta la formación de equipos multidisciplinarios. Cada microservicio puede ser desarrollado y mantenido por un equipo pequeño y dedicado, compuesto por desarrolladores, diseñadores, expertos en experiencia de usuario (UX), expertos en seguridad y otros roles relevantes. Esto elimina las barreras entre diferentes áreas funcionales y permite una colaboración más cercana y fluida.</a:t>
            </a:r>
          </a:p>
          <a:p>
            <a:pPr marL="0" indent="0">
              <a:buNone/>
            </a:pPr>
            <a:r>
              <a:rPr lang="es-MX" sz="2000" dirty="0">
                <a:solidFill>
                  <a:schemeClr val="tx1"/>
                </a:solidFill>
              </a:rPr>
              <a:t>Independencia y Responsabilidad:</a:t>
            </a:r>
          </a:p>
          <a:p>
            <a:pPr marL="0" indent="0">
              <a:buNone/>
            </a:pPr>
            <a:r>
              <a:rPr lang="es-MX" sz="2000" dirty="0">
                <a:solidFill>
                  <a:schemeClr val="tx1"/>
                </a:solidFill>
              </a:rPr>
              <a:t>Cada equipo tiene la autonomía para elegir las tecnologías y las herramientas adecuadas para su microservicio específico. Esto permite seleccionar las tecnologías que mejor se adapten a los requisitos y características del servicio, en lugar de estar restringidos a una única tecnología de toda la aplicación. Esta independencia también significa que los equipos pueden avanzar a su propio ritmo y escala</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BC84BEE1-8FD8-3C0E-0D4C-F0DBB453B5D2}"/>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2996751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1.10 FACILIDAD EN LA IMPLEMENTACIÓN DE DEVOPS Y DESPLIEGUE CONTINUO</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lnSpcReduction="10000"/>
          </a:bodyPr>
          <a:lstStyle/>
          <a:p>
            <a:pPr marL="0" indent="0">
              <a:buNone/>
            </a:pPr>
            <a:r>
              <a:rPr lang="es-MX" sz="2000" dirty="0">
                <a:solidFill>
                  <a:schemeClr val="tx1"/>
                </a:solidFill>
              </a:rPr>
              <a:t>La implementación de DevOps y el despliegue continuo son dos áreas clave en las que los microservicios pueden tener un impacto significativo. Estos enfoques mejoran la eficiencia y la velocidad en el ciclo de desarrollo y despliegue de aplicaciones. Aquí tienes una explicación más detallada de cómo los microservicios facilitan la implementación de DevOps y el despliegue continuo:</a:t>
            </a:r>
          </a:p>
          <a:p>
            <a:pPr marL="0" indent="0">
              <a:buNone/>
            </a:pPr>
            <a:r>
              <a:rPr lang="es-MX" sz="2000" dirty="0">
                <a:solidFill>
                  <a:schemeClr val="tx1"/>
                </a:solidFill>
              </a:rPr>
              <a:t>DevOps y Microservicios</a:t>
            </a:r>
          </a:p>
          <a:p>
            <a:pPr marL="0" indent="0">
              <a:buNone/>
            </a:pPr>
            <a:r>
              <a:rPr lang="es-MX" sz="2000" dirty="0">
                <a:solidFill>
                  <a:schemeClr val="tx1"/>
                </a:solidFill>
              </a:rPr>
              <a:t>DevOps es una metodología que busca integrar y automatizar el desarrollo de software con las operaciones de TI. El objetivo es eliminar las barreras entre los equipos de desarrollo y operaciones, permitiendo una colaboración más estrecha y la entrega rápida y continua de software de alta calidad. Los microservicios encajan naturalmente con los principios de DevOps debido a su naturaleza modular y autónoma.</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b="1" dirty="0">
                  <a:solidFill>
                    <a:srgbClr val="FFFF00"/>
                  </a:solidFill>
                </a:rPr>
                <a:t>1.1	</a:t>
              </a:r>
              <a:r>
                <a:rPr lang="es-EC" sz="900" b="1" dirty="0">
                  <a:solidFill>
                    <a:srgbClr val="FFFF00"/>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90677A33-4B7B-D0E7-7EB4-48B7C2E028CE}"/>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314210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1.11	MAYOR DISPONIBILIDAD Y TOLERANCIA A FALLOS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lnSpcReduction="10000"/>
          </a:bodyPr>
          <a:lstStyle/>
          <a:p>
            <a:pPr marL="0" indent="0">
              <a:buNone/>
            </a:pPr>
            <a:r>
              <a:rPr lang="es-MX" sz="2000" dirty="0">
                <a:solidFill>
                  <a:schemeClr val="tx1"/>
                </a:solidFill>
              </a:rPr>
              <a:t>La mayor disponibilidad y tolerancia a fallos son ventajas destacadas inherentes a la arquitectura de microservicios. Estos elementos desempeñan un papel crucial en el establecimiento de sistemas sólidos y confiables en contextos distribuidos. A continuación, se proporciona una descripción detallada de estos conceptos:</a:t>
            </a:r>
          </a:p>
          <a:p>
            <a:pPr marL="0" indent="0">
              <a:buNone/>
            </a:pPr>
            <a:r>
              <a:rPr lang="es-MX" sz="2000" dirty="0">
                <a:solidFill>
                  <a:schemeClr val="tx1"/>
                </a:solidFill>
              </a:rPr>
              <a:t>Mayor Disponibilidad:</a:t>
            </a:r>
          </a:p>
          <a:p>
            <a:pPr marL="0" indent="0">
              <a:buNone/>
            </a:pPr>
            <a:r>
              <a:rPr lang="es-MX" sz="2000" dirty="0">
                <a:solidFill>
                  <a:schemeClr val="tx1"/>
                </a:solidFill>
              </a:rPr>
              <a:t>En un entorno basado en microservicios, cada componente opera como un servicio autónomo. Esto implica que, si un microservicio experimenta una falla, esta no tendrá un impacto en el conjunto completo de la aplicación. Los otros microservicios pueden continuar operando sin interrupciones, lo que conduce a una disponibilidad general más alta del sistema. Además, la escalabilidad independiente de los microservicios posibilita asegurar que los recursos estén disponibles para hacer frente a la demanda sin perjudicar a otros componentes.</a:t>
            </a: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1D8D3625-AC0B-A1A6-81A5-F29C7E7A8FCC}"/>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75389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1.12	PRINCIPIOS SOLID Y ACOPLAMIENTO BAJO</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lnSpcReduction="10000"/>
          </a:bodyPr>
          <a:lstStyle/>
          <a:p>
            <a:pPr marL="0" indent="0">
              <a:buNone/>
            </a:pPr>
            <a:r>
              <a:rPr lang="es-MX" sz="2000" dirty="0">
                <a:solidFill>
                  <a:schemeClr val="tx1"/>
                </a:solidFill>
              </a:rPr>
              <a:t>Los principios SOLID y el concepto de acoplamiento bajo son fundamentales en la programación orientada a objetos y en la arquitectura de software. Estos principios se aplican para crear código más mantenible, flexible y fácil de comprender.</a:t>
            </a:r>
          </a:p>
          <a:p>
            <a:pPr marL="0" indent="0">
              <a:buNone/>
            </a:pPr>
            <a:r>
              <a:rPr lang="es-MX" sz="2000" dirty="0">
                <a:solidFill>
                  <a:schemeClr val="tx1"/>
                </a:solidFill>
              </a:rPr>
              <a:t>Los Principios SOLID son un conjunto de cinco directrices que fueron introducidas por el ingeniero de software Robert C. Martin para mejorar la calidad del código y la facilidad de mantenimiento. Cada letra en SOLID representa un principio específico:</a:t>
            </a:r>
          </a:p>
          <a:p>
            <a:pPr marL="0" indent="0">
              <a:buNone/>
            </a:pPr>
            <a:r>
              <a:rPr lang="es-MX" sz="2000" dirty="0">
                <a:solidFill>
                  <a:schemeClr val="tx1"/>
                </a:solidFill>
              </a:rPr>
              <a:t>•	Responsabilidad Única (Single </a:t>
            </a:r>
            <a:r>
              <a:rPr lang="es-MX" sz="2000" dirty="0" err="1">
                <a:solidFill>
                  <a:schemeClr val="tx1"/>
                </a:solidFill>
              </a:rPr>
              <a:t>Responsibility</a:t>
            </a:r>
            <a:r>
              <a:rPr lang="es-MX" sz="2000" dirty="0">
                <a:solidFill>
                  <a:schemeClr val="tx1"/>
                </a:solidFill>
              </a:rPr>
              <a:t> </a:t>
            </a:r>
            <a:r>
              <a:rPr lang="es-MX" sz="2000" dirty="0" err="1">
                <a:solidFill>
                  <a:schemeClr val="tx1"/>
                </a:solidFill>
              </a:rPr>
              <a:t>Principle</a:t>
            </a:r>
            <a:r>
              <a:rPr lang="es-MX" sz="2000" dirty="0">
                <a:solidFill>
                  <a:schemeClr val="tx1"/>
                </a:solidFill>
              </a:rPr>
              <a:t> - SRP): Este principio establece que una clase debe tener una sola razón para cambiar. En otras palabras, una clase debe tener una única responsabilidad o función en el sistema.</a:t>
            </a:r>
          </a:p>
          <a:p>
            <a:pPr marL="0" indent="0">
              <a:buNone/>
            </a:pPr>
            <a:endParaRPr lang="es-MX"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B42D1970-B7A2-13BC-85A5-B843A26D6A46}"/>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2662347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1.13	DEFINICIÓN DE LÍMITES DE CONTEXTO Y RESPONSABILIDADES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lnSpcReduction="20000"/>
          </a:bodyPr>
          <a:lstStyle/>
          <a:p>
            <a:pPr marL="0" indent="0">
              <a:buNone/>
            </a:pPr>
            <a:r>
              <a:rPr lang="es-MX" sz="2000" dirty="0">
                <a:solidFill>
                  <a:schemeClr val="tx1"/>
                </a:solidFill>
              </a:rPr>
              <a:t>La definición de límites de contexto y responsabilidades es un concepto crucial en la arquitectura de microservicios. Este enfoque arquitectónico promueve la descomposición de una aplicación en componentes más pequeños y autónomos llamados microservicios. Estos microservicios son unidades independientes que realizan tareas específicas dentro de una aplicación más amplia.</a:t>
            </a:r>
          </a:p>
          <a:p>
            <a:pPr marL="0" indent="0">
              <a:buNone/>
            </a:pPr>
            <a:r>
              <a:rPr lang="es-MX" sz="2000" dirty="0">
                <a:solidFill>
                  <a:schemeClr val="tx1"/>
                </a:solidFill>
              </a:rPr>
              <a:t>La idea detrás de definir los límites de contexto y responsabilidades es establecer de manera clara y precisa qué hace cada microservicio y cuál es su alcance funcional. Esto significa que cada microservicio tiene una responsabilidad bien definida y no se involucra en tareas fuera de su ámbito.</a:t>
            </a:r>
          </a:p>
          <a:p>
            <a:pPr marL="0" indent="0">
              <a:buNone/>
            </a:pPr>
            <a:r>
              <a:rPr lang="es-MX" sz="2000" dirty="0">
                <a:solidFill>
                  <a:schemeClr val="tx1"/>
                </a:solidFill>
              </a:rPr>
              <a:t>Por ejemplo, en una aplicación de comercio electrónico, un microservicio puede encargarse exclusivamente de la gestión de carritos de compra, mientras que otro se encargará de gestionar los pagos. Cada uno de estos microservicios tiene su propio límite de contexto y se enfoca en una tarea específica.</a:t>
            </a:r>
          </a:p>
          <a:p>
            <a:pPr marL="0" indent="0">
              <a:buNone/>
            </a:pPr>
            <a:endParaRPr lang="es-MX"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EAB7B639-344B-E43F-9175-703A8117A1A0}"/>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519990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1.14	CONSIDERACIONES SOBRE EL TAMAÑO ADECUADO DE LOS MICROSERVICIOS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a:bodyPr>
          <a:lstStyle/>
          <a:p>
            <a:pPr marL="0" indent="0">
              <a:buNone/>
            </a:pPr>
            <a:r>
              <a:rPr lang="es-MX" sz="2000" dirty="0">
                <a:solidFill>
                  <a:schemeClr val="tx1"/>
                </a:solidFill>
              </a:rPr>
              <a:t>Las consideraciones sobre el tamaño adecuado de los microservicios son un aspecto crítico en la arquitectura de microservicios. En este contexto, se refiere a la decisión de cuán pequeños o grandes deben ser los servicios individuales que componen una aplicación. Estas consideraciones tienen un impacto significativo en la modularidad, la escalabilidad, la mantenibilidad y la eficiencia del sistema en su conjunto.</a:t>
            </a:r>
          </a:p>
          <a:p>
            <a:pPr marL="0" indent="0">
              <a:buNone/>
            </a:pPr>
            <a:r>
              <a:rPr lang="es-MX" sz="2000" dirty="0">
                <a:solidFill>
                  <a:schemeClr val="tx1"/>
                </a:solidFill>
              </a:rPr>
              <a:t>En primer lugar, es fundamental entender que no existe un tamaño único que se aplique a todos los microservicios; en cambio, la decisión debe basarse en las necesidades específicas del proyecto. </a:t>
            </a:r>
          </a:p>
          <a:p>
            <a:pPr marL="0" indent="0">
              <a:buNone/>
            </a:pPr>
            <a:endParaRPr lang="es-MX"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35793028-B443-652D-93BE-7CAB2E04C56B}"/>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824060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1.15	PATRONES DE COMUNICACIÓN: API REST, MENSAJERÍA ASÍNCRONA, GRPC, EVENTOS</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lnSpcReduction="20000"/>
          </a:bodyPr>
          <a:lstStyle/>
          <a:p>
            <a:pPr marL="0" indent="0">
              <a:buNone/>
            </a:pPr>
            <a:r>
              <a:rPr lang="es-MX" sz="2000" dirty="0">
                <a:solidFill>
                  <a:schemeClr val="tx1"/>
                </a:solidFill>
              </a:rPr>
              <a:t>Los patrones de comunicación en el contexto de los microservicios representan los métodos y protocolos utilizados para permitir la interacción y la transferencia de datos entre los diferentes servicios que conforman una arquitectura de microservicios. Estos patrones son esenciales para garantizar una comunicación efectiva y confiable en un entorno distribuido. Aquí se explora en detalle este aspecto clave de las arquitecturas de microservicios:</a:t>
            </a:r>
          </a:p>
          <a:p>
            <a:pPr marL="0" indent="0">
              <a:buNone/>
            </a:pPr>
            <a:r>
              <a:rPr lang="es-MX" sz="2000" dirty="0">
                <a:solidFill>
                  <a:schemeClr val="tx1"/>
                </a:solidFill>
              </a:rPr>
              <a:t>API REST (</a:t>
            </a:r>
            <a:r>
              <a:rPr lang="es-MX" sz="2000" dirty="0" err="1">
                <a:solidFill>
                  <a:schemeClr val="tx1"/>
                </a:solidFill>
              </a:rPr>
              <a:t>Representational</a:t>
            </a:r>
            <a:r>
              <a:rPr lang="es-MX" sz="2000" dirty="0">
                <a:solidFill>
                  <a:schemeClr val="tx1"/>
                </a:solidFill>
              </a:rPr>
              <a:t> </a:t>
            </a:r>
            <a:r>
              <a:rPr lang="es-MX" sz="2000" dirty="0" err="1">
                <a:solidFill>
                  <a:schemeClr val="tx1"/>
                </a:solidFill>
              </a:rPr>
              <a:t>State</a:t>
            </a:r>
            <a:r>
              <a:rPr lang="es-MX" sz="2000" dirty="0">
                <a:solidFill>
                  <a:schemeClr val="tx1"/>
                </a:solidFill>
              </a:rPr>
              <a:t> Transfer): Este patrón se basa en principios simples y está ampliamente adoptado en la comunidad de desarrollo de microservicios. Las API REST utilizan el protocolo HTTP para la comunicación, y las operaciones se representan mediante verbos HTTP como GET, POST, PUT y DELETE. Este enfoque es conocido por su simplicidad y facilidad de uso, lo que lo hace ideal para la comunicación entre microservicios y con clientes externos</a:t>
            </a:r>
          </a:p>
          <a:p>
            <a:pPr marL="0" indent="0">
              <a:buNone/>
            </a:pPr>
            <a:r>
              <a:rPr lang="es-MX" sz="2000" dirty="0">
                <a:solidFill>
                  <a:schemeClr val="tx1"/>
                </a:solidFill>
              </a:rPr>
              <a:t> </a:t>
            </a:r>
          </a:p>
          <a:p>
            <a:pPr marL="0" indent="0">
              <a:buNone/>
            </a:pPr>
            <a:endParaRPr lang="es-MX"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43CD3300-A74D-E6CE-A049-214BBE1A5C2F}"/>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2328804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a:bodyPr>
          <a:lstStyle/>
          <a:p>
            <a:r>
              <a:rPr lang="es-MX" dirty="0"/>
              <a:t>1.16	LA INTEGRIDAD DE LOS DATOS EN UN ENTORNO DISTRIBUIDO</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lnSpcReduction="20000"/>
          </a:bodyPr>
          <a:lstStyle/>
          <a:p>
            <a:pPr marL="0" indent="0">
              <a:buNone/>
            </a:pPr>
            <a:r>
              <a:rPr lang="es-MX" sz="2000" dirty="0">
                <a:solidFill>
                  <a:schemeClr val="tx1"/>
                </a:solidFill>
              </a:rPr>
              <a:t>Los patrones de comunicación en el contexto de los microservicios representan los métodos y protocolos utilizados para permitir la interacción y la transferencia de datos entre los diferentes servicios que conforman una arquitectura de microservicios. Estos patrones son esenciales para garantizar una comunicación efectiva y confiable en un entorno distribuido. Aquí se explora en detalle este aspecto clave de las arquitecturas de microservicios:</a:t>
            </a:r>
          </a:p>
          <a:p>
            <a:pPr marL="0" indent="0">
              <a:buNone/>
            </a:pPr>
            <a:r>
              <a:rPr lang="es-MX" sz="2000" dirty="0">
                <a:solidFill>
                  <a:schemeClr val="tx1"/>
                </a:solidFill>
              </a:rPr>
              <a:t>API REST (</a:t>
            </a:r>
            <a:r>
              <a:rPr lang="es-MX" sz="2000" dirty="0" err="1">
                <a:solidFill>
                  <a:schemeClr val="tx1"/>
                </a:solidFill>
              </a:rPr>
              <a:t>Representational</a:t>
            </a:r>
            <a:r>
              <a:rPr lang="es-MX" sz="2000" dirty="0">
                <a:solidFill>
                  <a:schemeClr val="tx1"/>
                </a:solidFill>
              </a:rPr>
              <a:t> </a:t>
            </a:r>
            <a:r>
              <a:rPr lang="es-MX" sz="2000" dirty="0" err="1">
                <a:solidFill>
                  <a:schemeClr val="tx1"/>
                </a:solidFill>
              </a:rPr>
              <a:t>State</a:t>
            </a:r>
            <a:r>
              <a:rPr lang="es-MX" sz="2000" dirty="0">
                <a:solidFill>
                  <a:schemeClr val="tx1"/>
                </a:solidFill>
              </a:rPr>
              <a:t> Transfer): Este patrón se basa en principios simples y está ampliamente adoptado en la comunidad de desarrollo de microservicios. Las API REST utilizan el protocolo HTTP para la comunicación, y las operaciones se representan mediante verbos HTTP como GET, POST, PUT y DELETE. Este enfoque es conocido por su simplicidad y facilidad de uso, lo que lo hace ideal para la comunicación entre microservicios y con clientes externos</a:t>
            </a:r>
          </a:p>
          <a:p>
            <a:pPr marL="0" indent="0">
              <a:buNone/>
            </a:pPr>
            <a:r>
              <a:rPr lang="es-MX" sz="2000" dirty="0">
                <a:solidFill>
                  <a:schemeClr val="tx1"/>
                </a:solidFill>
              </a:rPr>
              <a:t> </a:t>
            </a:r>
          </a:p>
          <a:p>
            <a:pPr marL="0" indent="0">
              <a:buNone/>
            </a:pPr>
            <a:endParaRPr lang="es-MX"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D540609E-670D-18F2-520B-084CDBEB771E}"/>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p>
          <a:p>
            <a:pPr lvl="1">
              <a:spcBef>
                <a:spcPts val="0"/>
              </a:spcBef>
              <a:spcAft>
                <a:spcPts val="0"/>
              </a:spcAft>
            </a:pP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513325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a:xfrm>
            <a:off x="468608" y="528535"/>
            <a:ext cx="8432324" cy="1288691"/>
          </a:xfrm>
        </p:spPr>
        <p:txBody>
          <a:bodyPr>
            <a:normAutofit fontScale="90000"/>
          </a:bodyPr>
          <a:lstStyle/>
          <a:p>
            <a:r>
              <a:rPr lang="es-MX" dirty="0"/>
              <a:t>1.17	USO DE HERRAMIENTAS Y TECNOLOGÍAS PARA LA COMUNICACIÓN, COMO RABBITMQ O APACHE KAFKA</a:t>
            </a:r>
            <a:endParaRPr lang="es-ES" dirty="0"/>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740919" y="2061066"/>
            <a:ext cx="8045893" cy="3739659"/>
          </a:xfrm>
        </p:spPr>
        <p:txBody>
          <a:bodyPr>
            <a:normAutofit fontScale="92500" lnSpcReduction="10000"/>
          </a:bodyPr>
          <a:lstStyle/>
          <a:p>
            <a:pPr marL="0" indent="0">
              <a:buNone/>
            </a:pPr>
            <a:r>
              <a:rPr lang="es-MX" sz="2000" dirty="0">
                <a:solidFill>
                  <a:schemeClr val="tx1"/>
                </a:solidFill>
              </a:rPr>
              <a:t>El uso de herramientas y tecnologías para la comunicación, como </a:t>
            </a:r>
            <a:r>
              <a:rPr lang="es-MX" sz="2000" dirty="0" err="1">
                <a:solidFill>
                  <a:schemeClr val="tx1"/>
                </a:solidFill>
              </a:rPr>
              <a:t>RabbitMQ</a:t>
            </a:r>
            <a:r>
              <a:rPr lang="es-MX" sz="2000" dirty="0">
                <a:solidFill>
                  <a:schemeClr val="tx1"/>
                </a:solidFill>
              </a:rPr>
              <a:t> o Apache Kafka, desempeña un papel fundamental en la arquitectura de microservicios y sistemas distribuidos. Estas plataformas se utilizan para facilitar la comunicación entre los diferentes microservicios, lo que permite la coordinación y la transferencia de datos de manera eficiente y confiable. Aquí se exploran en detalle estas dos herramientas:</a:t>
            </a:r>
          </a:p>
          <a:p>
            <a:pPr marL="0" indent="0">
              <a:buNone/>
            </a:pPr>
            <a:r>
              <a:rPr lang="es-MX" sz="2000" dirty="0" err="1">
                <a:solidFill>
                  <a:schemeClr val="tx1"/>
                </a:solidFill>
              </a:rPr>
              <a:t>RabbitMQ</a:t>
            </a:r>
            <a:r>
              <a:rPr lang="es-MX" sz="2000" dirty="0">
                <a:solidFill>
                  <a:schemeClr val="tx1"/>
                </a:solidFill>
              </a:rPr>
              <a:t>: </a:t>
            </a:r>
            <a:r>
              <a:rPr lang="es-MX" sz="2000" dirty="0" err="1">
                <a:solidFill>
                  <a:schemeClr val="tx1"/>
                </a:solidFill>
              </a:rPr>
              <a:t>RabbitMQ</a:t>
            </a:r>
            <a:r>
              <a:rPr lang="es-MX" sz="2000" dirty="0">
                <a:solidFill>
                  <a:schemeClr val="tx1"/>
                </a:solidFill>
              </a:rPr>
              <a:t> es un sistema de mensajería de código abierto que se basa en el protocolo </a:t>
            </a:r>
            <a:r>
              <a:rPr lang="es-MX" sz="2000" dirty="0" err="1">
                <a:solidFill>
                  <a:schemeClr val="tx1"/>
                </a:solidFill>
              </a:rPr>
              <a:t>Advanced</a:t>
            </a:r>
            <a:r>
              <a:rPr lang="es-MX" sz="2000" dirty="0">
                <a:solidFill>
                  <a:schemeClr val="tx1"/>
                </a:solidFill>
              </a:rPr>
              <a:t> </a:t>
            </a:r>
            <a:r>
              <a:rPr lang="es-MX" sz="2000" dirty="0" err="1">
                <a:solidFill>
                  <a:schemeClr val="tx1"/>
                </a:solidFill>
              </a:rPr>
              <a:t>Message</a:t>
            </a:r>
            <a:r>
              <a:rPr lang="es-MX" sz="2000" dirty="0">
                <a:solidFill>
                  <a:schemeClr val="tx1"/>
                </a:solidFill>
              </a:rPr>
              <a:t> </a:t>
            </a:r>
            <a:r>
              <a:rPr lang="es-MX" sz="2000" dirty="0" err="1">
                <a:solidFill>
                  <a:schemeClr val="tx1"/>
                </a:solidFill>
              </a:rPr>
              <a:t>Queuing</a:t>
            </a:r>
            <a:r>
              <a:rPr lang="es-MX" sz="2000" dirty="0">
                <a:solidFill>
                  <a:schemeClr val="tx1"/>
                </a:solidFill>
              </a:rPr>
              <a:t> </a:t>
            </a:r>
            <a:r>
              <a:rPr lang="es-MX" sz="2000" dirty="0" err="1">
                <a:solidFill>
                  <a:schemeClr val="tx1"/>
                </a:solidFill>
              </a:rPr>
              <a:t>Protocol</a:t>
            </a:r>
            <a:r>
              <a:rPr lang="es-MX" sz="2000" dirty="0">
                <a:solidFill>
                  <a:schemeClr val="tx1"/>
                </a:solidFill>
              </a:rPr>
              <a:t> (AMQP). Proporciona una manera efectiva de implementar patrones de comunicación asíncrona entre microservicios. Permite la publicación y suscripción de mensajes en colas, lo que facilita la comunicación entre componentes de la aplicación de manera desacoplada. </a:t>
            </a:r>
            <a:r>
              <a:rPr lang="es-MX" sz="2000" dirty="0" err="1">
                <a:solidFill>
                  <a:schemeClr val="tx1"/>
                </a:solidFill>
              </a:rPr>
              <a:t>RabbitMQ</a:t>
            </a:r>
            <a:r>
              <a:rPr lang="es-MX" sz="2000" dirty="0">
                <a:solidFill>
                  <a:schemeClr val="tx1"/>
                </a:solidFill>
              </a:rPr>
              <a:t> es conocido por su confiabilidad y se utiliza en escenarios donde la entrega de mensajes debe ser segura y garantizada</a:t>
            </a:r>
          </a:p>
          <a:p>
            <a:pPr marL="0" indent="0">
              <a:buNone/>
            </a:pPr>
            <a:endParaRPr lang="es-MX" sz="2000" dirty="0">
              <a:solidFill>
                <a:schemeClr val="tx1"/>
              </a:solidFill>
            </a:endParaRPr>
          </a:p>
        </p:txBody>
      </p:sp>
      <p:sp>
        <p:nvSpPr>
          <p:cNvPr id="9" name="CuadroTexto 8">
            <a:extLst>
              <a:ext uri="{FF2B5EF4-FFF2-40B4-BE49-F238E27FC236}">
                <a16:creationId xmlns:a16="http://schemas.microsoft.com/office/drawing/2014/main" id="{C09A62F3-0504-4D17-9656-5FC748800A81}"/>
              </a:ext>
            </a:extLst>
          </p:cNvPr>
          <p:cNvSpPr txBox="1"/>
          <p:nvPr/>
        </p:nvSpPr>
        <p:spPr>
          <a:xfrm>
            <a:off x="11817675" y="6457890"/>
            <a:ext cx="374325" cy="400110"/>
          </a:xfrm>
          <a:prstGeom prst="rect">
            <a:avLst/>
          </a:prstGeom>
          <a:noFill/>
        </p:spPr>
        <p:txBody>
          <a:bodyPr wrap="square" rtlCol="0">
            <a:spAutoFit/>
          </a:bodyPr>
          <a:lstStyle/>
          <a:p>
            <a:r>
              <a:rPr lang="es-EC" sz="2000">
                <a:solidFill>
                  <a:schemeClr val="bg1"/>
                </a:solidFill>
              </a:rPr>
              <a:t>8</a:t>
            </a:r>
          </a:p>
        </p:txBody>
      </p:sp>
      <p:sp>
        <p:nvSpPr>
          <p:cNvPr id="12" name="CuadroTexto 11">
            <a:extLst>
              <a:ext uri="{FF2B5EF4-FFF2-40B4-BE49-F238E27FC236}">
                <a16:creationId xmlns:a16="http://schemas.microsoft.com/office/drawing/2014/main" id="{AA0FE1EE-437B-F9FE-E6D6-8504679FFC8C}"/>
              </a:ext>
            </a:extLst>
          </p:cNvPr>
          <p:cNvSpPr txBox="1"/>
          <p:nvPr/>
        </p:nvSpPr>
        <p:spPr>
          <a:xfrm>
            <a:off x="11713581" y="6457890"/>
            <a:ext cx="478420" cy="400110"/>
          </a:xfrm>
          <a:prstGeom prst="rect">
            <a:avLst/>
          </a:prstGeom>
          <a:noFill/>
        </p:spPr>
        <p:txBody>
          <a:bodyPr wrap="square" rtlCol="0">
            <a:spAutoFit/>
          </a:bodyPr>
          <a:lstStyle/>
          <a:p>
            <a:pPr algn="ctr"/>
            <a:r>
              <a:rPr lang="es-EC" sz="2000" dirty="0">
                <a:solidFill>
                  <a:schemeClr val="bg1"/>
                </a:solidFill>
              </a:rPr>
              <a:t>11</a:t>
            </a:r>
          </a:p>
        </p:txBody>
      </p:sp>
      <p:grpSp>
        <p:nvGrpSpPr>
          <p:cNvPr id="7" name="Grupo 6">
            <a:extLst>
              <a:ext uri="{FF2B5EF4-FFF2-40B4-BE49-F238E27FC236}">
                <a16:creationId xmlns:a16="http://schemas.microsoft.com/office/drawing/2014/main" id="{CB7D3277-A118-6DBC-29DB-F415DDB52B63}"/>
              </a:ext>
            </a:extLst>
          </p:cNvPr>
          <p:cNvGrpSpPr/>
          <p:nvPr/>
        </p:nvGrpSpPr>
        <p:grpSpPr>
          <a:xfrm>
            <a:off x="9127125" y="0"/>
            <a:ext cx="3092950" cy="6858000"/>
            <a:chOff x="9127125" y="0"/>
            <a:chExt cx="3092950" cy="6858000"/>
          </a:xfrm>
        </p:grpSpPr>
        <p:sp>
          <p:nvSpPr>
            <p:cNvPr id="4" name="Marcador de contenido 2">
              <a:extLst>
                <a:ext uri="{FF2B5EF4-FFF2-40B4-BE49-F238E27FC236}">
                  <a16:creationId xmlns:a16="http://schemas.microsoft.com/office/drawing/2014/main" id="{A8A11A42-E510-3811-86C0-4369A14B01E3}"/>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6" name="CuadroTexto 5">
              <a:extLst>
                <a:ext uri="{FF2B5EF4-FFF2-40B4-BE49-F238E27FC236}">
                  <a16:creationId xmlns:a16="http://schemas.microsoft.com/office/drawing/2014/main" id="{66858E26-AB8D-7314-85C9-3500A40B8EB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4</a:t>
              </a:r>
            </a:p>
          </p:txBody>
        </p:sp>
      </p:grpSp>
      <p:sp>
        <p:nvSpPr>
          <p:cNvPr id="5" name="Marcador de contenido 2">
            <a:extLst>
              <a:ext uri="{FF2B5EF4-FFF2-40B4-BE49-F238E27FC236}">
                <a16:creationId xmlns:a16="http://schemas.microsoft.com/office/drawing/2014/main" id="{76B5B813-D84D-6E63-5E30-EB756B57A586}"/>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34122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566B89-C470-4C69-8689-38673C7B7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0708B1-1822-4D0E-B3F8-BF6E36438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90" y="457201"/>
            <a:ext cx="7363959"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7" name="Rectangle 11">
            <a:extLst>
              <a:ext uri="{FF2B5EF4-FFF2-40B4-BE49-F238E27FC236}">
                <a16:creationId xmlns:a16="http://schemas.microsoft.com/office/drawing/2014/main" id="{1EAB69CE-6296-4D71-8DB3-BF71FD51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39774" y="453643"/>
            <a:ext cx="329184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8" name="Rectangle 13">
            <a:extLst>
              <a:ext uri="{FF2B5EF4-FFF2-40B4-BE49-F238E27FC236}">
                <a16:creationId xmlns:a16="http://schemas.microsoft.com/office/drawing/2014/main" id="{45B34FBD-A817-4E6B-8CD9-1BCA9CB67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1189" y="681070"/>
            <a:ext cx="7363960" cy="56933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4A96B-D8F1-4165-BDCB-F0271F926954}"/>
              </a:ext>
            </a:extLst>
          </p:cNvPr>
          <p:cNvSpPr>
            <a:spLocks noGrp="1"/>
          </p:cNvSpPr>
          <p:nvPr>
            <p:ph type="title"/>
          </p:nvPr>
        </p:nvSpPr>
        <p:spPr>
          <a:xfrm>
            <a:off x="996381" y="1152939"/>
            <a:ext cx="6583680" cy="4539113"/>
          </a:xfrm>
        </p:spPr>
        <p:txBody>
          <a:bodyPr anchor="ctr">
            <a:normAutofit/>
          </a:bodyPr>
          <a:lstStyle/>
          <a:p>
            <a:r>
              <a:rPr lang="es-ES" sz="5400" dirty="0">
                <a:solidFill>
                  <a:srgbClr val="FFFFFF"/>
                </a:solidFill>
              </a:rPr>
              <a:t>2	DESARROLLO</a:t>
            </a:r>
          </a:p>
        </p:txBody>
      </p:sp>
      <p:sp>
        <p:nvSpPr>
          <p:cNvPr id="3" name="Marcador de contenido 2">
            <a:extLst>
              <a:ext uri="{FF2B5EF4-FFF2-40B4-BE49-F238E27FC236}">
                <a16:creationId xmlns:a16="http://schemas.microsoft.com/office/drawing/2014/main" id="{24450567-4B65-45C0-A0CF-8E25C31398B6}"/>
              </a:ext>
            </a:extLst>
          </p:cNvPr>
          <p:cNvSpPr>
            <a:spLocks noGrp="1"/>
          </p:cNvSpPr>
          <p:nvPr>
            <p:ph idx="1"/>
          </p:nvPr>
        </p:nvSpPr>
        <p:spPr>
          <a:xfrm>
            <a:off x="8210681" y="1152939"/>
            <a:ext cx="3400126" cy="4539113"/>
          </a:xfrm>
        </p:spPr>
        <p:txBody>
          <a:bodyPr anchor="ctr">
            <a:normAutofit/>
          </a:bodyPr>
          <a:lstStyle/>
          <a:p>
            <a:pPr algn="just">
              <a:lnSpc>
                <a:spcPct val="115000"/>
              </a:lnSpc>
              <a:spcAft>
                <a:spcPts val="1000"/>
              </a:spcAft>
            </a:pPr>
            <a:r>
              <a:rPr lang="es-ES" sz="1800" dirty="0">
                <a:solidFill>
                  <a:srgbClr val="548DD4"/>
                </a:solidFill>
                <a:effectLst/>
                <a:latin typeface="Calibri" panose="020F0502020204030204" pitchFamily="34" charset="0"/>
                <a:ea typeface="Calibri" panose="020F0502020204030204" pitchFamily="34" charset="0"/>
                <a:cs typeface="Arial" panose="020B0604020202020204" pitchFamily="34" charset="0"/>
              </a:rPr>
              <a:t>En este trabajo de investigación y desarrollo, exploraremos los detalles técnicos de la implementación de </a:t>
            </a:r>
            <a:r>
              <a:rPr lang="es-EC" sz="1800" dirty="0">
                <a:solidFill>
                  <a:srgbClr val="548DD4"/>
                </a:solidFill>
                <a:effectLst/>
                <a:latin typeface="Calibri" panose="020F0502020204030204" pitchFamily="34" charset="0"/>
                <a:ea typeface="Calibri" panose="020F0502020204030204" pitchFamily="34" charset="0"/>
                <a:cs typeface="Arial" panose="020B0604020202020204" pitchFamily="34" charset="0"/>
              </a:rPr>
              <a:t>Microservicios.</a:t>
            </a:r>
          </a:p>
          <a:p>
            <a:endParaRPr lang="es-ES" dirty="0"/>
          </a:p>
        </p:txBody>
      </p:sp>
      <p:sp>
        <p:nvSpPr>
          <p:cNvPr id="20" name="CuadroTexto 19">
            <a:extLst>
              <a:ext uri="{FF2B5EF4-FFF2-40B4-BE49-F238E27FC236}">
                <a16:creationId xmlns:a16="http://schemas.microsoft.com/office/drawing/2014/main" id="{63D2310E-26B1-4889-8EDE-811C71ECE2B7}"/>
              </a:ext>
            </a:extLst>
          </p:cNvPr>
          <p:cNvSpPr txBox="1"/>
          <p:nvPr/>
        </p:nvSpPr>
        <p:spPr>
          <a:xfrm>
            <a:off x="11735133" y="6457890"/>
            <a:ext cx="456867" cy="400110"/>
          </a:xfrm>
          <a:prstGeom prst="rect">
            <a:avLst/>
          </a:prstGeom>
          <a:noFill/>
        </p:spPr>
        <p:txBody>
          <a:bodyPr wrap="square" rtlCol="0">
            <a:spAutoFit/>
          </a:bodyPr>
          <a:lstStyle/>
          <a:p>
            <a:r>
              <a:rPr lang="es-EC" sz="2000" dirty="0"/>
              <a:t>3</a:t>
            </a:r>
          </a:p>
        </p:txBody>
      </p:sp>
    </p:spTree>
    <p:extLst>
      <p:ext uri="{BB962C8B-B14F-4D97-AF65-F5344CB8AC3E}">
        <p14:creationId xmlns:p14="http://schemas.microsoft.com/office/powerpoint/2010/main" val="3092708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normAutofit/>
          </a:bodyPr>
          <a:lstStyle/>
          <a:p>
            <a:r>
              <a:rPr lang="es-MX" dirty="0"/>
              <a:t>2.1 CREACIÓN DE LOS SERVICIOS</a:t>
            </a:r>
            <a:br>
              <a:rPr lang="es-MX" dirty="0"/>
            </a:br>
            <a:r>
              <a:rPr lang="es-MX" dirty="0"/>
              <a:t>2.1.1 GENERACIÓN DEL MODELO</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330832" y="2000185"/>
            <a:ext cx="8796292" cy="1649824"/>
          </a:xfrm>
        </p:spPr>
        <p:txBody>
          <a:bodyPr>
            <a:normAutofit fontScale="92500"/>
          </a:bodyPr>
          <a:lstStyle/>
          <a:p>
            <a:r>
              <a:rPr lang="es-MX" dirty="0">
                <a:solidFill>
                  <a:schemeClr val="tx1"/>
                </a:solidFill>
              </a:rPr>
              <a:t>Antes de codificar el archivo se procede a crear el modelo siguiendo los mismos pasos anteriores con algunas modificaciones. Se debe dirigir a la carpeta del modelo, se da clic derecho y luego “Agregar” y finalmente “Clase”.</a:t>
            </a:r>
          </a:p>
          <a:p>
            <a:r>
              <a:rPr lang="es-MX" dirty="0">
                <a:solidFill>
                  <a:schemeClr val="tx1"/>
                </a:solidFill>
              </a:rPr>
              <a:t>En este caso se debe crear un modelo por cada entidad que se tiene en la base de datos, por lo tanto se deben crear 2 clases, bajo el nombre de </a:t>
            </a:r>
            <a:r>
              <a:rPr lang="es-MX" dirty="0" err="1">
                <a:solidFill>
                  <a:schemeClr val="tx1"/>
                </a:solidFill>
              </a:rPr>
              <a:t>PartidoFutbol</a:t>
            </a:r>
            <a:r>
              <a:rPr lang="es-MX" dirty="0">
                <a:solidFill>
                  <a:schemeClr val="tx1"/>
                </a:solidFill>
              </a:rPr>
              <a:t>, Factura y </a:t>
            </a:r>
            <a:r>
              <a:rPr lang="es-MX" dirty="0" err="1">
                <a:solidFill>
                  <a:schemeClr val="tx1"/>
                </a:solidFill>
              </a:rPr>
              <a:t>LocalidadPartido</a:t>
            </a:r>
            <a:r>
              <a:rPr lang="es-MX" dirty="0">
                <a:solidFill>
                  <a:schemeClr val="tx1"/>
                </a:solidFill>
              </a:rPr>
              <a:t>.</a:t>
            </a:r>
          </a:p>
        </p:txBody>
      </p:sp>
      <p:sp>
        <p:nvSpPr>
          <p:cNvPr id="8" name="CuadroTexto 7">
            <a:extLst>
              <a:ext uri="{FF2B5EF4-FFF2-40B4-BE49-F238E27FC236}">
                <a16:creationId xmlns:a16="http://schemas.microsoft.com/office/drawing/2014/main" id="{639F4E64-9CD8-4F70-B165-9D659FB1A15B}"/>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14</a:t>
            </a:r>
          </a:p>
        </p:txBody>
      </p:sp>
      <p:sp>
        <p:nvSpPr>
          <p:cNvPr id="9" name="CuadroTexto 8">
            <a:extLst>
              <a:ext uri="{FF2B5EF4-FFF2-40B4-BE49-F238E27FC236}">
                <a16:creationId xmlns:a16="http://schemas.microsoft.com/office/drawing/2014/main" id="{55FDE648-0B67-E308-709B-05615B2A2CAD}"/>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16</a:t>
            </a:r>
          </a:p>
        </p:txBody>
      </p:sp>
      <p:grpSp>
        <p:nvGrpSpPr>
          <p:cNvPr id="4" name="Grupo 3">
            <a:extLst>
              <a:ext uri="{FF2B5EF4-FFF2-40B4-BE49-F238E27FC236}">
                <a16:creationId xmlns:a16="http://schemas.microsoft.com/office/drawing/2014/main" id="{FCC20D6C-0829-EF15-4AA4-FDF2F7610615}"/>
              </a:ext>
            </a:extLst>
          </p:cNvPr>
          <p:cNvGrpSpPr/>
          <p:nvPr/>
        </p:nvGrpSpPr>
        <p:grpSpPr>
          <a:xfrm>
            <a:off x="9127125" y="0"/>
            <a:ext cx="3092950" cy="6858000"/>
            <a:chOff x="9127125" y="0"/>
            <a:chExt cx="3092950" cy="6858000"/>
          </a:xfrm>
        </p:grpSpPr>
        <p:sp>
          <p:nvSpPr>
            <p:cNvPr id="5" name="Marcador de contenido 2">
              <a:extLst>
                <a:ext uri="{FF2B5EF4-FFF2-40B4-BE49-F238E27FC236}">
                  <a16:creationId xmlns:a16="http://schemas.microsoft.com/office/drawing/2014/main" id="{830A451B-4616-0B2C-4B08-24871BA227AD}"/>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b="1" dirty="0">
                  <a:solidFill>
                    <a:srgbClr val="FFFF00"/>
                  </a:solidFill>
                </a:rPr>
                <a:t>1.4 	CREACIÓN DE LOS SERVICIOS</a:t>
              </a:r>
            </a:p>
            <a:p>
              <a:pPr lvl="2">
                <a:spcBef>
                  <a:spcPts val="0"/>
                </a:spcBef>
                <a:spcAft>
                  <a:spcPts val="0"/>
                </a:spcAft>
              </a:pPr>
              <a:r>
                <a:rPr lang="es-MX" sz="900" b="1" dirty="0">
                  <a:solidFill>
                    <a:srgbClr val="FFFF00"/>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7" name="CuadroTexto 6">
              <a:extLst>
                <a:ext uri="{FF2B5EF4-FFF2-40B4-BE49-F238E27FC236}">
                  <a16:creationId xmlns:a16="http://schemas.microsoft.com/office/drawing/2014/main" id="{57A7F1B4-EFDA-B4A9-6732-9117DDAD472C}"/>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19</a:t>
              </a:r>
            </a:p>
          </p:txBody>
        </p:sp>
      </p:grpSp>
      <p:pic>
        <p:nvPicPr>
          <p:cNvPr id="11" name="Imagen 10">
            <a:extLst>
              <a:ext uri="{FF2B5EF4-FFF2-40B4-BE49-F238E27FC236}">
                <a16:creationId xmlns:a16="http://schemas.microsoft.com/office/drawing/2014/main" id="{9F78B22E-A878-4525-866E-091DA48B80B6}"/>
              </a:ext>
            </a:extLst>
          </p:cNvPr>
          <p:cNvPicPr/>
          <p:nvPr/>
        </p:nvPicPr>
        <p:blipFill>
          <a:blip r:embed="rId2"/>
          <a:stretch>
            <a:fillRect/>
          </a:stretch>
        </p:blipFill>
        <p:spPr>
          <a:xfrm>
            <a:off x="3032661" y="3934238"/>
            <a:ext cx="3642995" cy="2019300"/>
          </a:xfrm>
          <a:prstGeom prst="rect">
            <a:avLst/>
          </a:prstGeom>
          <a:ln w="88900" cap="sq" cmpd="thickThin">
            <a:solidFill>
              <a:srgbClr val="000000"/>
            </a:solidFill>
            <a:prstDash val="solid"/>
            <a:miter lim="800000"/>
          </a:ln>
          <a:effectLst>
            <a:innerShdw blurRad="76200">
              <a:srgbClr val="000000"/>
            </a:innerShdw>
          </a:effectLst>
        </p:spPr>
      </p:pic>
      <p:sp>
        <p:nvSpPr>
          <p:cNvPr id="6" name="Marcador de contenido 2">
            <a:extLst>
              <a:ext uri="{FF2B5EF4-FFF2-40B4-BE49-F238E27FC236}">
                <a16:creationId xmlns:a16="http://schemas.microsoft.com/office/drawing/2014/main" id="{9CC9B77B-CD95-772B-0729-C072B54FF92D}"/>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2324416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normAutofit/>
          </a:bodyPr>
          <a:lstStyle/>
          <a:p>
            <a:br>
              <a:rPr lang="es-MX" dirty="0"/>
            </a:br>
            <a:r>
              <a:rPr lang="es-MX" dirty="0"/>
              <a:t>2.1.1 GENERACIÓN DEL MODELO</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330832" y="2000185"/>
            <a:ext cx="8796292" cy="637507"/>
          </a:xfrm>
        </p:spPr>
        <p:txBody>
          <a:bodyPr>
            <a:normAutofit/>
          </a:bodyPr>
          <a:lstStyle/>
          <a:p>
            <a:r>
              <a:rPr lang="es-MX" dirty="0">
                <a:solidFill>
                  <a:schemeClr val="tx1"/>
                </a:solidFill>
              </a:rPr>
              <a:t>En la siguiente ventana se seleccionan las clases a importar.</a:t>
            </a:r>
            <a:endParaRPr lang="es-ES" dirty="0">
              <a:solidFill>
                <a:schemeClr val="tx1"/>
              </a:solidFill>
            </a:endParaRPr>
          </a:p>
        </p:txBody>
      </p:sp>
      <p:sp>
        <p:nvSpPr>
          <p:cNvPr id="8" name="CuadroTexto 7">
            <a:extLst>
              <a:ext uri="{FF2B5EF4-FFF2-40B4-BE49-F238E27FC236}">
                <a16:creationId xmlns:a16="http://schemas.microsoft.com/office/drawing/2014/main" id="{639F4E64-9CD8-4F70-B165-9D659FB1A15B}"/>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14</a:t>
            </a:r>
          </a:p>
        </p:txBody>
      </p:sp>
      <p:sp>
        <p:nvSpPr>
          <p:cNvPr id="9" name="CuadroTexto 8">
            <a:extLst>
              <a:ext uri="{FF2B5EF4-FFF2-40B4-BE49-F238E27FC236}">
                <a16:creationId xmlns:a16="http://schemas.microsoft.com/office/drawing/2014/main" id="{55FDE648-0B67-E308-709B-05615B2A2CAD}"/>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16</a:t>
            </a:r>
          </a:p>
        </p:txBody>
      </p:sp>
      <p:grpSp>
        <p:nvGrpSpPr>
          <p:cNvPr id="5" name="Grupo 4">
            <a:extLst>
              <a:ext uri="{FF2B5EF4-FFF2-40B4-BE49-F238E27FC236}">
                <a16:creationId xmlns:a16="http://schemas.microsoft.com/office/drawing/2014/main" id="{415C9D57-CD28-15C0-5722-5013E2CC277A}"/>
              </a:ext>
            </a:extLst>
          </p:cNvPr>
          <p:cNvGrpSpPr/>
          <p:nvPr/>
        </p:nvGrpSpPr>
        <p:grpSpPr>
          <a:xfrm>
            <a:off x="9127125" y="0"/>
            <a:ext cx="3092950" cy="6858000"/>
            <a:chOff x="9127125" y="0"/>
            <a:chExt cx="3092950" cy="6858000"/>
          </a:xfrm>
        </p:grpSpPr>
        <p:sp>
          <p:nvSpPr>
            <p:cNvPr id="6" name="Marcador de contenido 2">
              <a:extLst>
                <a:ext uri="{FF2B5EF4-FFF2-40B4-BE49-F238E27FC236}">
                  <a16:creationId xmlns:a16="http://schemas.microsoft.com/office/drawing/2014/main" id="{1AD76CCF-4CC8-977C-834A-539575D627B2}"/>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b="1" dirty="0">
                  <a:solidFill>
                    <a:srgbClr val="FFFF00"/>
                  </a:solidFill>
                </a:rPr>
                <a:t>1.4 	CREACIÓN DE LOS SERVICIOS</a:t>
              </a:r>
            </a:p>
            <a:p>
              <a:pPr lvl="2">
                <a:spcBef>
                  <a:spcPts val="0"/>
                </a:spcBef>
                <a:spcAft>
                  <a:spcPts val="0"/>
                </a:spcAft>
              </a:pPr>
              <a:r>
                <a:rPr lang="es-MX" sz="900" b="1" dirty="0">
                  <a:solidFill>
                    <a:srgbClr val="FFFF00"/>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7" name="CuadroTexto 6">
              <a:extLst>
                <a:ext uri="{FF2B5EF4-FFF2-40B4-BE49-F238E27FC236}">
                  <a16:creationId xmlns:a16="http://schemas.microsoft.com/office/drawing/2014/main" id="{3566652B-7F21-A2EE-366E-28AD39A59B84}"/>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20</a:t>
              </a:r>
            </a:p>
          </p:txBody>
        </p:sp>
      </p:grpSp>
      <p:pic>
        <p:nvPicPr>
          <p:cNvPr id="14" name="Imagen 13">
            <a:extLst>
              <a:ext uri="{FF2B5EF4-FFF2-40B4-BE49-F238E27FC236}">
                <a16:creationId xmlns:a16="http://schemas.microsoft.com/office/drawing/2014/main" id="{6F5ECC88-C4E7-4521-9925-42D3D5AAA741}"/>
              </a:ext>
            </a:extLst>
          </p:cNvPr>
          <p:cNvPicPr/>
          <p:nvPr/>
        </p:nvPicPr>
        <p:blipFill>
          <a:blip r:embed="rId2"/>
          <a:stretch>
            <a:fillRect/>
          </a:stretch>
        </p:blipFill>
        <p:spPr>
          <a:xfrm>
            <a:off x="2239546" y="2697420"/>
            <a:ext cx="5229225" cy="3729990"/>
          </a:xfrm>
          <a:prstGeom prst="rect">
            <a:avLst/>
          </a:prstGeom>
          <a:ln w="88900" cap="sq" cmpd="thickThin">
            <a:solidFill>
              <a:srgbClr val="000000"/>
            </a:solidFill>
            <a:prstDash val="solid"/>
            <a:miter lim="800000"/>
          </a:ln>
          <a:effectLst>
            <a:innerShdw blurRad="76200">
              <a:srgbClr val="000000"/>
            </a:innerShdw>
          </a:effectLst>
        </p:spPr>
      </p:pic>
      <p:sp>
        <p:nvSpPr>
          <p:cNvPr id="4" name="Marcador de contenido 2">
            <a:extLst>
              <a:ext uri="{FF2B5EF4-FFF2-40B4-BE49-F238E27FC236}">
                <a16:creationId xmlns:a16="http://schemas.microsoft.com/office/drawing/2014/main" id="{89D626DB-96CD-514F-3D99-6A5149DB252E}"/>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485068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normAutofit/>
          </a:bodyPr>
          <a:lstStyle/>
          <a:p>
            <a:br>
              <a:rPr lang="es-MX" dirty="0"/>
            </a:br>
            <a:r>
              <a:rPr lang="es-MX" dirty="0"/>
              <a:t>2.1.2 GENERACIÓN DE SERVICIOS</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471619" y="1840369"/>
            <a:ext cx="2400169" cy="3746043"/>
          </a:xfrm>
        </p:spPr>
        <p:txBody>
          <a:bodyPr>
            <a:normAutofit fontScale="85000" lnSpcReduction="10000"/>
          </a:bodyPr>
          <a:lstStyle/>
          <a:p>
            <a:r>
              <a:rPr lang="es-MX" dirty="0">
                <a:solidFill>
                  <a:schemeClr val="tx1"/>
                </a:solidFill>
              </a:rPr>
              <a:t>Una vez se ha desarrollado los modelos, se puede comenzar con la creación de los servicios SOAP, la razón de primero crear los modelos es que los servicios a desarrollar tendrán que consumir las entidades de la base de datos, para ello dar clic derecho sobre el proyecto y seleccionar nuevo y el tipo de archivo elegir a otro.</a:t>
            </a:r>
            <a:endParaRPr lang="es-ES" dirty="0">
              <a:solidFill>
                <a:schemeClr val="tx1"/>
              </a:solidFill>
            </a:endParaRPr>
          </a:p>
        </p:txBody>
      </p:sp>
      <p:sp>
        <p:nvSpPr>
          <p:cNvPr id="8" name="CuadroTexto 7">
            <a:extLst>
              <a:ext uri="{FF2B5EF4-FFF2-40B4-BE49-F238E27FC236}">
                <a16:creationId xmlns:a16="http://schemas.microsoft.com/office/drawing/2014/main" id="{639F4E64-9CD8-4F70-B165-9D659FB1A15B}"/>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14</a:t>
            </a:r>
          </a:p>
        </p:txBody>
      </p:sp>
      <p:sp>
        <p:nvSpPr>
          <p:cNvPr id="9" name="CuadroTexto 8">
            <a:extLst>
              <a:ext uri="{FF2B5EF4-FFF2-40B4-BE49-F238E27FC236}">
                <a16:creationId xmlns:a16="http://schemas.microsoft.com/office/drawing/2014/main" id="{55FDE648-0B67-E308-709B-05615B2A2CAD}"/>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16</a:t>
            </a:r>
          </a:p>
        </p:txBody>
      </p:sp>
      <p:grpSp>
        <p:nvGrpSpPr>
          <p:cNvPr id="5" name="Grupo 4">
            <a:extLst>
              <a:ext uri="{FF2B5EF4-FFF2-40B4-BE49-F238E27FC236}">
                <a16:creationId xmlns:a16="http://schemas.microsoft.com/office/drawing/2014/main" id="{1EE24485-933D-F378-001B-76331096988F}"/>
              </a:ext>
            </a:extLst>
          </p:cNvPr>
          <p:cNvGrpSpPr/>
          <p:nvPr/>
        </p:nvGrpSpPr>
        <p:grpSpPr>
          <a:xfrm>
            <a:off x="9127125" y="0"/>
            <a:ext cx="3092950" cy="6858000"/>
            <a:chOff x="9127125" y="0"/>
            <a:chExt cx="3092950" cy="6858000"/>
          </a:xfrm>
        </p:grpSpPr>
        <p:sp>
          <p:nvSpPr>
            <p:cNvPr id="6" name="Marcador de contenido 2">
              <a:extLst>
                <a:ext uri="{FF2B5EF4-FFF2-40B4-BE49-F238E27FC236}">
                  <a16:creationId xmlns:a16="http://schemas.microsoft.com/office/drawing/2014/main" id="{9B8063A6-B219-77B7-BC0B-97AE49F29942}"/>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b="1" dirty="0">
                  <a:solidFill>
                    <a:srgbClr val="FFFF00"/>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b="1" dirty="0">
                  <a:solidFill>
                    <a:srgbClr val="FFFF00"/>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7" name="CuadroTexto 6">
              <a:extLst>
                <a:ext uri="{FF2B5EF4-FFF2-40B4-BE49-F238E27FC236}">
                  <a16:creationId xmlns:a16="http://schemas.microsoft.com/office/drawing/2014/main" id="{75A25B94-332A-02EF-1759-DAC27FEFE92B}"/>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32</a:t>
              </a:r>
            </a:p>
          </p:txBody>
        </p:sp>
      </p:grpSp>
      <p:pic>
        <p:nvPicPr>
          <p:cNvPr id="12" name="Imagen 11">
            <a:extLst>
              <a:ext uri="{FF2B5EF4-FFF2-40B4-BE49-F238E27FC236}">
                <a16:creationId xmlns:a16="http://schemas.microsoft.com/office/drawing/2014/main" id="{59BB8386-BAF8-4973-95E6-EABD334604ED}"/>
              </a:ext>
            </a:extLst>
          </p:cNvPr>
          <p:cNvPicPr/>
          <p:nvPr/>
        </p:nvPicPr>
        <p:blipFill>
          <a:blip r:embed="rId2"/>
          <a:stretch>
            <a:fillRect/>
          </a:stretch>
        </p:blipFill>
        <p:spPr>
          <a:xfrm>
            <a:off x="3629025" y="2257425"/>
            <a:ext cx="4933950" cy="3571875"/>
          </a:xfrm>
          <a:prstGeom prst="rect">
            <a:avLst/>
          </a:prstGeom>
          <a:ln w="88900" cap="sq" cmpd="thickThin">
            <a:solidFill>
              <a:srgbClr val="000000"/>
            </a:solidFill>
            <a:prstDash val="solid"/>
            <a:miter lim="800000"/>
          </a:ln>
          <a:effectLst>
            <a:innerShdw blurRad="76200">
              <a:srgbClr val="000000"/>
            </a:innerShdw>
          </a:effectLst>
        </p:spPr>
      </p:pic>
      <p:sp>
        <p:nvSpPr>
          <p:cNvPr id="4" name="Marcador de contenido 2">
            <a:extLst>
              <a:ext uri="{FF2B5EF4-FFF2-40B4-BE49-F238E27FC236}">
                <a16:creationId xmlns:a16="http://schemas.microsoft.com/office/drawing/2014/main" id="{68931F1A-E544-99BB-5B7E-8CF93639A0BB}"/>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921534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normAutofit/>
          </a:bodyPr>
          <a:lstStyle/>
          <a:p>
            <a:br>
              <a:rPr lang="es-MX" dirty="0"/>
            </a:br>
            <a:r>
              <a:rPr lang="es-MX" dirty="0"/>
              <a:t>2.1.2 GENERACIÓN DEL SERVICIO</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471619" y="1840369"/>
            <a:ext cx="2400169" cy="3746043"/>
          </a:xfrm>
        </p:spPr>
        <p:txBody>
          <a:bodyPr>
            <a:normAutofit/>
          </a:bodyPr>
          <a:lstStyle/>
          <a:p>
            <a:r>
              <a:rPr lang="es-MX" dirty="0">
                <a:solidFill>
                  <a:schemeClr val="tx1"/>
                </a:solidFill>
              </a:rPr>
              <a:t>Buscar el tipo de archivo </a:t>
            </a:r>
            <a:r>
              <a:rPr lang="es-MX" dirty="0" err="1">
                <a:solidFill>
                  <a:schemeClr val="tx1"/>
                </a:solidFill>
              </a:rPr>
              <a:t>Restful</a:t>
            </a:r>
            <a:r>
              <a:rPr lang="es-MX" dirty="0">
                <a:solidFill>
                  <a:schemeClr val="tx1"/>
                </a:solidFill>
              </a:rPr>
              <a:t> Web </a:t>
            </a:r>
            <a:r>
              <a:rPr lang="es-MX" dirty="0" err="1">
                <a:solidFill>
                  <a:schemeClr val="tx1"/>
                </a:solidFill>
              </a:rPr>
              <a:t>Services</a:t>
            </a:r>
            <a:r>
              <a:rPr lang="es-MX" dirty="0">
                <a:solidFill>
                  <a:schemeClr val="tx1"/>
                </a:solidFill>
              </a:rPr>
              <a:t> </a:t>
            </a:r>
            <a:r>
              <a:rPr lang="es-MX" dirty="0" err="1">
                <a:solidFill>
                  <a:schemeClr val="tx1"/>
                </a:solidFill>
              </a:rPr>
              <a:t>from</a:t>
            </a:r>
            <a:r>
              <a:rPr lang="es-MX" dirty="0">
                <a:solidFill>
                  <a:schemeClr val="tx1"/>
                </a:solidFill>
              </a:rPr>
              <a:t> </a:t>
            </a:r>
            <a:r>
              <a:rPr lang="es-MX" dirty="0" err="1">
                <a:solidFill>
                  <a:schemeClr val="tx1"/>
                </a:solidFill>
              </a:rPr>
              <a:t>Patterns</a:t>
            </a:r>
            <a:r>
              <a:rPr lang="es-MX" dirty="0">
                <a:solidFill>
                  <a:schemeClr val="tx1"/>
                </a:solidFill>
              </a:rPr>
              <a:t>.</a:t>
            </a:r>
            <a:endParaRPr lang="es-ES" dirty="0">
              <a:solidFill>
                <a:schemeClr val="tx1"/>
              </a:solidFill>
            </a:endParaRPr>
          </a:p>
        </p:txBody>
      </p:sp>
      <p:sp>
        <p:nvSpPr>
          <p:cNvPr id="8" name="CuadroTexto 7">
            <a:extLst>
              <a:ext uri="{FF2B5EF4-FFF2-40B4-BE49-F238E27FC236}">
                <a16:creationId xmlns:a16="http://schemas.microsoft.com/office/drawing/2014/main" id="{639F4E64-9CD8-4F70-B165-9D659FB1A15B}"/>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14</a:t>
            </a:r>
          </a:p>
        </p:txBody>
      </p:sp>
      <p:sp>
        <p:nvSpPr>
          <p:cNvPr id="9" name="CuadroTexto 8">
            <a:extLst>
              <a:ext uri="{FF2B5EF4-FFF2-40B4-BE49-F238E27FC236}">
                <a16:creationId xmlns:a16="http://schemas.microsoft.com/office/drawing/2014/main" id="{55FDE648-0B67-E308-709B-05615B2A2CAD}"/>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16</a:t>
            </a:r>
          </a:p>
        </p:txBody>
      </p:sp>
      <p:grpSp>
        <p:nvGrpSpPr>
          <p:cNvPr id="4" name="Grupo 3">
            <a:extLst>
              <a:ext uri="{FF2B5EF4-FFF2-40B4-BE49-F238E27FC236}">
                <a16:creationId xmlns:a16="http://schemas.microsoft.com/office/drawing/2014/main" id="{10B4A1A7-3351-1F1F-23A4-5FA2A51E99CC}"/>
              </a:ext>
            </a:extLst>
          </p:cNvPr>
          <p:cNvGrpSpPr/>
          <p:nvPr/>
        </p:nvGrpSpPr>
        <p:grpSpPr>
          <a:xfrm>
            <a:off x="9127125" y="0"/>
            <a:ext cx="3092950" cy="6858000"/>
            <a:chOff x="9127125" y="0"/>
            <a:chExt cx="3092950" cy="6858000"/>
          </a:xfrm>
        </p:grpSpPr>
        <p:sp>
          <p:nvSpPr>
            <p:cNvPr id="6" name="Marcador de contenido 2">
              <a:extLst>
                <a:ext uri="{FF2B5EF4-FFF2-40B4-BE49-F238E27FC236}">
                  <a16:creationId xmlns:a16="http://schemas.microsoft.com/office/drawing/2014/main" id="{60D865F2-1D51-9071-1A77-B4D1DCE2533B}"/>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b="1" dirty="0">
                  <a:solidFill>
                    <a:srgbClr val="FFFF00"/>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b="1" dirty="0">
                  <a:solidFill>
                    <a:srgbClr val="FFFF00"/>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b="1" dirty="0">
                  <a:solidFill>
                    <a:srgbClr val="FFFF00"/>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7" name="CuadroTexto 6">
              <a:extLst>
                <a:ext uri="{FF2B5EF4-FFF2-40B4-BE49-F238E27FC236}">
                  <a16:creationId xmlns:a16="http://schemas.microsoft.com/office/drawing/2014/main" id="{5A5BCFDC-2E06-630E-0C14-7AA8BC737E85}"/>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33</a:t>
              </a:r>
            </a:p>
          </p:txBody>
        </p:sp>
      </p:grpSp>
      <p:pic>
        <p:nvPicPr>
          <p:cNvPr id="11" name="Imagen 10">
            <a:extLst>
              <a:ext uri="{FF2B5EF4-FFF2-40B4-BE49-F238E27FC236}">
                <a16:creationId xmlns:a16="http://schemas.microsoft.com/office/drawing/2014/main" id="{77D0AFBE-0CFF-4800-BAF4-3061D1BAD8C2}"/>
              </a:ext>
            </a:extLst>
          </p:cNvPr>
          <p:cNvPicPr/>
          <p:nvPr/>
        </p:nvPicPr>
        <p:blipFill>
          <a:blip r:embed="rId2"/>
          <a:stretch>
            <a:fillRect/>
          </a:stretch>
        </p:blipFill>
        <p:spPr>
          <a:xfrm>
            <a:off x="3516947" y="2418112"/>
            <a:ext cx="5158105" cy="3581400"/>
          </a:xfrm>
          <a:prstGeom prst="rect">
            <a:avLst/>
          </a:prstGeom>
          <a:ln w="88900" cap="sq" cmpd="thickThin">
            <a:solidFill>
              <a:srgbClr val="000000"/>
            </a:solidFill>
            <a:prstDash val="solid"/>
            <a:miter lim="800000"/>
          </a:ln>
          <a:effectLst>
            <a:innerShdw blurRad="76200">
              <a:srgbClr val="000000"/>
            </a:innerShdw>
          </a:effectLst>
        </p:spPr>
      </p:pic>
      <p:sp>
        <p:nvSpPr>
          <p:cNvPr id="5" name="Marcador de contenido 2">
            <a:extLst>
              <a:ext uri="{FF2B5EF4-FFF2-40B4-BE49-F238E27FC236}">
                <a16:creationId xmlns:a16="http://schemas.microsoft.com/office/drawing/2014/main" id="{3C66C812-078E-E64B-926F-B82344C4852A}"/>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545840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normAutofit/>
          </a:bodyPr>
          <a:lstStyle/>
          <a:p>
            <a:r>
              <a:rPr lang="es-MX" dirty="0"/>
              <a:t>2.	EJECUCIÓN DEL PROYECTO</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471619" y="1840369"/>
            <a:ext cx="2943094" cy="4315475"/>
          </a:xfrm>
        </p:spPr>
        <p:txBody>
          <a:bodyPr>
            <a:normAutofit/>
          </a:bodyPr>
          <a:lstStyle/>
          <a:p>
            <a:r>
              <a:rPr lang="es-MX" dirty="0">
                <a:solidFill>
                  <a:schemeClr val="tx1"/>
                </a:solidFill>
              </a:rPr>
              <a:t>Al ejecutar el cliente se muestra la ventana de la aplicación</a:t>
            </a:r>
            <a:endParaRPr lang="es-ES" dirty="0">
              <a:solidFill>
                <a:schemeClr val="tx1"/>
              </a:solidFill>
            </a:endParaRPr>
          </a:p>
        </p:txBody>
      </p:sp>
      <p:sp>
        <p:nvSpPr>
          <p:cNvPr id="8" name="CuadroTexto 7">
            <a:extLst>
              <a:ext uri="{FF2B5EF4-FFF2-40B4-BE49-F238E27FC236}">
                <a16:creationId xmlns:a16="http://schemas.microsoft.com/office/drawing/2014/main" id="{639F4E64-9CD8-4F70-B165-9D659FB1A15B}"/>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14</a:t>
            </a:r>
          </a:p>
        </p:txBody>
      </p:sp>
      <p:sp>
        <p:nvSpPr>
          <p:cNvPr id="9" name="CuadroTexto 8">
            <a:extLst>
              <a:ext uri="{FF2B5EF4-FFF2-40B4-BE49-F238E27FC236}">
                <a16:creationId xmlns:a16="http://schemas.microsoft.com/office/drawing/2014/main" id="{55FDE648-0B67-E308-709B-05615B2A2CAD}"/>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16</a:t>
            </a:r>
          </a:p>
        </p:txBody>
      </p:sp>
      <p:grpSp>
        <p:nvGrpSpPr>
          <p:cNvPr id="5" name="Grupo 4">
            <a:extLst>
              <a:ext uri="{FF2B5EF4-FFF2-40B4-BE49-F238E27FC236}">
                <a16:creationId xmlns:a16="http://schemas.microsoft.com/office/drawing/2014/main" id="{90F93386-4C79-0E4C-DC03-F1BEC2BA7EC8}"/>
              </a:ext>
            </a:extLst>
          </p:cNvPr>
          <p:cNvGrpSpPr/>
          <p:nvPr/>
        </p:nvGrpSpPr>
        <p:grpSpPr>
          <a:xfrm>
            <a:off x="9127125" y="0"/>
            <a:ext cx="3092950" cy="6858000"/>
            <a:chOff x="9127125" y="0"/>
            <a:chExt cx="3092950" cy="6858000"/>
          </a:xfrm>
        </p:grpSpPr>
        <p:sp>
          <p:nvSpPr>
            <p:cNvPr id="6" name="Marcador de contenido 2">
              <a:extLst>
                <a:ext uri="{FF2B5EF4-FFF2-40B4-BE49-F238E27FC236}">
                  <a16:creationId xmlns:a16="http://schemas.microsoft.com/office/drawing/2014/main" id="{69640CEB-0387-F054-9588-539AE633F67E}"/>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dirty="0">
                  <a:solidFill>
                    <a:schemeClr val="bg1"/>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b="1" dirty="0">
                  <a:solidFill>
                    <a:srgbClr val="FFFF00"/>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dirty="0">
                  <a:solidFill>
                    <a:schemeClr val="bg1"/>
                  </a:solidFill>
                </a:rPr>
                <a:t>4	RECOMENDACIONES</a:t>
              </a:r>
            </a:p>
          </p:txBody>
        </p:sp>
        <p:sp>
          <p:nvSpPr>
            <p:cNvPr id="7" name="CuadroTexto 6">
              <a:extLst>
                <a:ext uri="{FF2B5EF4-FFF2-40B4-BE49-F238E27FC236}">
                  <a16:creationId xmlns:a16="http://schemas.microsoft.com/office/drawing/2014/main" id="{136E8B5E-5FD5-2353-CB70-60E2B4D6EAA6}"/>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89</a:t>
              </a:r>
            </a:p>
          </p:txBody>
        </p:sp>
      </p:grpSp>
      <p:pic>
        <p:nvPicPr>
          <p:cNvPr id="12" name="Imagen 11">
            <a:extLst>
              <a:ext uri="{FF2B5EF4-FFF2-40B4-BE49-F238E27FC236}">
                <a16:creationId xmlns:a16="http://schemas.microsoft.com/office/drawing/2014/main" id="{80E9C4B5-C810-46FA-810E-5E6959B8E29F}"/>
              </a:ext>
            </a:extLst>
          </p:cNvPr>
          <p:cNvPicPr/>
          <p:nvPr/>
        </p:nvPicPr>
        <p:blipFill>
          <a:blip r:embed="rId2"/>
          <a:stretch>
            <a:fillRect/>
          </a:stretch>
        </p:blipFill>
        <p:spPr>
          <a:xfrm>
            <a:off x="3576637" y="2342832"/>
            <a:ext cx="5038725" cy="2172335"/>
          </a:xfrm>
          <a:prstGeom prst="rect">
            <a:avLst/>
          </a:prstGeom>
          <a:ln w="88900" cap="sq" cmpd="thickThin">
            <a:solidFill>
              <a:srgbClr val="000000"/>
            </a:solidFill>
            <a:prstDash val="solid"/>
            <a:miter lim="800000"/>
          </a:ln>
          <a:effectLst>
            <a:innerShdw blurRad="76200">
              <a:srgbClr val="000000"/>
            </a:innerShdw>
          </a:effectLst>
        </p:spPr>
      </p:pic>
      <p:pic>
        <p:nvPicPr>
          <p:cNvPr id="13" name="Imagen 12">
            <a:extLst>
              <a:ext uri="{FF2B5EF4-FFF2-40B4-BE49-F238E27FC236}">
                <a16:creationId xmlns:a16="http://schemas.microsoft.com/office/drawing/2014/main" id="{095E6710-6E30-4989-A27E-48923B75BFCC}"/>
              </a:ext>
            </a:extLst>
          </p:cNvPr>
          <p:cNvPicPr/>
          <p:nvPr/>
        </p:nvPicPr>
        <p:blipFill>
          <a:blip r:embed="rId3"/>
          <a:stretch>
            <a:fillRect/>
          </a:stretch>
        </p:blipFill>
        <p:spPr>
          <a:xfrm>
            <a:off x="3557587" y="4873247"/>
            <a:ext cx="5057775" cy="1656080"/>
          </a:xfrm>
          <a:prstGeom prst="rect">
            <a:avLst/>
          </a:prstGeom>
          <a:ln w="88900" cap="sq" cmpd="thickThin">
            <a:solidFill>
              <a:srgbClr val="000000"/>
            </a:solidFill>
            <a:prstDash val="solid"/>
            <a:miter lim="800000"/>
          </a:ln>
          <a:effectLst>
            <a:innerShdw blurRad="76200">
              <a:srgbClr val="000000"/>
            </a:innerShdw>
          </a:effectLst>
        </p:spPr>
      </p:pic>
      <p:sp>
        <p:nvSpPr>
          <p:cNvPr id="4" name="Marcador de contenido 2">
            <a:extLst>
              <a:ext uri="{FF2B5EF4-FFF2-40B4-BE49-F238E27FC236}">
                <a16:creationId xmlns:a16="http://schemas.microsoft.com/office/drawing/2014/main" id="{CB40D8DC-BC24-745E-01DE-90AD1F229531}"/>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787885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lstStyle/>
          <a:p>
            <a:r>
              <a:rPr lang="es-ES" dirty="0"/>
              <a:t>3.	CONCLUSIONES</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581193" y="2180496"/>
            <a:ext cx="8176728" cy="4445156"/>
          </a:xfrm>
        </p:spPr>
        <p:txBody>
          <a:bodyPr>
            <a:normAutofit fontScale="92500" lnSpcReduction="10000"/>
          </a:bodyPr>
          <a:lstStyle/>
          <a:p>
            <a:r>
              <a:rPr lang="es-MX" sz="2000" dirty="0">
                <a:solidFill>
                  <a:schemeClr val="tx1"/>
                </a:solidFill>
              </a:rPr>
              <a:t>La implementación de una aplicación de venta de boletos basada en servicios web SOAP y bases de datos en la nube demuestra ser una solución eficiente para proporcionar a los usuarios un acceso rápido y conveniente a la compra de boletos para eventos deportivos. Esta eficiencia se traduce en una experiencia positiva para el cliente, lo que puede aumentar las ventas y la satisfacción del usuario.</a:t>
            </a:r>
          </a:p>
          <a:p>
            <a:r>
              <a:rPr lang="es-MX" sz="2000" dirty="0">
                <a:solidFill>
                  <a:schemeClr val="tx1"/>
                </a:solidFill>
              </a:rPr>
              <a:t>La utilización de servicios web SOAP permite una fácil integración de datos con múltiples fuentes, como información sobre partidos, disponibilidad de boletos y métodos de pago. Esto simplifica la gestión de la aplicación y garantiza que los datos estén actualizados y precisos.</a:t>
            </a:r>
          </a:p>
          <a:p>
            <a:r>
              <a:rPr lang="es-MX" sz="2000" dirty="0">
                <a:solidFill>
                  <a:schemeClr val="tx1"/>
                </a:solidFill>
              </a:rPr>
              <a:t>La aplicación cliente web proporciona acceso a los usuarios desde cualquier lugar con conexión a Internet. Esto amplía significativamente la audiencia potencial y facilita que los aficionados compren boletos incluso si no se encuentran físicamente cerca del lugar del evento.</a:t>
            </a:r>
          </a:p>
          <a:p>
            <a:r>
              <a:rPr lang="es-MX" sz="2000" dirty="0">
                <a:solidFill>
                  <a:schemeClr val="tx1"/>
                </a:solidFill>
              </a:rPr>
              <a:t>.</a:t>
            </a:r>
          </a:p>
        </p:txBody>
      </p:sp>
      <p:sp>
        <p:nvSpPr>
          <p:cNvPr id="7" name="CuadroTexto 6">
            <a:extLst>
              <a:ext uri="{FF2B5EF4-FFF2-40B4-BE49-F238E27FC236}">
                <a16:creationId xmlns:a16="http://schemas.microsoft.com/office/drawing/2014/main" id="{A978D314-FD9C-4669-B7FA-7E06DC6557EA}"/>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35</a:t>
            </a:r>
          </a:p>
        </p:txBody>
      </p:sp>
      <p:sp>
        <p:nvSpPr>
          <p:cNvPr id="6" name="CuadroTexto 5">
            <a:extLst>
              <a:ext uri="{FF2B5EF4-FFF2-40B4-BE49-F238E27FC236}">
                <a16:creationId xmlns:a16="http://schemas.microsoft.com/office/drawing/2014/main" id="{B9D2180F-E919-7097-AEF7-12B76A381346}"/>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26</a:t>
            </a:r>
          </a:p>
        </p:txBody>
      </p:sp>
      <p:grpSp>
        <p:nvGrpSpPr>
          <p:cNvPr id="4" name="Grupo 3">
            <a:extLst>
              <a:ext uri="{FF2B5EF4-FFF2-40B4-BE49-F238E27FC236}">
                <a16:creationId xmlns:a16="http://schemas.microsoft.com/office/drawing/2014/main" id="{969A6B1C-7AE7-414E-DFC0-BF71EF8E046E}"/>
              </a:ext>
            </a:extLst>
          </p:cNvPr>
          <p:cNvGrpSpPr/>
          <p:nvPr/>
        </p:nvGrpSpPr>
        <p:grpSpPr>
          <a:xfrm>
            <a:off x="9127125" y="0"/>
            <a:ext cx="3092950" cy="6858000"/>
            <a:chOff x="9127125" y="0"/>
            <a:chExt cx="3092950" cy="6858000"/>
          </a:xfrm>
        </p:grpSpPr>
        <p:sp>
          <p:nvSpPr>
            <p:cNvPr id="5" name="Marcador de contenido 2">
              <a:extLst>
                <a:ext uri="{FF2B5EF4-FFF2-40B4-BE49-F238E27FC236}">
                  <a16:creationId xmlns:a16="http://schemas.microsoft.com/office/drawing/2014/main" id="{5AFB2134-DBB6-0AF1-DE9D-D652F8E87D64}"/>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dirty="0">
                  <a:solidFill>
                    <a:schemeClr val="bg1"/>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b="1" dirty="0">
                  <a:solidFill>
                    <a:srgbClr val="FFFF00"/>
                  </a:solidFill>
                </a:rPr>
                <a:t>3	CONCLUSIONES</a:t>
              </a:r>
            </a:p>
            <a:p>
              <a:pPr>
                <a:spcBef>
                  <a:spcPts val="0"/>
                </a:spcBef>
                <a:spcAft>
                  <a:spcPts val="0"/>
                </a:spcAft>
              </a:pPr>
              <a:r>
                <a:rPr lang="es-ES" sz="900" dirty="0">
                  <a:solidFill>
                    <a:schemeClr val="bg1"/>
                  </a:solidFill>
                </a:rPr>
                <a:t>4	RECOMENDACIONES</a:t>
              </a:r>
            </a:p>
          </p:txBody>
        </p:sp>
        <p:sp>
          <p:nvSpPr>
            <p:cNvPr id="8" name="CuadroTexto 7">
              <a:extLst>
                <a:ext uri="{FF2B5EF4-FFF2-40B4-BE49-F238E27FC236}">
                  <a16:creationId xmlns:a16="http://schemas.microsoft.com/office/drawing/2014/main" id="{E1A66D8A-69CA-589B-5999-A32CE2F7CCF9}"/>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94</a:t>
              </a:r>
            </a:p>
          </p:txBody>
        </p:sp>
      </p:grpSp>
      <p:sp>
        <p:nvSpPr>
          <p:cNvPr id="9" name="Marcador de contenido 2">
            <a:extLst>
              <a:ext uri="{FF2B5EF4-FFF2-40B4-BE49-F238E27FC236}">
                <a16:creationId xmlns:a16="http://schemas.microsoft.com/office/drawing/2014/main" id="{A9514E3A-5F03-6203-C7EF-E460CD41D332}"/>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1519690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E15FD-12A3-48E0-B51D-9B86D68183DA}"/>
              </a:ext>
            </a:extLst>
          </p:cNvPr>
          <p:cNvSpPr>
            <a:spLocks noGrp="1"/>
          </p:cNvSpPr>
          <p:nvPr>
            <p:ph type="title"/>
          </p:nvPr>
        </p:nvSpPr>
        <p:spPr/>
        <p:txBody>
          <a:bodyPr/>
          <a:lstStyle/>
          <a:p>
            <a:r>
              <a:rPr lang="es-ES" dirty="0"/>
              <a:t>4	RECOMENDACIONES</a:t>
            </a:r>
          </a:p>
        </p:txBody>
      </p:sp>
      <p:sp>
        <p:nvSpPr>
          <p:cNvPr id="3" name="Marcador de contenido 2">
            <a:extLst>
              <a:ext uri="{FF2B5EF4-FFF2-40B4-BE49-F238E27FC236}">
                <a16:creationId xmlns:a16="http://schemas.microsoft.com/office/drawing/2014/main" id="{5C9CE18C-31CA-4412-9E0A-0A8F15F02B0F}"/>
              </a:ext>
            </a:extLst>
          </p:cNvPr>
          <p:cNvSpPr>
            <a:spLocks noGrp="1"/>
          </p:cNvSpPr>
          <p:nvPr>
            <p:ph idx="1"/>
          </p:nvPr>
        </p:nvSpPr>
        <p:spPr>
          <a:xfrm>
            <a:off x="581193" y="2180496"/>
            <a:ext cx="8176728" cy="4277394"/>
          </a:xfrm>
        </p:spPr>
        <p:txBody>
          <a:bodyPr>
            <a:normAutofit/>
          </a:bodyPr>
          <a:lstStyle/>
          <a:p>
            <a:r>
              <a:rPr lang="es-MX" dirty="0">
                <a:solidFill>
                  <a:schemeClr val="tx1"/>
                </a:solidFill>
              </a:rPr>
              <a:t>Se recomienda tener bien claro los conceptos de los elementos utilizados en el programa antes de desarrollar un proyecto con los mismos, puesto que se pueden utilizar métodos innecesarios o funciones que pueden ocasionar problemas a futuro. </a:t>
            </a:r>
          </a:p>
          <a:p>
            <a:r>
              <a:rPr lang="es-MX" dirty="0">
                <a:solidFill>
                  <a:schemeClr val="tx1"/>
                </a:solidFill>
              </a:rPr>
              <a:t>Se recomienda tener cuidado al momento de realizar el cambio de nombre de alguna función sobre todo en el controlador ya que un cambio en el controlador puede tener la capacidad de afectar a todo el proyecto, así como al momento de realizar la configuración de las rutas de inicio del proyecto</a:t>
            </a:r>
          </a:p>
          <a:p>
            <a:pPr marL="0" indent="0">
              <a:buNone/>
            </a:pPr>
            <a:endParaRPr lang="es-MX" dirty="0">
              <a:solidFill>
                <a:schemeClr val="tx1"/>
              </a:solidFill>
            </a:endParaRPr>
          </a:p>
        </p:txBody>
      </p:sp>
      <p:sp>
        <p:nvSpPr>
          <p:cNvPr id="6" name="CuadroTexto 5">
            <a:extLst>
              <a:ext uri="{FF2B5EF4-FFF2-40B4-BE49-F238E27FC236}">
                <a16:creationId xmlns:a16="http://schemas.microsoft.com/office/drawing/2014/main" id="{4236A358-5F4F-4723-B839-023BA1F1C54C}"/>
              </a:ext>
            </a:extLst>
          </p:cNvPr>
          <p:cNvSpPr txBox="1"/>
          <p:nvPr/>
        </p:nvSpPr>
        <p:spPr>
          <a:xfrm>
            <a:off x="11704320" y="6427410"/>
            <a:ext cx="467361" cy="400110"/>
          </a:xfrm>
          <a:prstGeom prst="rect">
            <a:avLst/>
          </a:prstGeom>
          <a:noFill/>
        </p:spPr>
        <p:txBody>
          <a:bodyPr wrap="square" rtlCol="0">
            <a:spAutoFit/>
          </a:bodyPr>
          <a:lstStyle/>
          <a:p>
            <a:r>
              <a:rPr lang="es-EC" sz="2000">
                <a:solidFill>
                  <a:schemeClr val="bg1"/>
                </a:solidFill>
              </a:rPr>
              <a:t>36</a:t>
            </a:r>
          </a:p>
        </p:txBody>
      </p:sp>
      <p:sp>
        <p:nvSpPr>
          <p:cNvPr id="7" name="CuadroTexto 6">
            <a:extLst>
              <a:ext uri="{FF2B5EF4-FFF2-40B4-BE49-F238E27FC236}">
                <a16:creationId xmlns:a16="http://schemas.microsoft.com/office/drawing/2014/main" id="{5FA19C3D-49B4-8AC7-56FC-62A2BB03D988}"/>
              </a:ext>
            </a:extLst>
          </p:cNvPr>
          <p:cNvSpPr txBox="1"/>
          <p:nvPr/>
        </p:nvSpPr>
        <p:spPr>
          <a:xfrm>
            <a:off x="11713581" y="6457890"/>
            <a:ext cx="478420" cy="400110"/>
          </a:xfrm>
          <a:prstGeom prst="rect">
            <a:avLst/>
          </a:prstGeom>
          <a:noFill/>
        </p:spPr>
        <p:txBody>
          <a:bodyPr wrap="square" rtlCol="0">
            <a:spAutoFit/>
          </a:bodyPr>
          <a:lstStyle/>
          <a:p>
            <a:r>
              <a:rPr lang="es-EC" sz="2000">
                <a:solidFill>
                  <a:schemeClr val="bg1"/>
                </a:solidFill>
              </a:rPr>
              <a:t>27</a:t>
            </a:r>
          </a:p>
        </p:txBody>
      </p:sp>
      <p:grpSp>
        <p:nvGrpSpPr>
          <p:cNvPr id="4" name="Grupo 3">
            <a:extLst>
              <a:ext uri="{FF2B5EF4-FFF2-40B4-BE49-F238E27FC236}">
                <a16:creationId xmlns:a16="http://schemas.microsoft.com/office/drawing/2014/main" id="{9D2A8873-1CB9-20F1-0D0D-0BA7789833C6}"/>
              </a:ext>
            </a:extLst>
          </p:cNvPr>
          <p:cNvGrpSpPr/>
          <p:nvPr/>
        </p:nvGrpSpPr>
        <p:grpSpPr>
          <a:xfrm>
            <a:off x="9127125" y="0"/>
            <a:ext cx="3092950" cy="6858000"/>
            <a:chOff x="9127125" y="0"/>
            <a:chExt cx="3092950" cy="6858000"/>
          </a:xfrm>
        </p:grpSpPr>
        <p:sp>
          <p:nvSpPr>
            <p:cNvPr id="5" name="Marcador de contenido 2">
              <a:extLst>
                <a:ext uri="{FF2B5EF4-FFF2-40B4-BE49-F238E27FC236}">
                  <a16:creationId xmlns:a16="http://schemas.microsoft.com/office/drawing/2014/main" id="{DF9BC6F6-9884-C229-CED2-7D3B6D3F2A74}"/>
                </a:ext>
              </a:extLst>
            </p:cNvPr>
            <p:cNvSpPr txBox="1">
              <a:spLocks/>
            </p:cNvSpPr>
            <p:nvPr/>
          </p:nvSpPr>
          <p:spPr>
            <a:xfrm>
              <a:off x="9127125" y="0"/>
              <a:ext cx="3064875"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900" dirty="0">
                  <a:solidFill>
                    <a:schemeClr val="bg1"/>
                  </a:solidFill>
                </a:rPr>
                <a:t>1	DESARROLLO</a:t>
              </a:r>
            </a:p>
            <a:p>
              <a:pPr lvl="1">
                <a:spcBef>
                  <a:spcPts val="0"/>
                </a:spcBef>
                <a:spcAft>
                  <a:spcPts val="0"/>
                </a:spcAft>
              </a:pPr>
              <a:r>
                <a:rPr lang="es-ES" sz="900" dirty="0">
                  <a:solidFill>
                    <a:schemeClr val="bg1"/>
                  </a:solidFill>
                </a:rPr>
                <a:t>1.1	</a:t>
              </a:r>
              <a:r>
                <a:rPr lang="es-EC" sz="900" dirty="0">
                  <a:solidFill>
                    <a:schemeClr val="bg1"/>
                  </a:solidFill>
                </a:rPr>
                <a:t>CREACIÓN DE LA BASE DE DATOS</a:t>
              </a:r>
            </a:p>
            <a:p>
              <a:pPr lvl="1">
                <a:spcBef>
                  <a:spcPts val="0"/>
                </a:spcBef>
                <a:spcAft>
                  <a:spcPts val="0"/>
                </a:spcAft>
              </a:pPr>
              <a:r>
                <a:rPr lang="es-ES" sz="900" dirty="0">
                  <a:solidFill>
                    <a:schemeClr val="bg1"/>
                  </a:solidFill>
                </a:rPr>
                <a:t>1.2	</a:t>
              </a:r>
              <a:r>
                <a:rPr lang="es-MX" sz="900" dirty="0">
                  <a:solidFill>
                    <a:schemeClr val="bg1"/>
                  </a:solidFill>
                </a:rPr>
                <a:t>CREACIÓN DEL SERVIDOR.</a:t>
              </a:r>
            </a:p>
            <a:p>
              <a:pPr lvl="1">
                <a:spcBef>
                  <a:spcPts val="0"/>
                </a:spcBef>
                <a:spcAft>
                  <a:spcPts val="0"/>
                </a:spcAft>
              </a:pPr>
              <a:r>
                <a:rPr lang="es-MX" sz="900" dirty="0">
                  <a:solidFill>
                    <a:schemeClr val="bg1"/>
                  </a:solidFill>
                </a:rPr>
                <a:t>1.3 	ESTRUCTURA MVC</a:t>
              </a:r>
              <a:endParaRPr lang="es-MX" sz="900" dirty="0">
                <a:solidFill>
                  <a:srgbClr val="FFFF00"/>
                </a:solidFill>
              </a:endParaRPr>
            </a:p>
            <a:p>
              <a:pPr lvl="1">
                <a:spcBef>
                  <a:spcPts val="0"/>
                </a:spcBef>
                <a:spcAft>
                  <a:spcPts val="0"/>
                </a:spcAft>
              </a:pPr>
              <a:r>
                <a:rPr lang="es-MX" sz="900" dirty="0">
                  <a:solidFill>
                    <a:schemeClr val="bg1"/>
                  </a:solidFill>
                </a:rPr>
                <a:t>1.4 	CREACIÓN DE LOS SERVICIOS</a:t>
              </a:r>
            </a:p>
            <a:p>
              <a:pPr lvl="2">
                <a:spcBef>
                  <a:spcPts val="0"/>
                </a:spcBef>
                <a:spcAft>
                  <a:spcPts val="0"/>
                </a:spcAft>
              </a:pPr>
              <a:r>
                <a:rPr lang="es-MX" sz="900" dirty="0">
                  <a:solidFill>
                    <a:schemeClr val="bg1"/>
                  </a:solidFill>
                </a:rPr>
                <a:t>1.4.1 GENERACIÓN DEL MODELO</a:t>
              </a:r>
            </a:p>
            <a:p>
              <a:pPr lvl="2">
                <a:spcBef>
                  <a:spcPts val="0"/>
                </a:spcBef>
                <a:spcAft>
                  <a:spcPts val="0"/>
                </a:spcAft>
              </a:pPr>
              <a:r>
                <a:rPr lang="es-MX" sz="900" dirty="0">
                  <a:solidFill>
                    <a:schemeClr val="bg1"/>
                  </a:solidFill>
                </a:rPr>
                <a:t>1.4.2 GENERACIÓN DEL SERVICIO</a:t>
              </a:r>
            </a:p>
            <a:p>
              <a:pPr lvl="1">
                <a:spcBef>
                  <a:spcPts val="0"/>
                </a:spcBef>
                <a:spcAft>
                  <a:spcPts val="0"/>
                </a:spcAft>
              </a:pPr>
              <a:r>
                <a:rPr lang="es-EC" sz="900" dirty="0">
                  <a:solidFill>
                    <a:schemeClr val="bg1"/>
                  </a:solidFill>
                </a:rPr>
                <a:t>1.5 CREACIÓN DEL CLIENTE WEB</a:t>
              </a:r>
            </a:p>
            <a:p>
              <a:pPr lvl="2">
                <a:spcBef>
                  <a:spcPts val="0"/>
                </a:spcBef>
                <a:spcAft>
                  <a:spcPts val="0"/>
                </a:spcAft>
              </a:pPr>
              <a:r>
                <a:rPr lang="es-MX" sz="900" dirty="0">
                  <a:solidFill>
                    <a:schemeClr val="bg1"/>
                  </a:solidFill>
                </a:rPr>
                <a:t>1.5.1 CREACIÓN DEL PROYECTO</a:t>
              </a:r>
            </a:p>
            <a:p>
              <a:pPr lvl="2">
                <a:spcBef>
                  <a:spcPts val="0"/>
                </a:spcBef>
                <a:spcAft>
                  <a:spcPts val="0"/>
                </a:spcAft>
              </a:pPr>
              <a:r>
                <a:rPr lang="es-MX" sz="900" dirty="0">
                  <a:solidFill>
                    <a:schemeClr val="bg1"/>
                  </a:solidFill>
                </a:rPr>
                <a:t>1.5.2 ENLACE DEL WEBSERVICE</a:t>
              </a:r>
            </a:p>
            <a:p>
              <a:pPr lvl="2">
                <a:spcBef>
                  <a:spcPts val="0"/>
                </a:spcBef>
                <a:spcAft>
                  <a:spcPts val="0"/>
                </a:spcAft>
              </a:pPr>
              <a:r>
                <a:rPr lang="es-EC" sz="900" dirty="0">
                  <a:solidFill>
                    <a:schemeClr val="bg1"/>
                  </a:solidFill>
                </a:rPr>
                <a:t>1.5.3 CREACIÓN DEL FORMULARIO PARTIDOS</a:t>
              </a:r>
            </a:p>
            <a:p>
              <a:pPr lvl="2">
                <a:spcBef>
                  <a:spcPts val="0"/>
                </a:spcBef>
                <a:spcAft>
                  <a:spcPts val="0"/>
                </a:spcAft>
              </a:pPr>
              <a:r>
                <a:rPr lang="es-EC" sz="900" dirty="0">
                  <a:solidFill>
                    <a:schemeClr val="bg1"/>
                  </a:solidFill>
                </a:rPr>
                <a:t>1.5.4 CREACIÓN DEL FORMULARIO LOCALIDADES</a:t>
              </a:r>
            </a:p>
            <a:p>
              <a:pPr lvl="2">
                <a:spcBef>
                  <a:spcPts val="0"/>
                </a:spcBef>
                <a:spcAft>
                  <a:spcPts val="0"/>
                </a:spcAft>
              </a:pPr>
              <a:r>
                <a:rPr lang="es-EC" sz="900" dirty="0">
                  <a:solidFill>
                    <a:schemeClr val="bg1"/>
                  </a:solidFill>
                </a:rPr>
                <a:t>1.5.5 CREACIÓN DEL FORMULARIO COMPRAS</a:t>
              </a:r>
            </a:p>
            <a:p>
              <a:pPr lvl="2">
                <a:spcBef>
                  <a:spcPts val="0"/>
                </a:spcBef>
                <a:spcAft>
                  <a:spcPts val="0"/>
                </a:spcAft>
              </a:pPr>
              <a:r>
                <a:rPr lang="es-EC" sz="900" dirty="0">
                  <a:solidFill>
                    <a:schemeClr val="bg1"/>
                  </a:solidFill>
                </a:rPr>
                <a:t>1.5.6 CREACIÓN DEL FORMULARIO REPORTES</a:t>
              </a:r>
            </a:p>
            <a:p>
              <a:pPr lvl="2">
                <a:spcBef>
                  <a:spcPts val="0"/>
                </a:spcBef>
                <a:spcAft>
                  <a:spcPts val="0"/>
                </a:spcAft>
              </a:pPr>
              <a:r>
                <a:rPr lang="es-MX" sz="900" dirty="0">
                  <a:solidFill>
                    <a:schemeClr val="bg1"/>
                  </a:solidFill>
                </a:rPr>
                <a:t>1.8.2 CREACIÓN DE COMPRA</a:t>
              </a:r>
            </a:p>
            <a:p>
              <a:pPr lvl="2">
                <a:spcBef>
                  <a:spcPts val="0"/>
                </a:spcBef>
                <a:spcAft>
                  <a:spcPts val="0"/>
                </a:spcAft>
              </a:pPr>
              <a:r>
                <a:rPr lang="es-MX" sz="900" dirty="0">
                  <a:solidFill>
                    <a:schemeClr val="bg1"/>
                  </a:solidFill>
                </a:rPr>
                <a:t>1.8.3 CREACIÓN DE FACTURA</a:t>
              </a:r>
            </a:p>
            <a:p>
              <a:pPr lvl="2">
                <a:spcBef>
                  <a:spcPts val="0"/>
                </a:spcBef>
                <a:spcAft>
                  <a:spcPts val="0"/>
                </a:spcAft>
              </a:pPr>
              <a:r>
                <a:rPr lang="es-MX" sz="900" dirty="0">
                  <a:solidFill>
                    <a:schemeClr val="bg1"/>
                  </a:solidFill>
                </a:rPr>
                <a:t>1.8.4 CREACIÓN DE LOCALIDADES</a:t>
              </a:r>
            </a:p>
            <a:p>
              <a:pPr lvl="2">
                <a:spcBef>
                  <a:spcPts val="0"/>
                </a:spcBef>
                <a:spcAft>
                  <a:spcPts val="0"/>
                </a:spcAft>
              </a:pPr>
              <a:r>
                <a:rPr lang="es-MX" sz="900" dirty="0">
                  <a:solidFill>
                    <a:schemeClr val="bg1"/>
                  </a:solidFill>
                </a:rPr>
                <a:t>1.8.5 CREACIÓN DE REPORTES</a:t>
              </a:r>
            </a:p>
            <a:p>
              <a:pPr lvl="2">
                <a:spcBef>
                  <a:spcPts val="0"/>
                </a:spcBef>
                <a:spcAft>
                  <a:spcPts val="0"/>
                </a:spcAft>
              </a:pPr>
              <a:r>
                <a:rPr lang="es-MX" sz="900" dirty="0">
                  <a:solidFill>
                    <a:schemeClr val="bg1"/>
                  </a:solidFill>
                </a:rPr>
                <a:t>1.8.6 CREACIÓN DE PARTIDOS</a:t>
              </a:r>
            </a:p>
            <a:p>
              <a:pPr lvl="1">
                <a:spcBef>
                  <a:spcPts val="0"/>
                </a:spcBef>
                <a:spcAft>
                  <a:spcPts val="0"/>
                </a:spcAft>
              </a:pPr>
              <a:r>
                <a:rPr lang="es-MX" sz="900" dirty="0">
                  <a:solidFill>
                    <a:schemeClr val="bg1"/>
                  </a:solidFill>
                </a:rPr>
                <a:t>1.9 ACCESO POR CONVEYOR</a:t>
              </a:r>
            </a:p>
            <a:p>
              <a:pPr>
                <a:spcBef>
                  <a:spcPts val="0"/>
                </a:spcBef>
                <a:spcAft>
                  <a:spcPts val="0"/>
                </a:spcAft>
              </a:pPr>
              <a:r>
                <a:rPr lang="es-ES" sz="900" dirty="0">
                  <a:solidFill>
                    <a:schemeClr val="bg1"/>
                  </a:solidFill>
                </a:rPr>
                <a:t>2	EJECUCIÓN DEL PROYECTO	</a:t>
              </a:r>
            </a:p>
            <a:p>
              <a:pPr>
                <a:spcBef>
                  <a:spcPts val="0"/>
                </a:spcBef>
                <a:spcAft>
                  <a:spcPts val="0"/>
                </a:spcAft>
              </a:pPr>
              <a:r>
                <a:rPr lang="es-ES" sz="900" dirty="0">
                  <a:solidFill>
                    <a:schemeClr val="bg1"/>
                  </a:solidFill>
                </a:rPr>
                <a:t>3	CONCLUSIONES</a:t>
              </a:r>
            </a:p>
            <a:p>
              <a:pPr>
                <a:spcBef>
                  <a:spcPts val="0"/>
                </a:spcBef>
                <a:spcAft>
                  <a:spcPts val="0"/>
                </a:spcAft>
              </a:pPr>
              <a:r>
                <a:rPr lang="es-ES" sz="900" b="1" dirty="0">
                  <a:solidFill>
                    <a:srgbClr val="FFFF00"/>
                  </a:solidFill>
                </a:rPr>
                <a:t>4	RECOMENDACIONES</a:t>
              </a:r>
            </a:p>
          </p:txBody>
        </p:sp>
        <p:sp>
          <p:nvSpPr>
            <p:cNvPr id="8" name="CuadroTexto 7">
              <a:extLst>
                <a:ext uri="{FF2B5EF4-FFF2-40B4-BE49-F238E27FC236}">
                  <a16:creationId xmlns:a16="http://schemas.microsoft.com/office/drawing/2014/main" id="{C8A3F3C1-2EAE-6B5B-A2A0-83C2FDD82738}"/>
                </a:ext>
              </a:extLst>
            </p:cNvPr>
            <p:cNvSpPr txBox="1"/>
            <p:nvPr/>
          </p:nvSpPr>
          <p:spPr>
            <a:xfrm>
              <a:off x="11741655" y="6457890"/>
              <a:ext cx="478420" cy="400110"/>
            </a:xfrm>
            <a:prstGeom prst="rect">
              <a:avLst/>
            </a:prstGeom>
            <a:noFill/>
          </p:spPr>
          <p:txBody>
            <a:bodyPr wrap="square" rtlCol="0">
              <a:spAutoFit/>
            </a:bodyPr>
            <a:lstStyle/>
            <a:p>
              <a:pPr algn="ctr"/>
              <a:r>
                <a:rPr lang="es-EC" sz="2000" dirty="0">
                  <a:solidFill>
                    <a:schemeClr val="bg1"/>
                  </a:solidFill>
                </a:rPr>
                <a:t>95</a:t>
              </a:r>
            </a:p>
          </p:txBody>
        </p:sp>
      </p:grpSp>
      <p:sp>
        <p:nvSpPr>
          <p:cNvPr id="9" name="Marcador de contenido 2">
            <a:extLst>
              <a:ext uri="{FF2B5EF4-FFF2-40B4-BE49-F238E27FC236}">
                <a16:creationId xmlns:a16="http://schemas.microsoft.com/office/drawing/2014/main" id="{DD1E0493-8613-711B-4B16-1F372866DB6B}"/>
              </a:ext>
            </a:extLst>
          </p:cNvPr>
          <p:cNvSpPr txBox="1">
            <a:spLocks/>
          </p:cNvSpPr>
          <p:nvPr/>
        </p:nvSpPr>
        <p:spPr>
          <a:xfrm>
            <a:off x="9127124" y="1"/>
            <a:ext cx="3064876" cy="685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Bef>
                <a:spcPts val="0"/>
              </a:spcBef>
              <a:spcAft>
                <a:spcPts val="0"/>
              </a:spcAft>
            </a:pPr>
            <a:r>
              <a:rPr lang="es-ES" sz="1000" dirty="0">
                <a:solidFill>
                  <a:schemeClr val="bg1"/>
                </a:solidFill>
              </a:rPr>
              <a:t>1	MARCO TEORICO</a:t>
            </a:r>
          </a:p>
          <a:p>
            <a:pPr lvl="1">
              <a:spcBef>
                <a:spcPts val="0"/>
              </a:spcBef>
              <a:spcAft>
                <a:spcPts val="0"/>
              </a:spcAft>
            </a:pPr>
            <a:r>
              <a:rPr lang="es-ES" sz="1000" dirty="0">
                <a:solidFill>
                  <a:schemeClr val="bg1"/>
                </a:solidFill>
              </a:rPr>
              <a:t>1.1 	ARQUITECTURAS MONOLÍTICAS</a:t>
            </a:r>
          </a:p>
          <a:p>
            <a:pPr lvl="1">
              <a:spcBef>
                <a:spcPts val="0"/>
              </a:spcBef>
              <a:spcAft>
                <a:spcPts val="0"/>
              </a:spcAft>
            </a:pPr>
            <a:r>
              <a:rPr lang="es-ES" sz="1000" dirty="0">
                <a:solidFill>
                  <a:schemeClr val="bg1"/>
                </a:solidFill>
              </a:rPr>
              <a:t>1.2	MICROSERVICIOS</a:t>
            </a:r>
          </a:p>
          <a:p>
            <a:pPr lvl="1">
              <a:spcBef>
                <a:spcPts val="0"/>
              </a:spcBef>
              <a:spcAft>
                <a:spcPts val="0"/>
              </a:spcAft>
            </a:pPr>
            <a:r>
              <a:rPr lang="es-ES" sz="1000" dirty="0">
                <a:solidFill>
                  <a:schemeClr val="bg1"/>
                </a:solidFill>
              </a:rPr>
              <a:t>1.3	DIFERENCIAS CLAVE</a:t>
            </a:r>
          </a:p>
          <a:p>
            <a:pPr lvl="1">
              <a:spcBef>
                <a:spcPts val="0"/>
              </a:spcBef>
              <a:spcAft>
                <a:spcPts val="0"/>
              </a:spcAft>
            </a:pPr>
            <a:r>
              <a:rPr lang="es-ES" sz="1000" dirty="0">
                <a:solidFill>
                  <a:schemeClr val="bg1"/>
                </a:solidFill>
              </a:rPr>
              <a:t>1.4 	DIVISIÓN DE SERVICIOS</a:t>
            </a:r>
          </a:p>
          <a:p>
            <a:pPr lvl="1">
              <a:spcBef>
                <a:spcPts val="0"/>
              </a:spcBef>
              <a:spcAft>
                <a:spcPts val="0"/>
              </a:spcAft>
            </a:pPr>
            <a:r>
              <a:rPr lang="es-ES" sz="1000" dirty="0">
                <a:solidFill>
                  <a:schemeClr val="bg1"/>
                </a:solidFill>
              </a:rPr>
              <a:t>1.5 	BENEFICIOS DE ADOPTAR MICROSERVICIOS</a:t>
            </a:r>
          </a:p>
          <a:p>
            <a:pPr lvl="1">
              <a:spcBef>
                <a:spcPts val="0"/>
              </a:spcBef>
              <a:spcAft>
                <a:spcPts val="0"/>
              </a:spcAft>
            </a:pPr>
            <a:r>
              <a:rPr lang="es-MX" sz="1000" dirty="0">
                <a:solidFill>
                  <a:schemeClr val="bg1"/>
                </a:solidFill>
              </a:rPr>
              <a:t>1.6 	DESAFÍOS AL ADOPTAR MICROSERVICIOS</a:t>
            </a:r>
          </a:p>
          <a:p>
            <a:pPr lvl="1">
              <a:spcBef>
                <a:spcPts val="0"/>
              </a:spcBef>
              <a:spcAft>
                <a:spcPts val="0"/>
              </a:spcAft>
            </a:pPr>
            <a:r>
              <a:rPr lang="es-MX" sz="1000" dirty="0">
                <a:solidFill>
                  <a:schemeClr val="bg1"/>
                </a:solidFill>
              </a:rPr>
              <a:t>1.7 	ESCALABILIDAD MODULAR Y GRANULAR DE LOS COMPONENTES</a:t>
            </a:r>
          </a:p>
          <a:p>
            <a:pPr lvl="1">
              <a:spcBef>
                <a:spcPts val="0"/>
              </a:spcBef>
              <a:spcAft>
                <a:spcPts val="0"/>
              </a:spcAft>
            </a:pPr>
            <a:r>
              <a:rPr lang="es-MX" sz="1000" dirty="0">
                <a:solidFill>
                  <a:schemeClr val="bg1"/>
                </a:solidFill>
              </a:rPr>
              <a:t>1.8 	INDEPENDENCIA TECNOLÓGICA Y DE IMPLEMENTACIÓN EN CADA MICROSERVICIO</a:t>
            </a:r>
          </a:p>
          <a:p>
            <a:pPr lvl="1">
              <a:spcBef>
                <a:spcPts val="0"/>
              </a:spcBef>
              <a:spcAft>
                <a:spcPts val="0"/>
              </a:spcAft>
            </a:pPr>
            <a:r>
              <a:rPr lang="es-MX" sz="1000" dirty="0">
                <a:solidFill>
                  <a:schemeClr val="bg1"/>
                </a:solidFill>
              </a:rPr>
              <a:t>1.9 	INDEPENDENCIA TECNOLÓGICA Y DE IMPLEMENTACIÓN EN CADA MICROSERVICIO</a:t>
            </a:r>
          </a:p>
          <a:p>
            <a:pPr lvl="1">
              <a:spcBef>
                <a:spcPts val="0"/>
              </a:spcBef>
              <a:spcAft>
                <a:spcPts val="0"/>
              </a:spcAft>
            </a:pPr>
            <a:r>
              <a:rPr lang="es-MX" sz="1000" dirty="0">
                <a:solidFill>
                  <a:schemeClr val="bg1"/>
                </a:solidFill>
              </a:rPr>
              <a:t>1.10 	FACILIDAD EN LA IMPLEMENTACIÓN DE DEVOPS Y DESPLIEGUE CONTINUO</a:t>
            </a:r>
          </a:p>
          <a:p>
            <a:pPr lvl="1">
              <a:spcBef>
                <a:spcPts val="0"/>
              </a:spcBef>
              <a:spcAft>
                <a:spcPts val="0"/>
              </a:spcAft>
            </a:pPr>
            <a:r>
              <a:rPr lang="es-MX" sz="1000" dirty="0">
                <a:solidFill>
                  <a:schemeClr val="bg1"/>
                </a:solidFill>
              </a:rPr>
              <a:t>1.11	MAYOR DISPONIBILIDAD Y TOLERANCIA A FALLOS</a:t>
            </a:r>
          </a:p>
          <a:p>
            <a:pPr lvl="1">
              <a:spcBef>
                <a:spcPts val="0"/>
              </a:spcBef>
              <a:spcAft>
                <a:spcPts val="0"/>
              </a:spcAft>
            </a:pPr>
            <a:r>
              <a:rPr lang="es-MX" sz="1000" dirty="0">
                <a:solidFill>
                  <a:schemeClr val="bg1"/>
                </a:solidFill>
              </a:rPr>
              <a:t>1.12	PRINCIPIOS SOLID Y ACOPLAMIENTO BAJO</a:t>
            </a:r>
          </a:p>
          <a:p>
            <a:pPr lvl="1">
              <a:spcBef>
                <a:spcPts val="0"/>
              </a:spcBef>
              <a:spcAft>
                <a:spcPts val="0"/>
              </a:spcAft>
            </a:pPr>
            <a:r>
              <a:rPr lang="es-MX" sz="1000" dirty="0">
                <a:solidFill>
                  <a:schemeClr val="bg1"/>
                </a:solidFill>
              </a:rPr>
              <a:t>1.13	DEFINICIÓN DE LÍMITES DE CONTEXTO Y RESPONSABILIDADES</a:t>
            </a:r>
          </a:p>
          <a:p>
            <a:pPr lvl="1">
              <a:spcBef>
                <a:spcPts val="0"/>
              </a:spcBef>
              <a:spcAft>
                <a:spcPts val="0"/>
              </a:spcAft>
            </a:pPr>
            <a:r>
              <a:rPr lang="es-MX" sz="1000" dirty="0">
                <a:solidFill>
                  <a:schemeClr val="bg1"/>
                </a:solidFill>
              </a:rPr>
              <a:t>1.14	CONSIDERACIONES SOBRE EL TAMAÑO ADECUADO DE LOS MICROSERVICIOS</a:t>
            </a:r>
          </a:p>
          <a:p>
            <a:pPr lvl="1">
              <a:spcBef>
                <a:spcPts val="0"/>
              </a:spcBef>
              <a:spcAft>
                <a:spcPts val="0"/>
              </a:spcAft>
            </a:pPr>
            <a:r>
              <a:rPr lang="es-MX" sz="1000" dirty="0">
                <a:solidFill>
                  <a:schemeClr val="bg1"/>
                </a:solidFill>
              </a:rPr>
              <a:t>1.15	PATRONES DE COMUNICACIÓN: API REST, MENSAJERÍA ASÍNCRONA, GRPC, EVENTOS</a:t>
            </a:r>
          </a:p>
          <a:p>
            <a:pPr lvl="1">
              <a:spcBef>
                <a:spcPts val="0"/>
              </a:spcBef>
              <a:spcAft>
                <a:spcPts val="0"/>
              </a:spcAft>
            </a:pPr>
            <a:r>
              <a:rPr lang="es-MX" sz="1000" dirty="0">
                <a:solidFill>
                  <a:schemeClr val="bg1"/>
                </a:solidFill>
              </a:rPr>
              <a:t>1.16	LA INTEGRIDAD DE LOS DATOS EN UN ENTORNO DISTRIBUIDO</a:t>
            </a:r>
          </a:p>
          <a:p>
            <a:pPr lvl="1">
              <a:spcBef>
                <a:spcPts val="0"/>
              </a:spcBef>
              <a:spcAft>
                <a:spcPts val="0"/>
              </a:spcAft>
            </a:pPr>
            <a:r>
              <a:rPr lang="es-MX" sz="1000" dirty="0">
                <a:solidFill>
                  <a:schemeClr val="bg1"/>
                </a:solidFill>
              </a:rPr>
              <a:t>1.17	USO DE HERRAMIENTAS Y TECNOLOGÍAS PARA LA COMUNICACIÓN, COMO RABBITMQ O APACHE KAFKA</a:t>
            </a:r>
            <a:endParaRPr lang="es-ES" sz="800" dirty="0">
              <a:solidFill>
                <a:schemeClr val="bg1"/>
              </a:solidFill>
            </a:endParaRPr>
          </a:p>
          <a:p>
            <a:pPr>
              <a:spcBef>
                <a:spcPts val="0"/>
              </a:spcBef>
              <a:spcAft>
                <a:spcPts val="0"/>
              </a:spcAft>
            </a:pPr>
            <a:r>
              <a:rPr lang="es-ES" sz="1000" dirty="0">
                <a:solidFill>
                  <a:schemeClr val="bg1"/>
                </a:solidFill>
              </a:rPr>
              <a:t>2	DESARROLLO</a:t>
            </a:r>
          </a:p>
          <a:p>
            <a:pPr lvl="1">
              <a:spcBef>
                <a:spcPts val="0"/>
              </a:spcBef>
              <a:spcAft>
                <a:spcPts val="0"/>
              </a:spcAft>
            </a:pPr>
            <a:r>
              <a:rPr lang="es-MX" sz="1000" dirty="0">
                <a:solidFill>
                  <a:schemeClr val="bg1"/>
                </a:solidFill>
              </a:rPr>
              <a:t>2.1 	CREACIÓN DE LOS SERVICIOS</a:t>
            </a:r>
          </a:p>
          <a:p>
            <a:pPr lvl="2">
              <a:spcBef>
                <a:spcPts val="0"/>
              </a:spcBef>
              <a:spcAft>
                <a:spcPts val="0"/>
              </a:spcAft>
            </a:pPr>
            <a:r>
              <a:rPr lang="es-MX" sz="1000" dirty="0">
                <a:solidFill>
                  <a:schemeClr val="bg1"/>
                </a:solidFill>
              </a:rPr>
              <a:t>2.2.1 GENERACIÓN DEL MODELO</a:t>
            </a:r>
          </a:p>
          <a:p>
            <a:pPr lvl="2">
              <a:spcBef>
                <a:spcPts val="0"/>
              </a:spcBef>
              <a:spcAft>
                <a:spcPts val="0"/>
              </a:spcAft>
            </a:pPr>
            <a:r>
              <a:rPr lang="es-MX" sz="1000" dirty="0">
                <a:solidFill>
                  <a:schemeClr val="bg1"/>
                </a:solidFill>
              </a:rPr>
              <a:t>2.2.2 GENERACIÓN DEL SERVICIO</a:t>
            </a:r>
            <a:endParaRPr lang="es-ES" sz="1000" dirty="0">
              <a:solidFill>
                <a:schemeClr val="bg1"/>
              </a:solidFill>
            </a:endParaRPr>
          </a:p>
          <a:p>
            <a:pPr>
              <a:spcBef>
                <a:spcPts val="0"/>
              </a:spcBef>
              <a:spcAft>
                <a:spcPts val="0"/>
              </a:spcAft>
            </a:pPr>
            <a:r>
              <a:rPr lang="es-ES" sz="1000" dirty="0">
                <a:solidFill>
                  <a:schemeClr val="bg1"/>
                </a:solidFill>
              </a:rPr>
              <a:t>3	CONCLUSIONES</a:t>
            </a:r>
          </a:p>
          <a:p>
            <a:pPr>
              <a:spcBef>
                <a:spcPts val="0"/>
              </a:spcBef>
              <a:spcAft>
                <a:spcPts val="0"/>
              </a:spcAft>
            </a:pPr>
            <a:r>
              <a:rPr lang="es-ES" sz="1000" dirty="0">
                <a:solidFill>
                  <a:schemeClr val="bg1"/>
                </a:solidFill>
              </a:rPr>
              <a:t>4	RECOMENDACIONES</a:t>
            </a:r>
          </a:p>
        </p:txBody>
      </p:sp>
    </p:spTree>
    <p:extLst>
      <p:ext uri="{BB962C8B-B14F-4D97-AF65-F5344CB8AC3E}">
        <p14:creationId xmlns:p14="http://schemas.microsoft.com/office/powerpoint/2010/main" val="644582508"/>
      </p:ext>
    </p:extLst>
  </p:cSld>
  <p:clrMapOvr>
    <a:masterClrMapping/>
  </p:clrMapOvr>
</p:sld>
</file>

<file path=ppt/theme/theme1.xml><?xml version="1.0" encoding="utf-8"?>
<a:theme xmlns:a="http://schemas.openxmlformats.org/drawingml/2006/main" name="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854A3B6139C2F4CA267C833574EC0B2" ma:contentTypeVersion="7" ma:contentTypeDescription="Crear nuevo documento." ma:contentTypeScope="" ma:versionID="7eff8e76f9b73fd43022abad00f5e571">
  <xsd:schema xmlns:xsd="http://www.w3.org/2001/XMLSchema" xmlns:xs="http://www.w3.org/2001/XMLSchema" xmlns:p="http://schemas.microsoft.com/office/2006/metadata/properties" xmlns:ns3="757c851f-a54b-415f-9d4a-84ace0105453" xmlns:ns4="fabca9b8-e3d4-4b8b-aadf-8632b399ac5a" targetNamespace="http://schemas.microsoft.com/office/2006/metadata/properties" ma:root="true" ma:fieldsID="bd593ea182a9448b443016ba10a5b4bf" ns3:_="" ns4:_="">
    <xsd:import namespace="757c851f-a54b-415f-9d4a-84ace0105453"/>
    <xsd:import namespace="fabca9b8-e3d4-4b8b-aadf-8632b399ac5a"/>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c851f-a54b-415f-9d4a-84ace01054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bca9b8-e3d4-4b8b-aadf-8632b399ac5a"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76FF2B-C098-40B2-8C02-A6808430CAFA}">
  <ds:schemaRefs>
    <ds:schemaRef ds:uri="757c851f-a54b-415f-9d4a-84ace0105453"/>
    <ds:schemaRef ds:uri="fabca9b8-e3d4-4b8b-aadf-8632b399ac5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3DCAEA0-94B1-4E6A-AD26-F5EDE5307CAC}">
  <ds:schemaRefs>
    <ds:schemaRef ds:uri="http://schemas.microsoft.com/sharepoint/v3/contenttype/forms"/>
  </ds:schemaRefs>
</ds:datastoreItem>
</file>

<file path=customXml/itemProps3.xml><?xml version="1.0" encoding="utf-8"?>
<ds:datastoreItem xmlns:ds="http://schemas.openxmlformats.org/officeDocument/2006/customXml" ds:itemID="{181294FA-BF06-4978-9A7F-A70E0F9AD214}">
  <ds:schemaRefs>
    <ds:schemaRef ds:uri="757c851f-a54b-415f-9d4a-84ace0105453"/>
    <ds:schemaRef ds:uri="fabca9b8-e3d4-4b8b-aadf-8632b399ac5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656</TotalTime>
  <Words>9473</Words>
  <Application>Microsoft Office PowerPoint</Application>
  <PresentationFormat>Panorámica</PresentationFormat>
  <Paragraphs>1290</Paragraphs>
  <Slides>27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Calibri</vt:lpstr>
      <vt:lpstr>Gill Sans MT</vt:lpstr>
      <vt:lpstr>Wingdings 2</vt:lpstr>
      <vt:lpstr>Dividendo</vt:lpstr>
      <vt:lpstr>MICROSERVICIOS</vt:lpstr>
      <vt:lpstr>Presentación de PowerPoint</vt:lpstr>
      <vt:lpstr>1.1 ARQUITECTURAS MONOLÍTICAS</vt:lpstr>
      <vt:lpstr>1.2 MICROSERVICIOS</vt:lpstr>
      <vt:lpstr>1.3 DIFERENCIAS CLAVE</vt:lpstr>
      <vt:lpstr>1.4  DIVISIÓN DE SERVICIOS</vt:lpstr>
      <vt:lpstr>1.5 BENEFICIOS DE ADOPTAR MICROSERVICIOS</vt:lpstr>
      <vt:lpstr>1.6  DESAFÍOS AL ADOPTAR MICROSERVICIOS</vt:lpstr>
      <vt:lpstr>1.7 Escalabilidad modular y granular de los componentes</vt:lpstr>
      <vt:lpstr>1.8 INDEPENDENCIA TECNOLÓGICA Y DE IMPLEMENTACIÓN EN CADA MICROSERVICIO</vt:lpstr>
      <vt:lpstr>1.9 INDEPENDENCIA TECNOLÓGICA Y DE IMPLEMENTACIÓN EN CADA MICROSERVICIO</vt:lpstr>
      <vt:lpstr>1.10 FACILIDAD EN LA IMPLEMENTACIÓN DE DEVOPS Y DESPLIEGUE CONTINUO</vt:lpstr>
      <vt:lpstr>1.11 MAYOR DISPONIBILIDAD Y TOLERANCIA A FALLOS</vt:lpstr>
      <vt:lpstr>1.12 PRINCIPIOS SOLID Y ACOPLAMIENTO BAJO</vt:lpstr>
      <vt:lpstr>1.13 DEFINICIÓN DE LÍMITES DE CONTEXTO Y RESPONSABILIDADES</vt:lpstr>
      <vt:lpstr>1.14 CONSIDERACIONES SOBRE EL TAMAÑO ADECUADO DE LOS MICROSERVICIOS</vt:lpstr>
      <vt:lpstr>1.15 PATRONES DE COMUNICACIÓN: API REST, MENSAJERÍA ASÍNCRONA, GRPC, EVENTOS</vt:lpstr>
      <vt:lpstr>1.16 LA INTEGRIDAD DE LOS DATOS EN UN ENTORNO DISTRIBUIDO</vt:lpstr>
      <vt:lpstr>1.17 USO DE HERRAMIENTAS Y TECNOLOGÍAS PARA LA COMUNICACIÓN, COMO RABBITMQ O APACHE KAFKA</vt:lpstr>
      <vt:lpstr>2 DESARROLLO</vt:lpstr>
      <vt:lpstr>2.1 CREACIÓN DE LOS SERVICIOS 2.1.1 GENERACIÓN DEL MODELO</vt:lpstr>
      <vt:lpstr> 2.1.1 GENERACIÓN DEL MODELO</vt:lpstr>
      <vt:lpstr> 2.1.2 GENERACIÓN DE SERVICIOS</vt:lpstr>
      <vt:lpstr> 2.1.2 GENERACIÓN DEL SERVICIO</vt:lpstr>
      <vt:lpstr>2. EJECUCIÓN DEL PROYECTO</vt:lpstr>
      <vt:lpstr>3. CONCLUSIONES</vt:lpstr>
      <vt:lpstr>4 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Creación de web con java server faces</dc:title>
  <dc:creator>Michael Villarruel</dc:creator>
  <cp:lastModifiedBy>Micaela Salcedo</cp:lastModifiedBy>
  <cp:revision>46</cp:revision>
  <dcterms:created xsi:type="dcterms:W3CDTF">2020-07-10T23:33:49Z</dcterms:created>
  <dcterms:modified xsi:type="dcterms:W3CDTF">2026-07-22T16:11:16Z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0x010100C854A3B6139C2F4CA267C833574EC0B2</vt:lpwstr>
  </property>
</Properties>
</file>