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52" r:id="rId19"/>
    <p:sldId id="353" r:id="rId20"/>
    <p:sldId id="351" r:id="rId21"/>
    <p:sldId id="337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Gill Sans" panose="020B0604020202020204" charset="0"/>
      <p:regular r:id="rId32"/>
      <p:bold r:id="rId33"/>
    </p:embeddedFont>
    <p:embeddedFont>
      <p:font typeface="Gill Sans MT" panose="020B0502020104020203" pitchFamily="34" charset="0"/>
      <p:regular r:id="rId34"/>
      <p:bold r:id="rId35"/>
      <p:italic r:id="rId36"/>
      <p:boldItalic r:id="rId37"/>
    </p:embeddedFont>
    <p:embeddedFont>
      <p:font typeface="Noto Sans Symbols" panose="020B0604020202020204" charset="0"/>
      <p:regular r:id="rId38"/>
      <p:bold r:id="rId39"/>
    </p:embeddedFont>
    <p:embeddedFont>
      <p:font typeface="Wingdings 2" panose="05020102010507070707" pitchFamily="18" charset="2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2" roundtripDataSignature="AMtx7mjR6CRC/UuTuz6mIGHhfesxpGtY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6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Relationship Id="rId32" Type="http://schemas.openxmlformats.org/officeDocument/2006/relationships/font" Target="fonts/font9.fntdata"/><Relationship Id="rId33" Type="http://schemas.openxmlformats.org/officeDocument/2006/relationships/font" Target="fonts/font10.fntdata"/><Relationship Id="rId34" Type="http://schemas.openxmlformats.org/officeDocument/2006/relationships/font" Target="fonts/font11.fntdata"/><Relationship Id="rId35" Type="http://schemas.openxmlformats.org/officeDocument/2006/relationships/font" Target="fonts/font12.fntdata"/><Relationship Id="rId36" Type="http://schemas.openxmlformats.org/officeDocument/2006/relationships/font" Target="fonts/font13.fntdata"/><Relationship Id="rId37" Type="http://schemas.openxmlformats.org/officeDocument/2006/relationships/font" Target="fonts/font14.fntdata"/><Relationship Id="rId38" Type="http://schemas.openxmlformats.org/officeDocument/2006/relationships/font" Target="fonts/font15.fntdata"/><Relationship Id="rId39" Type="http://schemas.openxmlformats.org/officeDocument/2006/relationships/font" Target="fonts/font16.fntdata"/><Relationship Id="rId40" Type="http://schemas.openxmlformats.org/officeDocument/2006/relationships/font" Target="fonts/font17.fntdata"/><Relationship Id="rId82" Type="http://customschemas.google.com/relationships/presentationmetadata" Target="metadata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935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5187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2933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5801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6980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2670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1663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244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7180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3677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9904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7077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21838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2628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2916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7731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00786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9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9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9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2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3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4" name="Google Shape;54;p4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1" name="Google Shape;61;p44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4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6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7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47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8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8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6" name="Google Shape;86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9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9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49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9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9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447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4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3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37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262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974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5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932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263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626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2984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5" name="Google Shape;15;p3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8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837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517945" y="3608618"/>
            <a:ext cx="10993549" cy="154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algn="ctr">
              <a:buClr>
                <a:schemeClr val="lt1"/>
              </a:buClr>
            </a:pPr>
            <a:r>
              <a:rPr lang="es-EC" dirty="0">
                <a:solidFill>
                  <a:schemeClr val="lt1"/>
                </a:solidFill>
              </a:rPr>
              <a:t>WEB SERVICE RESTful CON JAVA
EN LA NUBE (AWS)</a:t>
            </a:r>
            <a:br>
              <a:rPr lang="es-EC" dirty="0"/>
            </a:br>
            <a:endParaRPr dirty="0">
              <a:solidFill>
                <a:schemeClr val="lt1"/>
              </a:solidFill>
            </a:endParaRPr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599226" y="5149400"/>
            <a:ext cx="4734774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INTEGRANTES: 	Josué Marín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		</a:t>
            </a:r>
            <a:r>
              <a:rPr lang="es-ES" b="1" dirty="0" err="1">
                <a:solidFill>
                  <a:schemeClr val="lt1"/>
                </a:solidFill>
              </a:rPr>
              <a:t>Elkín</a:t>
            </a:r>
            <a:r>
              <a:rPr lang="es-ES" b="1" dirty="0">
                <a:solidFill>
                  <a:schemeClr val="lt1"/>
                </a:solidFill>
              </a:rPr>
              <a:t> Pabón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		Micaela Salcedo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02" name="Google Shape;102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7874425" y="5149400"/>
            <a:ext cx="371850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NRC:	</a:t>
            </a:r>
            <a:r>
              <a:rPr lang="es-EC" sz="1600">
                <a:solidFill>
                  <a:schemeClr val="lt1"/>
                </a:solidFill>
                <a:latin typeface="Gill Sans"/>
              </a:rPr>
              <a:t>30742</a:t>
            </a:r>
            <a:endParaRPr lang="es-EC" sz="1600" dirty="0">
              <a:solidFill>
                <a:schemeClr val="lt1"/>
              </a:solidFill>
              <a:latin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FECHA: </a:t>
            </a:r>
            <a:r>
              <a:rPr lang="es-ES" sz="16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09</a:t>
            </a:r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/6/2026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TUTOR:	</a:t>
            </a:r>
            <a:r>
              <a:rPr lang="es-ES" sz="16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ING. MAURICIO CAMPAÑA</a:t>
            </a:r>
            <a:endParaRPr sz="1600" b="1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t>INTRODUCCIÓN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endParaRPr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endParaRPr/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endParaRPr/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endParaRPr/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endParaRPr lang="es-ES" sz="1100" dirty="0">
              <a:solidFill>
                <a:schemeClr val="dk1"/>
              </a:solidFill>
              <a:latin typeface="Arial"/>
              <a:ea typeface="Calibri"/>
              <a:cs typeface="Arial"/>
              <a:sym typeface="Arial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endParaRPr lang="es-ES" dirty="0">
              <a:solidFill>
                <a:schemeClr val="lt1"/>
              </a:solidFill>
            </a:endParaRPr>
          </a:p>
          <a:p>
            <a:r>
              <a:t>OBJETIVOS</a:t>
            </a:r>
          </a:p>
          <a:p>
            <a:r>
              <a:t>MARCO TEÓRICO</a:t>
            </a:r>
          </a:p>
          <a:p>
            <a:r>
              <a:t>ARQUITECTURA MICROSERVICIOS REST</a:t>
            </a:r>
          </a:p>
          <a:p>
            <a:r>
              <a:t>SERVIDOR REST (JAKARTA EE)</a:t>
            </a:r>
          </a:p>
          <a:p>
            <a:r>
              <a:t>CLIENTES: WEB, ESCRITORIO, CONSOLA, MÓVIL</a:t>
            </a:r>
          </a:p>
          <a:p>
            <a:r>
              <a:t>RESULTADOS</a:t>
            </a:r>
          </a:p>
          <a:p>
            <a:r>
              <a:t>CONCLUSIONES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INTRODUCCIÓN</a:t>
            </a:r>
            <a:endParaRPr/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5"/>
            <a:ext cx="8620500" cy="478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2500" lnSpcReduction="20000"/>
          </a:bodyPr>
          <a:lstStyle/>
          <a:p>
            <a:r>
              <a:rPr sz="1800">
                <a:latin typeface="Times New Roman"/>
              </a:rPr>
              <a:t>El sistema EUREKABANK es una plataforma bancaria basada en microservicios RESTful desarrollada con Jakarta EE 10 y JAX-RS, desplegada sobre el servidor Payara 6. El proyecto se compone de 6 módulos Maven independientes que implementan operaciones bancarias como autenticación, consulta de saldos y movimientos, depósitos, retiros y transferencias entre cuentas.</a:t>
            </a:r>
          </a:p>
          <a:p>
            <a:r>
              <a:rPr sz="1800">
                <a:latin typeface="Times New Roman"/>
              </a:rPr>
              <a:t>Cada microservicio es un WAR autónomo que expone sus endpoints RESTful y se conecta a una base de datos MySQL alojada en AWS Lightsail mediante JDBC. Los clientes (consola, escritorio, web y móvil) consumen las APIs usando Jakarta REST Client o Jersey Client con respuestas en formato JSON.</a:t>
            </a:r>
          </a:p>
          <a:p>
            <a:r>
              <a:rPr sz="1800">
                <a:latin typeface="Times New Roman"/>
              </a:rPr>
              <a:t>La arquitectura multi-módulo de Maven organiza el código en un proyecto padre (EUREKABANK_SOAP_JAVA_GR06) y 6 submódulos: ms-common (librería compartida), ms-autenticacion, ms-consulta, ms-deposito, ms-retiro y ms-transferencia. Cada submódulo hereda configuraciones comunes del POM padre.</a:t>
            </a:r>
          </a:p>
          <a:p>
            <a:r>
              <a:rPr sz="1800">
                <a:latin typeface="Times New Roman"/>
              </a:rPr>
              <a:t>Jakarta EE 10 proporciona las especificaciones empresariales estándar: JAX-RS para servicios RESTful, CDI para inyección de dependencias, EJB Lite para servicios transaccionales y JPA para acceso a datos. El servidor Payara 6 implementa completamente Jakarta EE 10 y ofrece consola de administración web.</a:t>
            </a:r>
          </a:p>
          <a:p>
            <a:r>
              <a:rPr sz="1800">
                <a:latin typeface="Times New Roman"/>
              </a:rPr>
              <a:t>El módulo ms-common centraliza los modelos de datos compartidos (ClienteRequest, CuentaRequest, DepositoRequest, RetiroRequest, TransferenciaRequest, LoginRequest, Resultado, etc.) y las clases de persistencia (ClienteDAO, CuentaDAO, MovimientoDAO, UsuarioDAO, ConexionBD) para evitar duplicación de código entre los microservicios.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267468" y="-1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/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OBJETIVOS</a:t>
            </a: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5"/>
            <a:ext cx="8620500" cy="478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just"/>
            <a:r>
              <a:rPr sz="1800">
                <a:latin typeface="Calibri"/>
              </a:rPr>
              <a:t>Desarrollar un sistema de microservicios bancarios RESTful en Java con Jakarta EE 10 y JAX-RS denominado EUREKABANK, capaz de exponer operaciones de autenticación, consulta de saldos y movimientos, depósitos, retiros y transferencias, permitiendo su consumo desde clientes de consola, escritorio, web y móvil mediante APIs REST con respuestas JSON.</a:t>
            </a:r>
          </a:p>
          <a:p>
            <a:r>
              <a:rPr sz="1800">
                <a:latin typeface="Calibri"/>
              </a:rPr>
              <a:t>Objetivos específicos:</a:t>
            </a:r>
          </a:p>
          <a:p>
            <a:r>
              <a:rPr sz="1800">
                <a:latin typeface="Calibri"/>
              </a:rPr>
              <a:t>Implementar 5 microservicios RESTful independientes (autenticación, consulta, depósito, retiro, transferencia) con Jakarta EE 10 y JAX-RS sobre Payara 6.</a:t>
            </a:r>
          </a:p>
          <a:p>
            <a:r>
              <a:rPr sz="1800">
                <a:latin typeface="Calibri"/>
              </a:rPr>
              <a:t>Diseñar una librería común (ms-common) con los modelos de datos (ClienteRequest, CuentaRequest, DepositoRequest, TransferenciaRequest) y los DAOs de persistencia (ClienteDAO, CuentaDAO, MovimientoDAO, UsuarioDAO).</a:t>
            </a:r>
          </a:p>
          <a:p>
            <a:r>
              <a:rPr sz="1800">
                <a:latin typeface="Calibri"/>
              </a:rPr>
              <a:t>Configurar un pool de conexiones JDBC en Payara 6 hacia MySQL en AWS Lightsail para el acceso transaccional a la base de datos EUREKABANK.</a:t>
            </a:r>
          </a:p>
          <a:p>
            <a:r>
              <a:rPr sz="1800">
                <a:latin typeface="Calibri"/>
              </a:rPr>
              <a:t>Consumir los microservicios desde 4 tipos de cliente: consola (CLICONSOLA), escritorio (CLIESCRITORIO), web (CLIWEB) y móvil (CLIMOVIL).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/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558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5"/>
            <a:ext cx="8620500" cy="478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sz="1800" b="1">
                <a:latin typeface="Calibri"/>
              </a:rPr>
              <a:t>Un Web Service, o servicio web, es un mecanismo de comunicación entre aplicaciones conectadas a una red. Su finalidad es permitir que diferentes sistemas puedan intercambiar información o consumir funcionalidades sin depender directamente del lenguaje de programación, sistema operativo o plataforma en la que fueron desarrollados.</a:t>
            </a:r>
          </a:p>
          <a:p>
            <a:r>
              <a:rPr sz="1800" b="1">
                <a:latin typeface="Calibri"/>
              </a:rPr>
              <a:t>En EUREKABANK, cada microservicio actúa como proveedor de funcionalidades bancarias específicas. El microservicio ms-autenticacion valida credenciales mediante AuthResource/LoginService, ms-consulta expone saldos y movimientos con ConsultaResource/MovimientoResource, ms-deposito procesa depósitos con DepositoResource/DepositoService, ms-retiro maneja retiros con RetiroResource/RetiroService, y ms-transferencia ejecuta transferencias con TransferenciaResource/TransferenciaService. Todos comparten los modelos y DAOs definidos en ms-common.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/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07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5"/>
            <a:ext cx="8620500" cy="478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r>
              <a:rPr sz="1800" b="1">
                <a:latin typeface="Calibri"/>
              </a:rPr>
              <a:t>REST (Representational State Transfer) es un estilo de arquitectura para diseñar servicios web basados en recursos. Cada recurso se identifica mediante una URL y se accede mediante métodos HTTP estándar.</a:t>
            </a:r>
          </a:p>
          <a:p>
            <a:r>
              <a:rPr sz="1800" b="1">
                <a:latin typeface="Calibri"/>
              </a:rPr>
              <a:t>En JAX-RS (Jakarta RESTful Web Services), los endpoints se definen con anotaciones Java directamente en las clases controladoras:</a:t>
            </a:r>
          </a:p>
          <a:p>
            <a:r>
              <a:rPr sz="1800" b="1">
                <a:latin typeface="Calibri"/>
              </a:rPr>
              <a:t>@Path, @GET, @POST, @PUT, @DELETE, @Produces(MediaType.APPLICATION_JSON)</a:t>
            </a:r>
          </a:p>
          <a:p>
            <a:r>
              <a:rPr sz="1800" b="1">
                <a:latin typeface="Calibri"/>
              </a:rPr>
              <a:t>Ejemplo real del proyecto: DepositoResource.java usa @Path("/api/deposito") a nivel de clase y @POST + @Path("/realizar") en el método procesarDeposito.</a:t>
            </a:r>
          </a:p>
          <a:p>
            <a:r>
              <a:rPr sz="1800" b="1">
                <a:latin typeface="Calibri"/>
              </a:rPr>
              <a:t>Cada microservicio tiene su clase JakartaRestConfig que extiende Application y se anota con @ApplicationPath("/") para activar JAX-RS.</a:t>
            </a:r>
          </a:p>
          <a:p>
            <a:r>
              <a:rPr sz="1800" b="1">
                <a:latin typeface="Calibri"/>
              </a:rPr>
              <a:t>REST es ligero, flexible y utiliza JSON, permitiendo que los 4 tipos de cliente (consola, escritorio, web, móvil) consuman las mismas APIs.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/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Imagen 17" descr="API REST | Aprendiendo Arduino">
            <a:extLst>
              <a:ext uri="{FF2B5EF4-FFF2-40B4-BE49-F238E27FC236}">
                <a16:creationId xmlns:a16="http://schemas.microsoft.com/office/drawing/2014/main" id="{D9B6047C-DA2E-4DC6-866A-8186605E41D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853" y="3117423"/>
            <a:ext cx="3931487" cy="1943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775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5"/>
            <a:ext cx="8663242" cy="544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r>
              <a:rPr sz="1800" b="1">
                <a:latin typeface="Calibri"/>
              </a:rPr>
              <a:t>Endpoints RESTful del sistema EUREKABANK:</a:t>
            </a:r>
          </a:p>
          <a:p/>
          <a:p>
            <a:r>
              <a:rPr sz="1800" b="1">
                <a:latin typeface="Calibri"/>
              </a:rPr>
              <a:t>POST /api/auth/login</a:t>
            </a:r>
          </a:p>
          <a:p>
            <a:r>
              <a:rPr sz="1800" b="1">
                <a:latin typeface="Calibri"/>
              </a:rPr>
              <a:t>  -&gt; AuthResource.java | LoginService.java (autenticación de cliente)</a:t>
            </a:r>
          </a:p>
          <a:p/>
          <a:p>
            <a:r>
              <a:rPr sz="1800" b="1">
                <a:latin typeface="Calibri"/>
              </a:rPr>
              <a:t>GET /api/consulta/saldo?codigo={codigo}</a:t>
            </a:r>
          </a:p>
          <a:p>
            <a:r>
              <a:rPr sz="1800" b="1">
                <a:latin typeface="Calibri"/>
              </a:rPr>
              <a:t>  -&gt; ConsultaResource.java | ConsultaService.java (saldo de cuenta)</a:t>
            </a:r>
          </a:p>
          <a:p/>
          <a:p>
            <a:r>
              <a:rPr sz="1800" b="1">
                <a:latin typeface="Calibri"/>
              </a:rPr>
              <a:t>GET /api/consulta/movimientos?cuenta={cta}&amp;desde={f1}&amp;hasta={f2}</a:t>
            </a:r>
          </a:p>
          <a:p>
            <a:r>
              <a:rPr sz="1800" b="1">
                <a:latin typeface="Calibri"/>
              </a:rPr>
              <a:t>  -&gt; MovimientoResource.java | MovimientoService.java (movimientos por rango)</a:t>
            </a:r>
          </a:p>
          <a:p/>
          <a:p>
            <a:r>
              <a:rPr sz="1800" b="1">
                <a:latin typeface="Calibri"/>
              </a:rPr>
              <a:t>POST /api/deposito/realizar</a:t>
            </a:r>
          </a:p>
          <a:p>
            <a:r>
              <a:rPr sz="1800" b="1">
                <a:latin typeface="Calibri"/>
              </a:rPr>
              <a:t>  -&gt; DepositoResource.java | DepositoService.java (depósito en cuenta)</a:t>
            </a:r>
          </a:p>
          <a:p/>
          <a:p>
            <a:r>
              <a:rPr sz="1800" b="1">
                <a:latin typeface="Calibri"/>
              </a:rPr>
              <a:t>POST /api/retiro/realizar</a:t>
            </a:r>
          </a:p>
          <a:p>
            <a:r>
              <a:rPr sz="1800" b="1">
                <a:latin typeface="Calibri"/>
              </a:rPr>
              <a:t>  -&gt; RetiroResource.java | RetiroService.java (retiro de cuenta)</a:t>
            </a:r>
          </a:p>
          <a:p/>
          <a:p>
            <a:r>
              <a:rPr sz="1800" b="1">
                <a:latin typeface="Calibri"/>
              </a:rPr>
              <a:t>POST /api/transferencia/enviar</a:t>
            </a:r>
          </a:p>
          <a:p>
            <a:r>
              <a:rPr sz="1800" b="1">
                <a:latin typeface="Calibri"/>
              </a:rPr>
              <a:t>  -&gt; TransferenciaResource.java | TransferenciaService.java (transferencia entre cuentas)</a:t>
            </a:r>
          </a:p>
          <a:p/>
          <a:p>
            <a:r>
              <a:rPr sz="1800" b="1">
                <a:latin typeface="Calibri"/>
              </a:rPr>
              <a:t>GET /api/consulta/clientes?filtro={texto}</a:t>
            </a:r>
          </a:p>
          <a:p>
            <a:r>
              <a:rPr sz="1800" b="1">
                <a:latin typeface="Calibri"/>
              </a:rPr>
              <a:t>  -&gt; ConsultaResource.java (búsqueda de clientes)</a:t>
            </a:r>
          </a:p>
          <a:p/>
          <a:p>
            <a:r>
              <a:rPr sz="1800" b="1">
                <a:latin typeface="Calibri"/>
              </a:rPr>
              <a:t>GET /api/consulta/cuenta?codigo={codigo}</a:t>
            </a:r>
          </a:p>
          <a:p>
            <a:r>
              <a:rPr sz="1800" b="1">
                <a:latin typeface="Calibri"/>
              </a:rPr>
              <a:t>  -&gt; ConsultaResource.java (detalle de cuenta)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/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7001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6"/>
            <a:ext cx="8620500" cy="210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sz="1800">
                <a:latin typeface="Cambria"/>
              </a:rPr>
              <a:t>Los 6 módulos Maven del proyecto: ms-common (modelos y persistencia), ms-autenticacion (AuthResource, LoginService), ms-consulta (ConsultaResource, MovimientoResource, ConsultaService, MovimientoService), ms-deposito (DepositoResource, DepositoService), ms-retiro (RetiroResource, RetiroService) y ms-transferencia (TransferenciaResource, TransferenciaService). Cada uno genera un WAR.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16.png">
            <a:extLst>
              <a:ext uri="{FF2B5EF4-FFF2-40B4-BE49-F238E27FC236}">
                <a16:creationId xmlns:a16="http://schemas.microsoft.com/office/drawing/2014/main" id="{DF3CCD32-A2C8-4677-BDB0-C3C82694FF7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174018" y="2918222"/>
            <a:ext cx="5153025" cy="3267075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79876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6"/>
            <a:ext cx="8620500" cy="210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sz="1800">
                <a:latin typeface="Cambria"/>
              </a:rPr>
              <a:t>Estructura del POM padre (EUREKABANK_SOAP_JAVA_GR06) que agrupa los 6 módulos con dependencias comunes: Jakarta EE API 10.0.0, MySQL Connector/J 8.0.33, y configuración de compilación Java 17.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5.png">
            <a:extLst>
              <a:ext uri="{FF2B5EF4-FFF2-40B4-BE49-F238E27FC236}">
                <a16:creationId xmlns:a16="http://schemas.microsoft.com/office/drawing/2014/main" id="{1A5B200F-6BE3-4893-B1EC-0B710937571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603405" y="3669611"/>
            <a:ext cx="5276850" cy="2171700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46529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6"/>
            <a:ext cx="8620500" cy="210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sz="1800">
                <a:latin typeface="Cambria"/>
              </a:rPr>
              <a:t>Configuración del pool JDBC en Payara 6. El recurso jdbc/eurekabank conecta a MySQL en AWS Lightsail. Todos los DAOs (ClienteDAO, CuentaDAO, MovimientoDAO, UsuarioDAO) usan este pool mediante ConexionBD.java.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17.png">
            <a:extLst>
              <a:ext uri="{FF2B5EF4-FFF2-40B4-BE49-F238E27FC236}">
                <a16:creationId xmlns:a16="http://schemas.microsoft.com/office/drawing/2014/main" id="{44996D62-6057-4AF3-BADE-03D967B89B8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939588" y="3343974"/>
            <a:ext cx="5181600" cy="3305175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636441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6"/>
            <a:ext cx="8620500" cy="210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sz="1800">
                <a:latin typeface="Cambria"/>
              </a:rPr>
              <a:t>Implementación de DepositoResource.java: anotaciones @Path("/api/deposito"), @POST, @Path("/realizar"), @Produces(MediaType.APPLICATION_JSON). El servicio DepositoService contiene la lógica de negocio con validaciones y llamadas a CuentaDAO y MovimientoDAO para registrar la transacción.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23.png">
            <a:extLst>
              <a:ext uri="{FF2B5EF4-FFF2-40B4-BE49-F238E27FC236}">
                <a16:creationId xmlns:a16="http://schemas.microsoft.com/office/drawing/2014/main" id="{01808FCD-C829-4B28-B873-E16F177A756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298194" y="3669611"/>
            <a:ext cx="5162550" cy="2315210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38248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5"/>
            <a:ext cx="8620500" cy="507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r>
              <a:rPr sz="1800">
                <a:latin typeface="Cambria"/>
              </a:rPr>
              <a:t>La arquitectura de microservicios permite escalar cada WAR independientemente en Payara 6. Los modelos compartidos (ms-common) evitan duplicación de código: 12 clases modelo (ClienteRequest, CuentaRequest, DepositoRequest, RetiroRequest, TransferenciaRequest, Resultado, etc.) y 6 DAOs.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9499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73FBA0-2070-4B90-BAA6-6319E87CC561}"/>
              </a:ext>
            </a:extLst>
          </p:cNvPr>
          <p:cNvSpPr txBox="1"/>
          <p:nvPr/>
        </p:nvSpPr>
        <p:spPr>
          <a:xfrm>
            <a:off x="79416" y="1865915"/>
            <a:ext cx="84930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mbria"/>
              </a:rPr>
              <a:t>Interfaz de administración de Payara 6 (asadmin). Se confirma el despliegue de los 5 WARs (ms-autenticacion, ms-consulta, ms-deposito, ms-retiro, ms-transferencia) y la configuración del pool JDBC jdbc/eurekabank hacia MySQL.</a:t>
            </a:r>
          </a:p>
        </p:txBody>
      </p:sp>
      <p:pic>
        <p:nvPicPr>
          <p:cNvPr id="13" name="image22.png">
            <a:extLst>
              <a:ext uri="{FF2B5EF4-FFF2-40B4-BE49-F238E27FC236}">
                <a16:creationId xmlns:a16="http://schemas.microsoft.com/office/drawing/2014/main" id="{D03B673E-9F8A-4F30-94F7-4E883E32E429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16903" y="3429000"/>
            <a:ext cx="5362575" cy="2924175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872759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73FBA0-2070-4B90-BAA6-6319E87CC561}"/>
              </a:ext>
            </a:extLst>
          </p:cNvPr>
          <p:cNvSpPr txBox="1"/>
          <p:nvPr/>
        </p:nvSpPr>
        <p:spPr>
          <a:xfrm>
            <a:off x="440286" y="1994940"/>
            <a:ext cx="8493084" cy="1346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mbria"/>
              </a:rPr>
              <a:t>Portal oficial de Payara Software. Payara 6 es un servidor de aplicaciones open source compatible con Jakarta EE 10, utilizado como entorno de ejecución para todos los microservicios del proyecto EUREKABANK.</a:t>
            </a:r>
          </a:p>
        </p:txBody>
      </p:sp>
      <p:pic>
        <p:nvPicPr>
          <p:cNvPr id="15" name="image12.png">
            <a:extLst>
              <a:ext uri="{FF2B5EF4-FFF2-40B4-BE49-F238E27FC236}">
                <a16:creationId xmlns:a16="http://schemas.microsoft.com/office/drawing/2014/main" id="{7B29EDE2-2AE5-4CD9-972A-087D115D1987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176065" y="3863336"/>
            <a:ext cx="5429250" cy="2790825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527933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73FBA0-2070-4B90-BAA6-6319E87CC561}"/>
              </a:ext>
            </a:extLst>
          </p:cNvPr>
          <p:cNvSpPr txBox="1"/>
          <p:nvPr/>
        </p:nvSpPr>
        <p:spPr>
          <a:xfrm>
            <a:off x="79416" y="1865915"/>
            <a:ext cx="7075764" cy="4663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mbria"/>
              </a:rPr>
              <a:t>Base de datos MySQL en AWS Lightsail. La instancia Windows Server aloja MySQL con la base EUREKABANK que contiene tablas: cliente, cuenta, movimiento, usuario, parametro, interes_mensual, cargos_servicios y tcea.</a:t>
            </a:r>
          </a:p>
        </p:txBody>
      </p:sp>
      <p:pic>
        <p:nvPicPr>
          <p:cNvPr id="13" name="image30.png">
            <a:extLst>
              <a:ext uri="{FF2B5EF4-FFF2-40B4-BE49-F238E27FC236}">
                <a16:creationId xmlns:a16="http://schemas.microsoft.com/office/drawing/2014/main" id="{1EEB97BD-08B6-4DA4-A23D-670976C571D9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241830" y="4732020"/>
            <a:ext cx="4337253" cy="1797736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863123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73FBA0-2070-4B90-BAA6-6319E87CC561}"/>
              </a:ext>
            </a:extLst>
          </p:cNvPr>
          <p:cNvSpPr txBox="1"/>
          <p:nvPr/>
        </p:nvSpPr>
        <p:spPr>
          <a:xfrm>
            <a:off x="79416" y="1865915"/>
            <a:ext cx="8493084" cy="166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mbria"/>
              </a:rPr>
              <a:t>Validación del despliegue de MySQL en AWS. Se confirma conexión TCP en puerto 3306 y se habilita el firewall de Windows para permitir tráfico entrante desde los microservicios desplegados en Payara.</a:t>
            </a:r>
          </a:p>
        </p:txBody>
      </p:sp>
      <p:pic>
        <p:nvPicPr>
          <p:cNvPr id="13" name="image31.png">
            <a:extLst>
              <a:ext uri="{FF2B5EF4-FFF2-40B4-BE49-F238E27FC236}">
                <a16:creationId xmlns:a16="http://schemas.microsoft.com/office/drawing/2014/main" id="{7C5C1A1C-C94D-4D4B-AEFF-300BB1A5CDC7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554298" y="3372430"/>
            <a:ext cx="5372100" cy="3124200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475822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73FBA0-2070-4B90-BAA6-6319E87CC561}"/>
              </a:ext>
            </a:extLst>
          </p:cNvPr>
          <p:cNvSpPr txBox="1"/>
          <p:nvPr/>
        </p:nvSpPr>
        <p:spPr>
          <a:xfrm>
            <a:off x="79416" y="1865915"/>
            <a:ext cx="8493084" cy="166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mbria"/>
              </a:rPr>
              <a:t>Estructura del proyecto en NetBeans IDE. Los módulos Maven siguen la organización: src/main/java (clases Java), src/main/webapp (web.xml), y src/main/resources (configuraciones). Cada submódulo tiene su POM.</a:t>
            </a:r>
          </a:p>
        </p:txBody>
      </p:sp>
      <p:pic>
        <p:nvPicPr>
          <p:cNvPr id="13" name="image26.png">
            <a:extLst>
              <a:ext uri="{FF2B5EF4-FFF2-40B4-BE49-F238E27FC236}">
                <a16:creationId xmlns:a16="http://schemas.microsoft.com/office/drawing/2014/main" id="{F6A01706-DA48-48BD-999D-2E0177F4D5B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654195" y="3592683"/>
            <a:ext cx="5343525" cy="2600325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779722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Desarrollo - EUREKABANK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rgbClr val="FFFF00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73FBA0-2070-4B90-BAA6-6319E87CC561}"/>
              </a:ext>
            </a:extLst>
          </p:cNvPr>
          <p:cNvSpPr txBox="1"/>
          <p:nvPr/>
        </p:nvSpPr>
        <p:spPr>
          <a:xfrm>
            <a:off x="79416" y="1865915"/>
            <a:ext cx="8493084" cy="1983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mbria"/>
              </a:rPr>
              <a:t>MySQL Workbench conectado a la instancia remota en AWS. Se verifica la estructura de la base EUREKABANK con sus tablas y relaciones para clientes, cuentas, movimientos y usuarios del sistema bancario.</a:t>
            </a:r>
          </a:p>
        </p:txBody>
      </p:sp>
      <p:pic>
        <p:nvPicPr>
          <p:cNvPr id="15" name="image28.png">
            <a:extLst>
              <a:ext uri="{FF2B5EF4-FFF2-40B4-BE49-F238E27FC236}">
                <a16:creationId xmlns:a16="http://schemas.microsoft.com/office/drawing/2014/main" id="{1F0D6EA3-21CC-4190-A779-823F0E96B59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838685" y="3911232"/>
            <a:ext cx="5343525" cy="2743200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807189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>
                <a:solidFill>
                  <a:srgbClr val="FFFF00"/>
                </a:solidFill>
              </a:rPr>
              <a:t>Conclusiones</a:t>
            </a:r>
            <a:endParaRPr dirty="0">
              <a:solidFill>
                <a:srgbClr val="FFFF00"/>
              </a:solidFill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>
              <a:solidFill>
                <a:schemeClr val="bg1"/>
              </a:solidFill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73FBA0-2070-4B90-BAA6-6319E87CC561}"/>
              </a:ext>
            </a:extLst>
          </p:cNvPr>
          <p:cNvSpPr txBox="1"/>
          <p:nvPr/>
        </p:nvSpPr>
        <p:spPr>
          <a:xfrm>
            <a:off x="440286" y="1951672"/>
            <a:ext cx="849308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 implementó satisfactoriamente EUREKABANK con 5 microservicios RESTful (ms-autenticacion, ms-consulta, ms-deposito, ms-retiro, ms-transferencia) usando Jakarta EE 10 + JAX-RS sobre Payara 6.</a:t>
            </a:r>
          </a:p>
          <a:p>
            <a:r>
              <a:t>La librería ms-common centraliza 12 modelos de datos compartidos y 6 clases DAO, eliminando duplicación de código entre microservicios.</a:t>
            </a:r>
          </a:p>
          <a:p>
            <a:r>
              <a:t>AWS Lightsail proporcionó la infraestructura en nube para el servidor Payara y MySQL, demostrando escalabilidad y facilidad de despliegue.</a:t>
            </a:r>
          </a:p>
          <a:p>
            <a:r>
              <a:t>Los 4 tipos de cliente (consola, escritorio, web, móvil) consumen las mismas APIs RESTful usando Jakarta REST Client y respuestas JSON, validando la interoperabilidad de la arquitectura.</a:t>
            </a:r>
          </a:p>
        </p:txBody>
      </p:sp>
    </p:spTree>
    <p:extLst>
      <p:ext uri="{BB962C8B-B14F-4D97-AF65-F5344CB8AC3E}">
        <p14:creationId xmlns:p14="http://schemas.microsoft.com/office/powerpoint/2010/main" val="1558723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3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Bibliografía</a:t>
            </a:r>
            <a:endParaRPr dirty="0"/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397408" y="1865915"/>
            <a:ext cx="8620500" cy="478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sz="1800">
                <a:latin typeface="Calibri"/>
              </a:rPr>
              <a:t>[1] Eclipse Foundation. (2024). "Jakarta EE 10 Specification". https://jakarta.ee/specifications/</a:t>
            </a:r>
          </a:p>
          <a:p>
            <a:r>
              <a:rPr sz="1800">
                <a:latin typeface="Calibri"/>
              </a:rPr>
              <a:t>[2] Oracle. (2024). "JAX-RS 3.1 Specification". https://jakarta.ee/specifications/restful-ws/</a:t>
            </a:r>
          </a:p>
          <a:p>
            <a:r>
              <a:rPr sz="1800">
                <a:latin typeface="Calibri"/>
              </a:rPr>
              <a:t>[3] Payara Services. (2024). "Payara Platform Documentation". https://docs.payara.fish/</a:t>
            </a:r>
          </a:p>
          <a:p>
            <a:r>
              <a:rPr sz="1800">
                <a:latin typeface="Calibri"/>
              </a:rPr>
              <a:t>[4] MySQL. (2024). "MySQL Connector/J 8.0 Developer Guide". https://dev.mysql.com/doc/connector-j/8.0/en/</a:t>
            </a:r>
          </a:p>
          <a:p>
            <a:r>
              <a:rPr sz="1800">
                <a:latin typeface="Calibri"/>
              </a:rPr>
              <a:t>[5] Amazon Web Services. (2024). "Amazon Lightsail Documentation". https://docs.aws.amazon.com/lightsail/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MARCO TEÓRICO</a:t>
            </a:r>
            <a:endParaRPr sz="21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dirty="0"/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0139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2278</Words>
  <Application>Microsoft Office PowerPoint</Application>
  <PresentationFormat>Panorámica</PresentationFormat>
  <Paragraphs>227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31" baseType="lpstr">
      <vt:lpstr>Symbol</vt:lpstr>
      <vt:lpstr>Cambria</vt:lpstr>
      <vt:lpstr>Noto Sans Symbols</vt:lpstr>
      <vt:lpstr>Calibri</vt:lpstr>
      <vt:lpstr>Gill Sans</vt:lpstr>
      <vt:lpstr>Wingdings 2</vt:lpstr>
      <vt:lpstr>Arial</vt:lpstr>
      <vt:lpstr>Gill Sans MT</vt:lpstr>
      <vt:lpstr>Times New Roman</vt:lpstr>
      <vt:lpstr>Dividendo</vt:lpstr>
      <vt:lpstr>1_Dividendo</vt:lpstr>
      <vt:lpstr>WEB SERVICE SOAP CON JAVA
EN LA NUBE (AWS) </vt:lpstr>
      <vt:lpstr>Presentación de PowerPoint</vt:lpstr>
      <vt:lpstr>INTRODUCCIÓN</vt:lpstr>
      <vt:lpstr>OBJETIVOS</vt:lpstr>
      <vt:lpstr>Marco teórico</vt:lpstr>
      <vt:lpstr>Marco teórico</vt:lpstr>
      <vt:lpstr>Marco teórico</vt:lpstr>
      <vt:lpstr>Desarrollo </vt:lpstr>
      <vt:lpstr>Desarrollo </vt:lpstr>
      <vt:lpstr>Desarrollo </vt:lpstr>
      <vt:lpstr>Desarrollo </vt:lpstr>
      <vt:lpstr>Desarrollo </vt:lpstr>
      <vt:lpstr>Desarrollo </vt:lpstr>
      <vt:lpstr>Desarrollo </vt:lpstr>
      <vt:lpstr>Desarrollo </vt:lpstr>
      <vt:lpstr>Desarrollo </vt:lpstr>
      <vt:lpstr>Desarrollo </vt:lpstr>
      <vt:lpstr>Desarrollo </vt:lpstr>
      <vt:lpstr>Conclusiones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BDD LOCAL SOAP JAVA</dc:title>
  <dc:creator>Michael Villarruel</dc:creator>
  <cp:lastModifiedBy>Micaela Salcedo</cp:lastModifiedBy>
  <cp:revision>21</cp:revision>
  <dcterms:created xsi:type="dcterms:W3CDTF">2020-07-10T23:33:49Z</dcterms:created>
  <dcterms:modified xsi:type="dcterms:W3CDTF">2026-06-10T16:16:25Z</dcterms:modified>
</cp:coreProperties>
</file>