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1" r:id="rId4"/>
    <p:sldId id="325" r:id="rId5"/>
    <p:sldId id="326" r:id="rId6"/>
    <p:sldId id="331" r:id="rId7"/>
    <p:sldId id="332" r:id="rId8"/>
    <p:sldId id="333" r:id="rId9"/>
    <p:sldId id="344" r:id="rId10"/>
    <p:sldId id="345" r:id="rId11"/>
    <p:sldId id="346" r:id="rId12"/>
    <p:sldId id="347" r:id="rId13"/>
    <p:sldId id="387" r:id="rId14"/>
    <p:sldId id="389" r:id="rId15"/>
    <p:sldId id="390" r:id="rId16"/>
    <p:sldId id="391" r:id="rId17"/>
    <p:sldId id="350" r:id="rId18"/>
    <p:sldId id="352" r:id="rId19"/>
    <p:sldId id="395" r:id="rId20"/>
    <p:sldId id="396" r:id="rId21"/>
    <p:sldId id="397" r:id="rId22"/>
    <p:sldId id="398" r:id="rId23"/>
    <p:sldId id="399" r:id="rId24"/>
    <p:sldId id="400" r:id="rId25"/>
    <p:sldId id="401" r:id="rId26"/>
    <p:sldId id="402" r:id="rId27"/>
    <p:sldId id="403" r:id="rId28"/>
    <p:sldId id="404" r:id="rId29"/>
    <p:sldId id="394" r:id="rId30"/>
    <p:sldId id="353" r:id="rId31"/>
    <p:sldId id="354" r:id="rId32"/>
    <p:sldId id="358" r:id="rId33"/>
    <p:sldId id="385" r:id="rId34"/>
    <p:sldId id="386" r:id="rId35"/>
    <p:sldId id="360" r:id="rId36"/>
    <p:sldId id="393" r:id="rId37"/>
    <p:sldId id="363" r:id="rId38"/>
    <p:sldId id="364" r:id="rId39"/>
    <p:sldId id="365" r:id="rId40"/>
    <p:sldId id="366" r:id="rId41"/>
    <p:sldId id="384" r:id="rId42"/>
    <p:sldId id="367" r:id="rId43"/>
    <p:sldId id="392" r:id="rId44"/>
    <p:sldId id="370" r:id="rId45"/>
    <p:sldId id="371" r:id="rId46"/>
    <p:sldId id="373" r:id="rId47"/>
    <p:sldId id="377" r:id="rId48"/>
    <p:sldId id="378" r:id="rId49"/>
    <p:sldId id="380" r:id="rId50"/>
    <p:sldId id="381" r:id="rId51"/>
    <p:sldId id="383" r:id="rId52"/>
    <p:sldId id="324" r:id="rId53"/>
    <p:sldId id="262" r:id="rId54"/>
    <p:sldId id="263" r:id="rId5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Villarruel" initials="MV" lastIdx="2" clrIdx="0">
    <p:extLst>
      <p:ext uri="{19B8F6BF-5375-455C-9EA6-DF929625EA0E}">
        <p15:presenceInfo xmlns:p15="http://schemas.microsoft.com/office/powerpoint/2012/main" userId="Michael Villarrue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DCDF8C-9C8D-8D9B-74DE-5DAA1D13D4E1}" v="74" dt="2026-01-27T18:26:17.391"/>
    <p1510:client id="{43878F82-0EEE-936B-9709-28CE060C1FDF}" v="130" dt="2026-01-27T18:27:40.496"/>
    <p1510:client id="{4F3DC115-FDE2-4AFD-7FE9-A9107861C010}" v="76" dt="2026-01-27T18:26:20.2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683606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333042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787156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231887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354274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240500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273831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7/19/2026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715541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612505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210192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207802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7/19/2026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‹Nº›</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Tree>
    <p:extLst>
      <p:ext uri="{BB962C8B-B14F-4D97-AF65-F5344CB8AC3E}">
        <p14:creationId xmlns:p14="http://schemas.microsoft.com/office/powerpoint/2010/main" val="3239518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5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51.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956176-055A-4F41-9A1C-5A8ABC57AE1B}"/>
              </a:ext>
            </a:extLst>
          </p:cNvPr>
          <p:cNvSpPr>
            <a:spLocks noGrp="1"/>
          </p:cNvSpPr>
          <p:nvPr>
            <p:ph type="ctrTitle"/>
          </p:nvPr>
        </p:nvSpPr>
        <p:spPr>
          <a:xfrm>
            <a:off x="599225" y="3019653"/>
            <a:ext cx="10993549" cy="1812758"/>
          </a:xfrm>
        </p:spPr>
        <p:txBody>
          <a:bodyPr>
            <a:normAutofit/>
          </a:bodyPr>
          <a:lstStyle/>
          <a:p>
            <a:pPr algn="ctr"/>
            <a:r>
              <a:rPr lang="es-ES" sz="2800" dirty="0">
                <a:solidFill>
                  <a:schemeClr val="bg1"/>
                </a:solidFill>
              </a:rPr>
              <a:t>MANUAL</a:t>
            </a:r>
            <a:br>
              <a:rPr lang="es-ES" sz="2800" dirty="0">
                <a:solidFill>
                  <a:schemeClr val="bg1"/>
                </a:solidFill>
              </a:rPr>
            </a:br>
            <a:r>
              <a:rPr lang="es-ES" sz="2800" dirty="0">
                <a:solidFill>
                  <a:schemeClr val="bg1"/>
                </a:solidFill>
              </a:rPr>
              <a:t>Técnico de Implementación</a:t>
            </a:r>
            <a:br>
              <a:rPr lang="es-ES" sz="2800" dirty="0">
                <a:solidFill>
                  <a:schemeClr val="bg1"/>
                </a:solidFill>
              </a:rPr>
            </a:br>
            <a:r>
              <a:rPr lang="es-ES" sz="2800" dirty="0">
                <a:solidFill>
                  <a:schemeClr val="bg1"/>
                </a:solidFill>
              </a:rPr>
              <a:t>Orquestación de Procesos Bancarios con BPMN</a:t>
            </a:r>
          </a:p>
        </p:txBody>
      </p:sp>
      <p:sp>
        <p:nvSpPr>
          <p:cNvPr id="3" name="Subtítulo 2">
            <a:extLst>
              <a:ext uri="{FF2B5EF4-FFF2-40B4-BE49-F238E27FC236}">
                <a16:creationId xmlns:a16="http://schemas.microsoft.com/office/drawing/2014/main" id="{3D0C571E-A349-4667-927F-5916BE6073A2}"/>
              </a:ext>
            </a:extLst>
          </p:cNvPr>
          <p:cNvSpPr>
            <a:spLocks noGrp="1"/>
          </p:cNvSpPr>
          <p:nvPr>
            <p:ph type="subTitle" idx="1"/>
          </p:nvPr>
        </p:nvSpPr>
        <p:spPr>
          <a:xfrm>
            <a:off x="75562" y="4832411"/>
            <a:ext cx="4261531" cy="1812758"/>
          </a:xfrm>
        </p:spPr>
        <p:txBody>
          <a:bodyPr>
            <a:normAutofit/>
          </a:bodyPr>
          <a:lstStyle/>
          <a:p>
            <a:pPr algn="r"/>
            <a:r>
              <a:rPr lang="es-EC" b="1" dirty="0">
                <a:solidFill>
                  <a:schemeClr val="bg1"/>
                </a:solidFill>
              </a:rPr>
              <a:t>Integrantes:</a:t>
            </a:r>
            <a:r>
              <a:rPr lang="es-EC" dirty="0">
                <a:solidFill>
                  <a:schemeClr val="bg1"/>
                </a:solidFill>
              </a:rPr>
              <a:t> 	</a:t>
            </a:r>
          </a:p>
          <a:p>
            <a:pPr algn="r"/>
            <a:r>
              <a:rPr lang="es-EC" dirty="0">
                <a:solidFill>
                  <a:schemeClr val="bg1"/>
                </a:solidFill>
              </a:rPr>
              <a:t>Josué Marín</a:t>
            </a:r>
          </a:p>
          <a:p>
            <a:pPr algn="r"/>
            <a:r>
              <a:rPr lang="es-EC" dirty="0">
                <a:solidFill>
                  <a:schemeClr val="bg1"/>
                </a:solidFill>
              </a:rPr>
              <a:t>Elkin Pabón</a:t>
            </a:r>
          </a:p>
          <a:p>
            <a:pPr algn="r"/>
            <a:r>
              <a:rPr lang="es-EC" dirty="0">
                <a:solidFill>
                  <a:schemeClr val="bg1"/>
                </a:solidFill>
              </a:rPr>
              <a:t>Micaela Salcedo</a:t>
            </a:r>
          </a:p>
          <a:p>
            <a:pPr algn="r"/>
            <a:endParaRPr lang="es-EC" dirty="0">
              <a:solidFill>
                <a:schemeClr val="bg1"/>
              </a:solidFill>
            </a:endParaRPr>
          </a:p>
        </p:txBody>
      </p:sp>
      <p:pic>
        <p:nvPicPr>
          <p:cNvPr id="1026" name="Picture 2" descr="Resultado de imagen para espe">
            <a:extLst>
              <a:ext uri="{FF2B5EF4-FFF2-40B4-BE49-F238E27FC236}">
                <a16:creationId xmlns:a16="http://schemas.microsoft.com/office/drawing/2014/main" id="{F414D571-4BC8-480A-8CAB-8B16FE5157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597" y="716302"/>
            <a:ext cx="11647502" cy="2193925"/>
          </a:xfrm>
          <a:prstGeom prst="rect">
            <a:avLst/>
          </a:prstGeom>
          <a:noFill/>
          <a:extLst>
            <a:ext uri="{909E8E84-426E-40DD-AFC4-6F175D3DCCD1}">
              <a14:hiddenFill xmlns:a14="http://schemas.microsoft.com/office/drawing/2010/main">
                <a:solidFill>
                  <a:srgbClr val="FFFFFF"/>
                </a:solidFill>
              </a14:hiddenFill>
            </a:ext>
          </a:extLst>
        </p:spPr>
      </p:pic>
      <p:sp>
        <p:nvSpPr>
          <p:cNvPr id="5" name="Subtítulo 2">
            <a:extLst>
              <a:ext uri="{FF2B5EF4-FFF2-40B4-BE49-F238E27FC236}">
                <a16:creationId xmlns:a16="http://schemas.microsoft.com/office/drawing/2014/main" id="{1967A448-01D9-4956-A50F-F9BFFBEC42EB}"/>
              </a:ext>
            </a:extLst>
          </p:cNvPr>
          <p:cNvSpPr txBox="1">
            <a:spLocks/>
          </p:cNvSpPr>
          <p:nvPr/>
        </p:nvSpPr>
        <p:spPr>
          <a:xfrm>
            <a:off x="9037063" y="5301801"/>
            <a:ext cx="4261531" cy="123535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None/>
              <a:tabLst/>
              <a:defRPr/>
            </a:pPr>
            <a:r>
              <a:rPr kumimoji="0" lang="es-EC" sz="1600" b="1" i="0" u="none" strike="noStrike" kern="1200" cap="all" spc="0" normalizeH="0" baseline="0" noProof="0" dirty="0">
                <a:ln>
                  <a:noFill/>
                </a:ln>
                <a:solidFill>
                  <a:prstClr val="white"/>
                </a:solidFill>
                <a:effectLst/>
                <a:uLnTx/>
                <a:uFillTx/>
                <a:latin typeface="Gill Sans MT" panose="020B0502020104020203"/>
                <a:ea typeface="+mn-ea"/>
                <a:cs typeface="+mn-cs"/>
              </a:rPr>
              <a:t>FECHA:  19/07/2026</a:t>
            </a:r>
            <a:endParaRPr lang="es-EC" dirty="0">
              <a:solidFill>
                <a:prstClr val="white"/>
              </a:solidFill>
              <a:latin typeface="Gill Sans MT" panose="020B0502020104020203"/>
            </a:endParaRPr>
          </a:p>
          <a:p>
            <a:pPr marL="0" marR="0" lvl="0" indent="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None/>
              <a:tabLst/>
              <a:defRPr/>
            </a:pPr>
            <a:r>
              <a:rPr kumimoji="0" lang="es-EC" sz="1600" b="1" i="0" u="none" strike="noStrike" kern="1200" cap="all" spc="0" normalizeH="0" baseline="0" noProof="0" dirty="0">
                <a:ln>
                  <a:noFill/>
                </a:ln>
                <a:solidFill>
                  <a:prstClr val="white"/>
                </a:solidFill>
                <a:effectLst/>
                <a:uLnTx/>
                <a:uFillTx/>
                <a:latin typeface="Gill Sans MT" panose="020B0502020104020203"/>
                <a:ea typeface="+mn-ea"/>
                <a:cs typeface="+mn-cs"/>
              </a:rPr>
              <a:t>Ing: </a:t>
            </a:r>
            <a:r>
              <a:rPr kumimoji="0" lang="es-EC" sz="1600" b="0" i="0" u="none" strike="noStrike" kern="1200" cap="all" spc="0" normalizeH="0" baseline="0" noProof="0" dirty="0">
                <a:ln>
                  <a:noFill/>
                </a:ln>
                <a:solidFill>
                  <a:prstClr val="white"/>
                </a:solidFill>
                <a:effectLst/>
                <a:uLnTx/>
                <a:uFillTx/>
                <a:latin typeface="Gill Sans MT" panose="020B0502020104020203"/>
                <a:ea typeface="+mn-ea"/>
                <a:cs typeface="+mn-cs"/>
              </a:rPr>
              <a:t>Campaña mauricio</a:t>
            </a:r>
            <a:endParaRPr kumimoji="0" lang="es-EC" sz="1600" b="1" i="0" u="none" strike="noStrike" kern="1200" cap="all" spc="0" normalizeH="0" baseline="0" noProof="0" dirty="0">
              <a:ln>
                <a:noFill/>
              </a:ln>
              <a:solidFill>
                <a:prstClr val="white"/>
              </a:solidFill>
              <a:effectLst/>
              <a:uLnTx/>
              <a:uFillTx/>
              <a:latin typeface="Gill Sans MT" panose="020B0502020104020203"/>
              <a:ea typeface="+mn-ea"/>
              <a:cs typeface="+mn-cs"/>
            </a:endParaRPr>
          </a:p>
        </p:txBody>
      </p:sp>
      <p:sp>
        <p:nvSpPr>
          <p:cNvPr id="4" name="CuadroTexto 3">
            <a:extLst>
              <a:ext uri="{FF2B5EF4-FFF2-40B4-BE49-F238E27FC236}">
                <a16:creationId xmlns:a16="http://schemas.microsoft.com/office/drawing/2014/main" id="{8B78AAB0-61A1-4632-A25D-4FC9433D59B1}"/>
              </a:ext>
            </a:extLst>
          </p:cNvPr>
          <p:cNvSpPr txBox="1"/>
          <p:nvPr/>
        </p:nvSpPr>
        <p:spPr>
          <a:xfrm>
            <a:off x="11817675" y="6474048"/>
            <a:ext cx="37432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C" sz="2000" b="0" i="0" u="none" strike="noStrike" kern="1200" cap="none" spc="0" normalizeH="0" baseline="0" noProof="0" dirty="0">
                <a:ln>
                  <a:noFill/>
                </a:ln>
                <a:solidFill>
                  <a:prstClr val="black"/>
                </a:solidFill>
                <a:effectLst/>
                <a:uLnTx/>
                <a:uFillTx/>
                <a:latin typeface="Gill Sans MT" panose="020B0502020104020203"/>
                <a:ea typeface="+mn-ea"/>
                <a:cs typeface="+mn-cs"/>
              </a:rPr>
              <a:t>1</a:t>
            </a:r>
          </a:p>
        </p:txBody>
      </p:sp>
    </p:spTree>
    <p:extLst>
      <p:ext uri="{BB962C8B-B14F-4D97-AF65-F5344CB8AC3E}">
        <p14:creationId xmlns:p14="http://schemas.microsoft.com/office/powerpoint/2010/main" val="4206866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13" name="Rectangle 12">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E7FCC8BE-29CF-4C4C-BE9D-AC08DC5E481A}"/>
              </a:ext>
            </a:extLst>
          </p:cNvPr>
          <p:cNvSpPr>
            <a:spLocks noGrp="1"/>
          </p:cNvSpPr>
          <p:nvPr>
            <p:ph idx="1"/>
          </p:nvPr>
        </p:nvSpPr>
        <p:spPr>
          <a:xfrm>
            <a:off x="596348" y="701336"/>
            <a:ext cx="3389726" cy="5424255"/>
          </a:xfrm>
        </p:spPr>
        <p:txBody>
          <a:bodyPr vert="horz" lIns="91440" tIns="45720" rIns="91440" bIns="45720" rtlCol="0" anchor="ctr">
            <a:normAutofit fontScale="77500" lnSpcReduction="20000"/>
          </a:bodyPr>
          <a:lstStyle/>
          <a:p>
            <a:r>
              <a:rPr lang="es-ES" dirty="0">
                <a:solidFill>
                  <a:schemeClr val="bg1"/>
                </a:solidFill>
              </a:rPr>
              <a:t>DESARROLLO</a:t>
            </a:r>
          </a:p>
          <a:p>
            <a:pPr lvl="1"/>
            <a:r>
              <a:rPr lang="es-ES" dirty="0">
                <a:solidFill>
                  <a:schemeClr val="bg1"/>
                </a:solidFill>
              </a:rPr>
              <a:t>OBJETIVO</a:t>
            </a:r>
          </a:p>
          <a:p>
            <a:pPr lvl="1"/>
            <a:r>
              <a:rPr lang="es-ES" dirty="0">
                <a:solidFill>
                  <a:schemeClr val="bg1"/>
                </a:solidFill>
              </a:rPr>
              <a:t>MODELO CONCEPTUAL DE LA BASE DE DATOS</a:t>
            </a:r>
          </a:p>
          <a:p>
            <a:pPr lvl="1"/>
            <a:r>
              <a:rPr lang="es-ES" dirty="0">
                <a:solidFill>
                  <a:schemeClr val="bg1"/>
                </a:solidFill>
              </a:rPr>
              <a:t>CREAR BASE DE DATOS</a:t>
            </a:r>
          </a:p>
          <a:p>
            <a:pPr lvl="1"/>
            <a:r>
              <a:rPr lang="es-ES" dirty="0">
                <a:solidFill>
                  <a:schemeClr val="bg1"/>
                </a:solidFill>
              </a:rPr>
              <a:t>CREACIÓN DEL SERVIDOR SOAP</a:t>
            </a:r>
          </a:p>
          <a:p>
            <a:pPr marL="763200" lvl="1">
              <a:defRPr/>
            </a:pPr>
            <a:r>
              <a:rPr lang="es-ES" sz="1800" dirty="0">
                <a:solidFill>
                  <a:schemeClr val="bg1"/>
                </a:solidFill>
              </a:rPr>
              <a:t>CREAR BASE DE DATOS</a:t>
            </a:r>
          </a:p>
          <a:p>
            <a:pPr marL="763200" lvl="1">
              <a:defRPr/>
            </a:pPr>
            <a:r>
              <a:rPr lang="es-ES" sz="1800" dirty="0">
                <a:solidFill>
                  <a:schemeClr val="bg1"/>
                </a:solidFill>
              </a:rPr>
              <a:t>CREACIÓN DEL SERVIDOR SOAP</a:t>
            </a:r>
          </a:p>
          <a:p>
            <a:pPr marL="763200" lvl="1">
              <a:defRPr/>
            </a:pPr>
            <a:r>
              <a:rPr lang="es-ES" sz="1800" dirty="0">
                <a:solidFill>
                  <a:schemeClr val="bg1"/>
                </a:solidFill>
              </a:rPr>
              <a:t>CREACIÓN DEL PROYECTO – CLIENTE CONSOLA</a:t>
            </a:r>
          </a:p>
          <a:p>
            <a:pPr marL="763200" lvl="1">
              <a:defRPr/>
            </a:pPr>
            <a:r>
              <a:rPr lang="es-ES" sz="1800" dirty="0">
                <a:solidFill>
                  <a:schemeClr val="bg1"/>
                </a:solidFill>
              </a:rPr>
              <a:t>CREACIÓN DEL PROYECTO – CLIENTE ESCRITORIO</a:t>
            </a:r>
          </a:p>
          <a:p>
            <a:pPr marL="763200" lvl="1">
              <a:defRPr/>
            </a:pPr>
            <a:r>
              <a:rPr lang="es-ES" sz="1800" dirty="0">
                <a:solidFill>
                  <a:schemeClr val="bg1"/>
                </a:solidFill>
              </a:rPr>
              <a:t>CREACIÓN DEL PROYECTO – CLIENTE WEB</a:t>
            </a:r>
          </a:p>
          <a:p>
            <a:pPr marL="763200" lvl="1">
              <a:defRPr/>
            </a:pPr>
            <a:r>
              <a:rPr lang="es-ES" sz="1800" dirty="0">
                <a:solidFill>
                  <a:schemeClr val="bg1"/>
                </a:solidFill>
              </a:rPr>
              <a:t>CREACIÓN DEL PROYECTO – CLIENTE MOVIL</a:t>
            </a:r>
          </a:p>
          <a:p>
            <a:pPr marR="0" lvl="0" fontAlgn="auto">
              <a:lnSpc>
                <a:spcPct val="100000"/>
              </a:lnSpc>
              <a:tabLst/>
              <a:defRPr/>
            </a:pPr>
            <a:r>
              <a:rPr lang="es-ES" dirty="0">
                <a:solidFill>
                  <a:schemeClr val="bg1"/>
                </a:solidFill>
              </a:rPr>
              <a:t>CONCLUSIONES</a:t>
            </a:r>
          </a:p>
          <a:p>
            <a:pPr marR="0" lvl="0" fontAlgn="auto">
              <a:lnSpc>
                <a:spcPct val="100000"/>
              </a:lnSpc>
              <a:tabLst/>
              <a:defRPr/>
            </a:pPr>
            <a:r>
              <a:rPr lang="es-ES" dirty="0">
                <a:solidFill>
                  <a:schemeClr val="bg1"/>
                </a:solidFill>
              </a:rPr>
              <a:t>RECOMENDACIONES</a:t>
            </a:r>
          </a:p>
          <a:p>
            <a:pPr marR="0" lvl="0" fontAlgn="auto">
              <a:lnSpc>
                <a:spcPct val="100000"/>
              </a:lnSpc>
              <a:tabLst/>
              <a:defRPr/>
            </a:pPr>
            <a:r>
              <a:rPr lang="es-ES" dirty="0">
                <a:solidFill>
                  <a:schemeClr val="bg1"/>
                </a:solidFill>
              </a:rPr>
              <a:t>BIBLIOGRAFÍA</a:t>
            </a:r>
          </a:p>
        </p:txBody>
      </p:sp>
      <p:pic>
        <p:nvPicPr>
          <p:cNvPr id="6" name="Picture 2" descr="Resultado de imagen para AGENDA PNG">
            <a:extLst>
              <a:ext uri="{FF2B5EF4-FFF2-40B4-BE49-F238E27FC236}">
                <a16:creationId xmlns:a16="http://schemas.microsoft.com/office/drawing/2014/main" id="{BEAB8E00-371D-4C0F-B6B7-9BEE622AFD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1522" y="1935576"/>
            <a:ext cx="6489819" cy="3007477"/>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2A76E918-E1AF-47F5-B0A9-06C8BD2DAC04}"/>
              </a:ext>
            </a:extLst>
          </p:cNvPr>
          <p:cNvSpPr txBox="1"/>
          <p:nvPr/>
        </p:nvSpPr>
        <p:spPr>
          <a:xfrm>
            <a:off x="11817675" y="6474048"/>
            <a:ext cx="37432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C" sz="2000" b="0" i="0" u="none" strike="noStrike" kern="1200" cap="none" spc="0" normalizeH="0" baseline="0" noProof="0" dirty="0">
                <a:ln>
                  <a:noFill/>
                </a:ln>
                <a:solidFill>
                  <a:prstClr val="black"/>
                </a:solidFill>
                <a:effectLst/>
                <a:uLnTx/>
                <a:uFillTx/>
                <a:latin typeface="Gill Sans MT" panose="020B0502020104020203"/>
                <a:ea typeface="+mn-ea"/>
                <a:cs typeface="+mn-cs"/>
              </a:rPr>
              <a:t>2</a:t>
            </a:r>
          </a:p>
        </p:txBody>
      </p:sp>
    </p:spTree>
    <p:extLst>
      <p:ext uri="{BB962C8B-B14F-4D97-AF65-F5344CB8AC3E}">
        <p14:creationId xmlns:p14="http://schemas.microsoft.com/office/powerpoint/2010/main" val="749377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180496"/>
            <a:ext cx="8455232" cy="3975348"/>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2.1	OBJETIVO</a:t>
            </a:r>
          </a:p>
          <a:p>
            <a:pPr marL="342900" marR="0" lvl="0" indent="-342900" algn="just">
              <a:lnSpc>
                <a:spcPct val="107000"/>
              </a:lnSpc>
              <a:spcBef>
                <a:spcPts val="0"/>
              </a:spcBef>
              <a:spcAft>
                <a:spcPts val="0"/>
              </a:spcAft>
              <a:buFont typeface="Symbol" panose="05050102010706020507" pitchFamily="18" charset="2"/>
              <a:buChar char=""/>
            </a:pP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Desarrollar e implementar un Web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Service</a:t>
            </a:r>
            <a:r>
              <a:rPr lang="es-ES" sz="1800" dirty="0">
                <a:effectLst/>
                <a:latin typeface="Cambria" panose="02040503050406030204" pitchFamily="18" charset="0"/>
                <a:ea typeface="Calibri" panose="020F0502020204030204" pitchFamily="34" charset="0"/>
                <a:cs typeface="Times New Roman" panose="02020603050405020304" pitchFamily="18" charset="0"/>
              </a:rPr>
              <a:t> utilizando </a:t>
            </a:r>
            <a:r>
              <a:rPr lang="es-ES" dirty="0">
                <a:latin typeface="Cambria" panose="02040503050406030204" pitchFamily="18" charset="0"/>
                <a:ea typeface="Calibri" panose="020F0502020204030204" pitchFamily="34" charset="0"/>
                <a:cs typeface="Times New Roman" panose="02020603050405020304" pitchFamily="18" charset="0"/>
              </a:rPr>
              <a:t>SOAP</a:t>
            </a:r>
            <a:r>
              <a:rPr lang="es-ES" sz="1800" dirty="0">
                <a:effectLst/>
                <a:latin typeface="Cambria" panose="02040503050406030204" pitchFamily="18" charset="0"/>
                <a:ea typeface="Calibri" panose="020F0502020204030204" pitchFamily="34" charset="0"/>
                <a:cs typeface="Times New Roman" panose="02020603050405020304" pitchFamily="18" charset="0"/>
              </a:rPr>
              <a:t> mediante JAVA para realizar el registro y consulta de movimientos monetarios, ilustrando los pasos generales para su creación.</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BPM</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Tree>
    <p:extLst>
      <p:ext uri="{BB962C8B-B14F-4D97-AF65-F5344CB8AC3E}">
        <p14:creationId xmlns:p14="http://schemas.microsoft.com/office/powerpoint/2010/main" val="3141142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a:xfrm>
            <a:off x="581192" y="702155"/>
            <a:ext cx="11029616" cy="858779"/>
          </a:xfrm>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233106" y="1716809"/>
            <a:ext cx="9498678" cy="858780"/>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2.2	MODELO CONCEPTUAL DE LA BASE DE DATOS</a:t>
            </a:r>
          </a:p>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1.	A continuación, se presente el modelo conceptual de la base de datos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EurekaBank</a:t>
            </a:r>
            <a:r>
              <a:rPr lang="es-ES" sz="1800" dirty="0">
                <a:effectLst/>
                <a:latin typeface="Cambria" panose="02040503050406030204" pitchFamily="18" charset="0"/>
                <a:ea typeface="Calibri" panose="020F0502020204030204" pitchFamily="34" charset="0"/>
                <a:cs typeface="Times New Roman" panose="02020603050405020304" pitchFamily="18" charset="0"/>
              </a:rPr>
              <a:t>”</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descr="Diagrama&#10;&#10;Descripción generada automáticamente">
            <a:extLst>
              <a:ext uri="{FF2B5EF4-FFF2-40B4-BE49-F238E27FC236}">
                <a16:creationId xmlns:a16="http://schemas.microsoft.com/office/drawing/2014/main" id="{BD82B9D3-F9A0-B019-97E6-675334038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4138" y="2731464"/>
            <a:ext cx="2090862" cy="3837421"/>
          </a:xfrm>
          <a:prstGeom prst="rect">
            <a:avLst/>
          </a:prstGeom>
        </p:spPr>
      </p:pic>
    </p:spTree>
    <p:extLst>
      <p:ext uri="{BB962C8B-B14F-4D97-AF65-F5344CB8AC3E}">
        <p14:creationId xmlns:p14="http://schemas.microsoft.com/office/powerpoint/2010/main" val="865893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1044292" y="2180496"/>
            <a:ext cx="7876306" cy="1248504"/>
          </a:xfrm>
        </p:spPr>
        <p:txBody>
          <a:bodyPr>
            <a:normAutofit fontScale="85000" lnSpcReduction="10000"/>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2.3	CREAR BASE DE DATOS</a:t>
            </a:r>
          </a:p>
          <a:p>
            <a:pPr marL="0" marR="0" lvl="0" indent="0" algn="just">
              <a:lnSpc>
                <a:spcPct val="107000"/>
              </a:lnSpc>
              <a:spcBef>
                <a:spcPts val="0"/>
              </a:spcBef>
              <a:spcAft>
                <a:spcPts val="0"/>
              </a:spcAft>
              <a:buNone/>
            </a:pPr>
            <a:r>
              <a:rPr lang="es-ES" sz="1800" dirty="0">
                <a:effectLst/>
                <a:latin typeface="Cambria" panose="02040503050406030204" pitchFamily="18" charset="0"/>
                <a:ea typeface="Calibri" panose="020F0502020204030204" pitchFamily="34" charset="0"/>
                <a:cs typeface="Times New Roman" panose="02020603050405020304" pitchFamily="18" charset="0"/>
              </a:rPr>
              <a:t>Se accedió a la consola de MySQL y se estableció la conexión con el servidor, comprobando su correcto funcionamiento. Posteriormente, se creó la base de datos correspondiente y se verificó su existencia mediante comandos SQL, asegurando que el entorno estuviera listo para la creación de tablas y la posterior inserción de datos.</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1026" name="Picture 2" descr="MySQL - Wikipedia, la enciclopedia libre">
            <a:extLst>
              <a:ext uri="{FF2B5EF4-FFF2-40B4-BE49-F238E27FC236}">
                <a16:creationId xmlns:a16="http://schemas.microsoft.com/office/drawing/2014/main" id="{A3BDC5EC-E367-64F6-C778-CE95F0A2E0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6256" y="3681351"/>
            <a:ext cx="4732378" cy="2592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064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180497"/>
            <a:ext cx="8589441" cy="1248504"/>
          </a:xfrm>
        </p:spPr>
        <p:txBody>
          <a:bodyPr>
            <a:normAutofit fontScale="92500" lnSpcReduction="20000"/>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2.4	Creación del Servidor SOAP</a:t>
            </a:r>
          </a:p>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1.	El siguiente paso del proyecto es crear el servidor de la aplicación, recordando que este debe ser necesariamente web, además de que debe ser creado y guardado en la carpeta </a:t>
            </a:r>
            <a:r>
              <a:rPr lang="es-ES" dirty="0">
                <a:latin typeface="Cambria" panose="02040503050406030204" pitchFamily="18" charset="0"/>
                <a:ea typeface="Calibri" panose="020F0502020204030204" pitchFamily="34" charset="0"/>
                <a:cs typeface="Times New Roman" panose="02020603050405020304" pitchFamily="18" charset="0"/>
              </a:rPr>
              <a:t>WS_EUREKA</a:t>
            </a: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Se crea entonces un proyecto seleccionando la opción File &gt; New Project.</a:t>
            </a:r>
          </a:p>
          <a:p>
            <a:pPr marL="342900" marR="0" lvl="0" indent="-342900" algn="just">
              <a:lnSpc>
                <a:spcPct val="107000"/>
              </a:lnSpc>
              <a:spcBef>
                <a:spcPts val="0"/>
              </a:spcBef>
              <a:spcAft>
                <a:spcPts val="0"/>
              </a:spcAft>
              <a:buFont typeface="Symbol" panose="05050102010706020507" pitchFamily="18" charset="2"/>
              <a:buChar char=""/>
            </a:pP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a:extLst>
              <a:ext uri="{FF2B5EF4-FFF2-40B4-BE49-F238E27FC236}">
                <a16:creationId xmlns:a16="http://schemas.microsoft.com/office/drawing/2014/main" id="{2539AE21-95FA-0DBF-2F47-63D3034B5A9D}"/>
              </a:ext>
            </a:extLst>
          </p:cNvPr>
          <p:cNvPicPr>
            <a:picLocks noChangeAspect="1"/>
          </p:cNvPicPr>
          <p:nvPr/>
        </p:nvPicPr>
        <p:blipFill>
          <a:blip r:embed="rId2"/>
          <a:stretch>
            <a:fillRect/>
          </a:stretch>
        </p:blipFill>
        <p:spPr>
          <a:xfrm>
            <a:off x="2755012" y="3429000"/>
            <a:ext cx="4241800" cy="292290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63893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390692" y="1962876"/>
            <a:ext cx="8589441" cy="609601"/>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2.	Luego ajustar las configuraciones del servidor.</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descr="Interfaz de usuario gráfica, Texto, Aplicación&#10;&#10;Descripción generada automáticamente">
            <a:extLst>
              <a:ext uri="{FF2B5EF4-FFF2-40B4-BE49-F238E27FC236}">
                <a16:creationId xmlns:a16="http://schemas.microsoft.com/office/drawing/2014/main" id="{673992CB-1717-737C-3F5C-6EEEE1E7A277}"/>
              </a:ext>
            </a:extLst>
          </p:cNvPr>
          <p:cNvPicPr>
            <a:picLocks noChangeAspect="1"/>
          </p:cNvPicPr>
          <p:nvPr/>
        </p:nvPicPr>
        <p:blipFill>
          <a:blip r:embed="rId2"/>
          <a:stretch>
            <a:fillRect/>
          </a:stretch>
        </p:blipFill>
        <p:spPr>
          <a:xfrm>
            <a:off x="2201961" y="2714720"/>
            <a:ext cx="5560967" cy="382581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261152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471242" y="2009047"/>
            <a:ext cx="8589441" cy="600803"/>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3.	Se salta la ventana de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frameworks</a:t>
            </a:r>
            <a:r>
              <a:rPr lang="es-ES" sz="1800" dirty="0">
                <a:effectLst/>
                <a:latin typeface="Cambria" panose="02040503050406030204" pitchFamily="18" charset="0"/>
                <a:ea typeface="Calibri" panose="020F0502020204030204" pitchFamily="34" charset="0"/>
                <a:cs typeface="Times New Roman" panose="02020603050405020304" pitchFamily="18" charset="0"/>
              </a:rPr>
              <a:t> dejando todo por defecto</a:t>
            </a:r>
            <a:r>
              <a:rPr lang="es-ES" dirty="0">
                <a:latin typeface="Cambria" panose="02040503050406030204" pitchFamily="18" charset="0"/>
                <a:ea typeface="Calibri" panose="020F0502020204030204" pitchFamily="34" charset="0"/>
                <a:cs typeface="Times New Roman" panose="02020603050405020304" pitchFamily="18" charset="0"/>
              </a:rPr>
              <a:t>.</a:t>
            </a: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descr="Interfaz de usuario gráfica, Texto, Aplicación, Word&#10;&#10;Descripción generada automáticamente">
            <a:extLst>
              <a:ext uri="{FF2B5EF4-FFF2-40B4-BE49-F238E27FC236}">
                <a16:creationId xmlns:a16="http://schemas.microsoft.com/office/drawing/2014/main" id="{A8816A60-974D-A104-C165-60FC518A2094}"/>
              </a:ext>
            </a:extLst>
          </p:cNvPr>
          <p:cNvPicPr>
            <a:picLocks noChangeAspect="1"/>
          </p:cNvPicPr>
          <p:nvPr/>
        </p:nvPicPr>
        <p:blipFill rotWithShape="1">
          <a:blip r:embed="rId2"/>
          <a:srcRect l="23770" t="17252" r="22268" b="18840"/>
          <a:stretch/>
        </p:blipFill>
        <p:spPr bwMode="auto">
          <a:xfrm>
            <a:off x="2410259" y="2848033"/>
            <a:ext cx="5325839" cy="3545994"/>
          </a:xfrm>
          <a:prstGeom prst="rect">
            <a:avLst/>
          </a:prstGeom>
          <a:ln w="889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2065198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948226"/>
            <a:ext cx="8589441" cy="1600466"/>
          </a:xfrm>
        </p:spPr>
        <p:txBody>
          <a:bodyPr>
            <a:normAutofit fontScale="92500" lnSpcReduction="10000"/>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5.	Como siguiente paso, se crean los paquetes necesarios para la aplicación basándose en MVC, los cuales son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db</a:t>
            </a:r>
            <a:r>
              <a:rPr lang="es-ES" sz="1800" dirty="0">
                <a:effectLst/>
                <a:latin typeface="Cambria" panose="02040503050406030204" pitchFamily="18" charset="0"/>
                <a:ea typeface="Calibri" panose="020F0502020204030204" pitchFamily="34" charset="0"/>
                <a:cs typeface="Times New Roman" panose="02020603050405020304" pitchFamily="18" charset="0"/>
              </a:rPr>
              <a:t>, modelo, vista, controlador, prueba, servicio y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ws</a:t>
            </a:r>
            <a:r>
              <a:rPr lang="es-ES" sz="1800" dirty="0">
                <a:effectLst/>
                <a:latin typeface="Cambria" panose="02040503050406030204" pitchFamily="18" charset="0"/>
                <a:ea typeface="Calibri" panose="020F0502020204030204" pitchFamily="34" charset="0"/>
                <a:cs typeface="Times New Roman" panose="02020603050405020304" pitchFamily="18" charset="0"/>
              </a:rPr>
              <a:t>.</a:t>
            </a:r>
          </a:p>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Para la creación de un paquete se debe realizar lo siguiente, después todos los paquetes que se quieran crear siguen la misma lógica, iniciando por la selección de la carpeta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Source</a:t>
            </a:r>
            <a:r>
              <a:rPr lang="es-ES" sz="1800" dirty="0">
                <a:effectLst/>
                <a:latin typeface="Cambria" panose="02040503050406030204" pitchFamily="18" charset="0"/>
                <a:ea typeface="Calibri" panose="020F0502020204030204" pitchFamily="34" charset="0"/>
                <a:cs typeface="Times New Roman" panose="02020603050405020304" pitchFamily="18" charset="0"/>
              </a:rPr>
              <a:t>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Packages</a:t>
            </a:r>
            <a:r>
              <a:rPr lang="es-ES" sz="1800" dirty="0">
                <a:effectLst/>
                <a:latin typeface="Cambria" panose="02040503050406030204" pitchFamily="18" charset="0"/>
                <a:ea typeface="Calibri" panose="020F0502020204030204" pitchFamily="34" charset="0"/>
                <a:cs typeface="Times New Roman" panose="02020603050405020304" pitchFamily="18" charset="0"/>
              </a:rPr>
              <a:t> y presionando clic derecho para luego escoger la opción New &gt; Java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Package</a:t>
            </a:r>
            <a:r>
              <a:rPr lang="es-ES" sz="1800" dirty="0">
                <a:effectLst/>
                <a:latin typeface="Cambria" panose="02040503050406030204" pitchFamily="18" charset="0"/>
                <a:ea typeface="Calibri" panose="020F0502020204030204" pitchFamily="34" charset="0"/>
                <a:cs typeface="Times New Roman" panose="02020603050405020304" pitchFamily="18" charset="0"/>
              </a:rPr>
              <a:t>.</a:t>
            </a:r>
          </a:p>
          <a:p>
            <a:pPr marL="342900" marR="0" lvl="0" indent="-342900" algn="just">
              <a:lnSpc>
                <a:spcPct val="107000"/>
              </a:lnSpc>
              <a:spcBef>
                <a:spcPts val="0"/>
              </a:spcBef>
              <a:spcAft>
                <a:spcPts val="0"/>
              </a:spcAft>
              <a:buFont typeface="Symbol" panose="05050102010706020507" pitchFamily="18" charset="2"/>
              <a:buChar char=""/>
            </a:pP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a:extLst>
              <a:ext uri="{FF2B5EF4-FFF2-40B4-BE49-F238E27FC236}">
                <a16:creationId xmlns:a16="http://schemas.microsoft.com/office/drawing/2014/main" id="{B0D44A63-CE3D-A256-BCAB-537148B8B6E7}"/>
              </a:ext>
            </a:extLst>
          </p:cNvPr>
          <p:cNvPicPr>
            <a:picLocks noChangeAspect="1"/>
          </p:cNvPicPr>
          <p:nvPr/>
        </p:nvPicPr>
        <p:blipFill>
          <a:blip r:embed="rId2"/>
          <a:stretch>
            <a:fillRect/>
          </a:stretch>
        </p:blipFill>
        <p:spPr>
          <a:xfrm>
            <a:off x="831373" y="3780962"/>
            <a:ext cx="4920486" cy="1600466"/>
          </a:xfrm>
          <a:prstGeom prst="rect">
            <a:avLst/>
          </a:prstGeom>
          <a:ln w="88900" cap="sq" cmpd="thickThin">
            <a:solidFill>
              <a:srgbClr val="000000"/>
            </a:solidFill>
            <a:prstDash val="solid"/>
            <a:miter lim="800000"/>
          </a:ln>
          <a:effectLst>
            <a:innerShdw blurRad="76200">
              <a:srgbClr val="000000"/>
            </a:innerShdw>
          </a:effectLst>
        </p:spPr>
      </p:pic>
      <p:pic>
        <p:nvPicPr>
          <p:cNvPr id="7" name="Imagen 6" descr="Interfaz de usuario gráfica, Aplicación&#10;&#10;Descripción generada automáticamente">
            <a:extLst>
              <a:ext uri="{FF2B5EF4-FFF2-40B4-BE49-F238E27FC236}">
                <a16:creationId xmlns:a16="http://schemas.microsoft.com/office/drawing/2014/main" id="{2EAC11DC-00DE-6382-DB12-FFE20A9E1446}"/>
              </a:ext>
            </a:extLst>
          </p:cNvPr>
          <p:cNvPicPr>
            <a:picLocks noChangeAspect="1"/>
          </p:cNvPicPr>
          <p:nvPr/>
        </p:nvPicPr>
        <p:blipFill>
          <a:blip r:embed="rId3"/>
          <a:stretch>
            <a:fillRect/>
          </a:stretch>
        </p:blipFill>
        <p:spPr>
          <a:xfrm>
            <a:off x="6096000" y="4731885"/>
            <a:ext cx="2834200" cy="176035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326254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CONEXIÓN A BASE DE DATOS</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922289"/>
            <a:ext cx="8387995" cy="991645"/>
          </a:xfrm>
        </p:spPr>
        <p:txBody>
          <a:bodyPr>
            <a:normAutofit fontScale="85000" lnSpcReduction="10000"/>
          </a:bodyPr>
          <a:lstStyle/>
          <a:p>
            <a:pPr marL="342900" marR="0" lvl="0" indent="-342900" algn="just">
              <a:lnSpc>
                <a:spcPct val="107000"/>
              </a:lnSpc>
              <a:spcBef>
                <a:spcPts val="0"/>
              </a:spcBef>
              <a:spcAft>
                <a:spcPts val="0"/>
              </a:spcAft>
              <a:buFont typeface="Symbol" panose="05050102010706020507" pitchFamily="18" charset="2"/>
              <a:buChar char=""/>
            </a:pPr>
            <a:r>
              <a:rPr lang="es-ES" dirty="0">
                <a:latin typeface="Cambria" panose="02040503050406030204" pitchFamily="18" charset="0"/>
                <a:ea typeface="Calibri" panose="020F0502020204030204" pitchFamily="34" charset="0"/>
                <a:cs typeface="Times New Roman" panose="02020603050405020304" pitchFamily="18" charset="0"/>
              </a:rPr>
              <a:t>Una vez creado los paquetes necesarios, se procede a crear la conexión a la base de datos de la siguiente manera.</a:t>
            </a:r>
          </a:p>
          <a:p>
            <a:pPr marL="342900" marR="0" lvl="0" indent="-342900" algn="just">
              <a:lnSpc>
                <a:spcPct val="107000"/>
              </a:lnSpc>
              <a:spcBef>
                <a:spcPts val="0"/>
              </a:spcBef>
              <a:spcAft>
                <a:spcPts val="0"/>
              </a:spcAft>
              <a:buFont typeface="Symbol" panose="05050102010706020507" pitchFamily="18" charset="2"/>
              <a:buChar char=""/>
            </a:pPr>
            <a:r>
              <a:rPr lang="es-ES" dirty="0">
                <a:latin typeface="Cambria" panose="02040503050406030204" pitchFamily="18" charset="0"/>
                <a:ea typeface="Calibri" panose="020F0502020204030204" pitchFamily="34" charset="0"/>
                <a:cs typeface="Times New Roman" panose="02020603050405020304" pitchFamily="18" charset="0"/>
              </a:rPr>
              <a:t>Primero, se selecciona el paquete </a:t>
            </a:r>
            <a:r>
              <a:rPr lang="es-ES" dirty="0" err="1">
                <a:latin typeface="Cambria" panose="02040503050406030204" pitchFamily="18" charset="0"/>
                <a:ea typeface="Calibri" panose="020F0502020204030204" pitchFamily="34" charset="0"/>
                <a:cs typeface="Times New Roman" panose="02020603050405020304" pitchFamily="18" charset="0"/>
              </a:rPr>
              <a:t>db</a:t>
            </a:r>
            <a:r>
              <a:rPr lang="es-ES" dirty="0">
                <a:latin typeface="Cambria" panose="02040503050406030204" pitchFamily="18" charset="0"/>
                <a:ea typeface="Calibri" panose="020F0502020204030204" pitchFamily="34" charset="0"/>
                <a:cs typeface="Times New Roman" panose="02020603050405020304" pitchFamily="18" charset="0"/>
              </a:rPr>
              <a:t> para luego dar clic derecho sobre el mismo y seleccionar New &gt; Java </a:t>
            </a:r>
            <a:r>
              <a:rPr lang="es-ES" dirty="0" err="1">
                <a:latin typeface="Cambria" panose="02040503050406030204" pitchFamily="18" charset="0"/>
                <a:ea typeface="Calibri" panose="020F0502020204030204" pitchFamily="34" charset="0"/>
                <a:cs typeface="Times New Roman" panose="02020603050405020304" pitchFamily="18" charset="0"/>
              </a:rPr>
              <a:t>Class</a:t>
            </a:r>
            <a:r>
              <a:rPr lang="es-ES" dirty="0">
                <a:latin typeface="Cambria" panose="02040503050406030204" pitchFamily="18" charset="0"/>
                <a:ea typeface="Calibri" panose="020F0502020204030204" pitchFamily="34" charset="0"/>
                <a:cs typeface="Times New Roman" panose="02020603050405020304" pitchFamily="18" charset="0"/>
              </a:rPr>
              <a:t>.</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descr="Interfaz de usuario gráfica, Aplicación&#10;&#10;Descripción generada automáticamente">
            <a:extLst>
              <a:ext uri="{FF2B5EF4-FFF2-40B4-BE49-F238E27FC236}">
                <a16:creationId xmlns:a16="http://schemas.microsoft.com/office/drawing/2014/main" id="{03D45EEF-D611-FE07-5818-94DFCD5AB993}"/>
              </a:ext>
            </a:extLst>
          </p:cNvPr>
          <p:cNvPicPr>
            <a:picLocks noChangeAspect="1"/>
          </p:cNvPicPr>
          <p:nvPr/>
        </p:nvPicPr>
        <p:blipFill>
          <a:blip r:embed="rId2"/>
          <a:stretch>
            <a:fillRect/>
          </a:stretch>
        </p:blipFill>
        <p:spPr>
          <a:xfrm>
            <a:off x="292913" y="4229925"/>
            <a:ext cx="3922634" cy="1211466"/>
          </a:xfrm>
          <a:prstGeom prst="rect">
            <a:avLst/>
          </a:prstGeom>
          <a:ln w="88900" cap="sq" cmpd="thickThin">
            <a:solidFill>
              <a:srgbClr val="000000"/>
            </a:solidFill>
            <a:prstDash val="solid"/>
            <a:miter lim="800000"/>
          </a:ln>
          <a:effectLst>
            <a:innerShdw blurRad="76200">
              <a:srgbClr val="000000"/>
            </a:innerShdw>
          </a:effectLst>
        </p:spPr>
      </p:pic>
      <p:pic>
        <p:nvPicPr>
          <p:cNvPr id="7" name="Imagen 6" descr="Interfaz de usuario gráfica, Aplicación&#10;&#10;Descripción generada automáticamente">
            <a:extLst>
              <a:ext uri="{FF2B5EF4-FFF2-40B4-BE49-F238E27FC236}">
                <a16:creationId xmlns:a16="http://schemas.microsoft.com/office/drawing/2014/main" id="{49556BFF-0116-5117-3446-6A9939CD8BF8}"/>
              </a:ext>
            </a:extLst>
          </p:cNvPr>
          <p:cNvPicPr>
            <a:picLocks noChangeAspect="1"/>
          </p:cNvPicPr>
          <p:nvPr/>
        </p:nvPicPr>
        <p:blipFill>
          <a:blip r:embed="rId3"/>
          <a:stretch>
            <a:fillRect/>
          </a:stretch>
        </p:blipFill>
        <p:spPr>
          <a:xfrm>
            <a:off x="4522620" y="3429000"/>
            <a:ext cx="4664277" cy="3193148"/>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76911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CONEXIÓN A BASE DE DATOS</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93860"/>
            <a:ext cx="8589441" cy="801422"/>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Creada la clase se procede a codificarla.</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a:extLst>
              <a:ext uri="{FF2B5EF4-FFF2-40B4-BE49-F238E27FC236}">
                <a16:creationId xmlns:a16="http://schemas.microsoft.com/office/drawing/2014/main" id="{5CAB1FF7-412A-CB2C-012C-D960E6A3BD15}"/>
              </a:ext>
            </a:extLst>
          </p:cNvPr>
          <p:cNvPicPr>
            <a:picLocks noChangeAspect="1"/>
          </p:cNvPicPr>
          <p:nvPr/>
        </p:nvPicPr>
        <p:blipFill>
          <a:blip r:embed="rId2"/>
          <a:stretch>
            <a:fillRect/>
          </a:stretch>
        </p:blipFill>
        <p:spPr>
          <a:xfrm>
            <a:off x="2638489" y="2797772"/>
            <a:ext cx="4474845" cy="384429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478630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PRUEBA DE CONEXIÓN A BASE DE DATOS</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23406" y="1793861"/>
            <a:ext cx="8687829" cy="624251"/>
          </a:xfrm>
        </p:spPr>
        <p:txBody>
          <a:bodyPr>
            <a:normAutofit fontScale="92500" lnSpcReduction="10000"/>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A continuación, se procede a crear una nueva clase en el paquete de pruebas que se llama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PruebaConexionBD</a:t>
            </a:r>
            <a:r>
              <a:rPr lang="es-ES" sz="1800" dirty="0">
                <a:effectLst/>
                <a:latin typeface="Cambria" panose="02040503050406030204" pitchFamily="18" charset="0"/>
                <a:ea typeface="Calibri" panose="020F0502020204030204" pitchFamily="34" charset="0"/>
                <a:cs typeface="Times New Roman" panose="02020603050405020304" pitchFamily="18" charset="0"/>
              </a:rPr>
              <a:t>. </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a:extLst>
              <a:ext uri="{FF2B5EF4-FFF2-40B4-BE49-F238E27FC236}">
                <a16:creationId xmlns:a16="http://schemas.microsoft.com/office/drawing/2014/main" id="{366D5A6D-904B-1283-67BA-A3E43DE32AA1}"/>
              </a:ext>
            </a:extLst>
          </p:cNvPr>
          <p:cNvPicPr>
            <a:picLocks noChangeAspect="1"/>
          </p:cNvPicPr>
          <p:nvPr/>
        </p:nvPicPr>
        <p:blipFill>
          <a:blip r:embed="rId2"/>
          <a:srcRect b="28648"/>
          <a:stretch/>
        </p:blipFill>
        <p:spPr>
          <a:xfrm>
            <a:off x="284048" y="2659739"/>
            <a:ext cx="4661004" cy="2297145"/>
          </a:xfrm>
          <a:prstGeom prst="rect">
            <a:avLst/>
          </a:prstGeom>
          <a:ln w="88900" cap="sq" cmpd="thickThin">
            <a:solidFill>
              <a:srgbClr val="000000"/>
            </a:solidFill>
            <a:prstDash val="solid"/>
            <a:miter lim="800000"/>
          </a:ln>
          <a:effectLst>
            <a:innerShdw blurRad="76200">
              <a:srgbClr val="000000"/>
            </a:innerShdw>
          </a:effectLst>
        </p:spPr>
      </p:pic>
      <p:pic>
        <p:nvPicPr>
          <p:cNvPr id="6" name="Imagen 5">
            <a:extLst>
              <a:ext uri="{FF2B5EF4-FFF2-40B4-BE49-F238E27FC236}">
                <a16:creationId xmlns:a16="http://schemas.microsoft.com/office/drawing/2014/main" id="{B057231A-F30F-C301-123C-64FBADB8BED6}"/>
              </a:ext>
            </a:extLst>
          </p:cNvPr>
          <p:cNvPicPr>
            <a:picLocks noChangeAspect="1"/>
          </p:cNvPicPr>
          <p:nvPr/>
        </p:nvPicPr>
        <p:blipFill>
          <a:blip r:embed="rId3"/>
          <a:stretch>
            <a:fillRect/>
          </a:stretch>
        </p:blipFill>
        <p:spPr>
          <a:xfrm>
            <a:off x="5259480" y="2839632"/>
            <a:ext cx="3853367" cy="3700084"/>
          </a:xfrm>
          <a:prstGeom prst="rect">
            <a:avLst/>
          </a:prstGeom>
          <a:ln w="88900" cap="sq" cmpd="thickThin">
            <a:solidFill>
              <a:srgbClr val="000000"/>
            </a:solidFill>
            <a:prstDash val="solid"/>
            <a:miter lim="800000"/>
          </a:ln>
          <a:effectLst>
            <a:innerShdw blurRad="76200">
              <a:srgbClr val="000000"/>
            </a:innerShdw>
          </a:effectLst>
        </p:spPr>
      </p:pic>
      <p:pic>
        <p:nvPicPr>
          <p:cNvPr id="8" name="Imagen 7" descr="Imagen que contiene Tabla&#10;&#10;Descripción generada automáticamente">
            <a:extLst>
              <a:ext uri="{FF2B5EF4-FFF2-40B4-BE49-F238E27FC236}">
                <a16:creationId xmlns:a16="http://schemas.microsoft.com/office/drawing/2014/main" id="{E4611E67-7C54-BC51-061F-652F5547B511}"/>
              </a:ext>
            </a:extLst>
          </p:cNvPr>
          <p:cNvPicPr>
            <a:picLocks noChangeAspect="1"/>
          </p:cNvPicPr>
          <p:nvPr/>
        </p:nvPicPr>
        <p:blipFill>
          <a:blip r:embed="rId4"/>
          <a:stretch>
            <a:fillRect/>
          </a:stretch>
        </p:blipFill>
        <p:spPr>
          <a:xfrm>
            <a:off x="296658" y="5310349"/>
            <a:ext cx="4648394" cy="140764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310875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CODIFICACIÓN DE CLASES</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23406" y="1793860"/>
            <a:ext cx="8589441" cy="1248504"/>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Habiendo obtenido la conexión se crea una nueva clase dentro del paquete modelo, llamada Movimiento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a:extLst>
              <a:ext uri="{FF2B5EF4-FFF2-40B4-BE49-F238E27FC236}">
                <a16:creationId xmlns:a16="http://schemas.microsoft.com/office/drawing/2014/main" id="{6B453344-9995-DD9C-DA7C-37981EDA24BA}"/>
              </a:ext>
            </a:extLst>
          </p:cNvPr>
          <p:cNvPicPr>
            <a:picLocks noChangeAspect="1"/>
          </p:cNvPicPr>
          <p:nvPr/>
        </p:nvPicPr>
        <p:blipFill>
          <a:blip r:embed="rId2"/>
          <a:stretch>
            <a:fillRect/>
          </a:stretch>
        </p:blipFill>
        <p:spPr>
          <a:xfrm>
            <a:off x="797306" y="3292307"/>
            <a:ext cx="4020820" cy="2747645"/>
          </a:xfrm>
          <a:prstGeom prst="rect">
            <a:avLst/>
          </a:prstGeom>
          <a:ln w="88900" cap="sq" cmpd="thickThin">
            <a:solidFill>
              <a:srgbClr val="000000"/>
            </a:solidFill>
            <a:prstDash val="solid"/>
            <a:miter lim="800000"/>
          </a:ln>
          <a:effectLst>
            <a:innerShdw blurRad="76200">
              <a:srgbClr val="000000"/>
            </a:innerShdw>
          </a:effectLst>
        </p:spPr>
      </p:pic>
      <p:pic>
        <p:nvPicPr>
          <p:cNvPr id="7" name="Imagen 6">
            <a:extLst>
              <a:ext uri="{FF2B5EF4-FFF2-40B4-BE49-F238E27FC236}">
                <a16:creationId xmlns:a16="http://schemas.microsoft.com/office/drawing/2014/main" id="{C394EDBD-2B32-1968-651C-70E5A38E16AB}"/>
              </a:ext>
            </a:extLst>
          </p:cNvPr>
          <p:cNvPicPr>
            <a:picLocks noChangeAspect="1"/>
          </p:cNvPicPr>
          <p:nvPr/>
        </p:nvPicPr>
        <p:blipFill>
          <a:blip r:embed="rId3"/>
          <a:stretch>
            <a:fillRect/>
          </a:stretch>
        </p:blipFill>
        <p:spPr>
          <a:xfrm>
            <a:off x="5267498" y="2852308"/>
            <a:ext cx="3702685" cy="386969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144295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2F16A-7606-44E9-4807-6B308B67F0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7E3CEF-997B-B187-7499-FF8654B393FA}"/>
              </a:ext>
            </a:extLst>
          </p:cNvPr>
          <p:cNvSpPr>
            <a:spLocks noGrp="1"/>
          </p:cNvSpPr>
          <p:nvPr>
            <p:ph type="title"/>
          </p:nvPr>
        </p:nvSpPr>
        <p:spPr/>
        <p:txBody>
          <a:bodyPr/>
          <a:lstStyle/>
          <a:p>
            <a:r>
              <a:rPr lang="es-ES" dirty="0"/>
              <a:t>CODIFICACIÓN DE CLASES</a:t>
            </a:r>
          </a:p>
        </p:txBody>
      </p:sp>
      <p:sp>
        <p:nvSpPr>
          <p:cNvPr id="3" name="Marcador de contenido 2">
            <a:extLst>
              <a:ext uri="{FF2B5EF4-FFF2-40B4-BE49-F238E27FC236}">
                <a16:creationId xmlns:a16="http://schemas.microsoft.com/office/drawing/2014/main" id="{0DB6408D-9388-53F9-2C7A-12852744C457}"/>
              </a:ext>
            </a:extLst>
          </p:cNvPr>
          <p:cNvSpPr>
            <a:spLocks noGrp="1"/>
          </p:cNvSpPr>
          <p:nvPr>
            <p:ph idx="1"/>
          </p:nvPr>
        </p:nvSpPr>
        <p:spPr>
          <a:xfrm>
            <a:off x="523406" y="1793860"/>
            <a:ext cx="8589441" cy="885064"/>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 Se procede a implementar los servicios, para ello se crea una nueva clase llamada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EurekaService</a:t>
            </a:r>
            <a:r>
              <a:rPr lang="es-ES" sz="1800" dirty="0">
                <a:effectLst/>
                <a:latin typeface="Cambria" panose="02040503050406030204" pitchFamily="18" charset="0"/>
                <a:ea typeface="Calibri" panose="020F0502020204030204" pitchFamily="34" charset="0"/>
                <a:cs typeface="Times New Roman" panose="02020603050405020304" pitchFamily="18" charset="0"/>
              </a:rPr>
              <a:t> dentro del paquete servicio.</a:t>
            </a:r>
          </a:p>
        </p:txBody>
      </p:sp>
      <p:sp>
        <p:nvSpPr>
          <p:cNvPr id="5" name="Rectángulo 4">
            <a:extLst>
              <a:ext uri="{FF2B5EF4-FFF2-40B4-BE49-F238E27FC236}">
                <a16:creationId xmlns:a16="http://schemas.microsoft.com/office/drawing/2014/main" id="{D7AFAABF-AD57-B4B1-4C7E-43168026DBC3}"/>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a:extLst>
              <a:ext uri="{FF2B5EF4-FFF2-40B4-BE49-F238E27FC236}">
                <a16:creationId xmlns:a16="http://schemas.microsoft.com/office/drawing/2014/main" id="{C10D4F26-4806-7DE8-9586-63416FA4362C}"/>
              </a:ext>
            </a:extLst>
          </p:cNvPr>
          <p:cNvPicPr>
            <a:picLocks noChangeAspect="1"/>
          </p:cNvPicPr>
          <p:nvPr/>
        </p:nvPicPr>
        <p:blipFill>
          <a:blip r:embed="rId2"/>
          <a:stretch>
            <a:fillRect/>
          </a:stretch>
        </p:blipFill>
        <p:spPr>
          <a:xfrm>
            <a:off x="523406" y="3340254"/>
            <a:ext cx="4098925" cy="2815590"/>
          </a:xfrm>
          <a:prstGeom prst="rect">
            <a:avLst/>
          </a:prstGeom>
          <a:ln w="88900" cap="sq" cmpd="thickThin">
            <a:solidFill>
              <a:srgbClr val="000000"/>
            </a:solidFill>
            <a:prstDash val="solid"/>
            <a:miter lim="800000"/>
          </a:ln>
          <a:effectLst>
            <a:innerShdw blurRad="76200">
              <a:srgbClr val="000000"/>
            </a:innerShdw>
          </a:effectLst>
        </p:spPr>
      </p:pic>
      <p:pic>
        <p:nvPicPr>
          <p:cNvPr id="8" name="Imagen 7">
            <a:extLst>
              <a:ext uri="{FF2B5EF4-FFF2-40B4-BE49-F238E27FC236}">
                <a16:creationId xmlns:a16="http://schemas.microsoft.com/office/drawing/2014/main" id="{9C5F07C8-B53F-23B7-4DE6-2A0218E83ADD}"/>
              </a:ext>
            </a:extLst>
          </p:cNvPr>
          <p:cNvPicPr>
            <a:picLocks noChangeAspect="1"/>
          </p:cNvPicPr>
          <p:nvPr/>
        </p:nvPicPr>
        <p:blipFill>
          <a:blip r:embed="rId3"/>
          <a:stretch>
            <a:fillRect/>
          </a:stretch>
        </p:blipFill>
        <p:spPr>
          <a:xfrm>
            <a:off x="5124834" y="2678924"/>
            <a:ext cx="3982720" cy="403733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09276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66FC3-04B2-8CDA-23D6-8BBCE8459B3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906C63-7C9F-1E46-76BD-9E715F8CB3E9}"/>
              </a:ext>
            </a:extLst>
          </p:cNvPr>
          <p:cNvSpPr>
            <a:spLocks noGrp="1"/>
          </p:cNvSpPr>
          <p:nvPr>
            <p:ph type="title"/>
          </p:nvPr>
        </p:nvSpPr>
        <p:spPr/>
        <p:txBody>
          <a:bodyPr/>
          <a:lstStyle/>
          <a:p>
            <a:r>
              <a:rPr lang="es-ES" dirty="0"/>
              <a:t>CREACIÓN DEL SERVICIO WEB</a:t>
            </a:r>
          </a:p>
        </p:txBody>
      </p:sp>
      <p:sp>
        <p:nvSpPr>
          <p:cNvPr id="3" name="Marcador de contenido 2">
            <a:extLst>
              <a:ext uri="{FF2B5EF4-FFF2-40B4-BE49-F238E27FC236}">
                <a16:creationId xmlns:a16="http://schemas.microsoft.com/office/drawing/2014/main" id="{44CA053D-3B28-5059-C7F9-4EE995823604}"/>
              </a:ext>
            </a:extLst>
          </p:cNvPr>
          <p:cNvSpPr>
            <a:spLocks noGrp="1"/>
          </p:cNvSpPr>
          <p:nvPr>
            <p:ph idx="1"/>
          </p:nvPr>
        </p:nvSpPr>
        <p:spPr>
          <a:xfrm>
            <a:off x="581192" y="2032487"/>
            <a:ext cx="8589441" cy="771250"/>
          </a:xfrm>
        </p:spPr>
        <p:txBody>
          <a:bodyPr>
            <a:normAutofit fontScale="92500" lnSpcReduction="20000"/>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El siguiente paso es crear el servicio web, para ello se procede a seleccionar el paquete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ws</a:t>
            </a:r>
            <a:r>
              <a:rPr lang="es-ES" sz="1800" dirty="0">
                <a:effectLst/>
                <a:latin typeface="Cambria" panose="02040503050406030204" pitchFamily="18" charset="0"/>
                <a:ea typeface="Calibri" panose="020F0502020204030204" pitchFamily="34" charset="0"/>
                <a:cs typeface="Times New Roman" panose="02020603050405020304" pitchFamily="18" charset="0"/>
              </a:rPr>
              <a:t> y dar clic derecho sobre él, paso seguido se selecciona las opciones New &gt; Web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Service</a:t>
            </a:r>
            <a:r>
              <a:rPr lang="es-ES" sz="1800" dirty="0">
                <a:effectLst/>
                <a:latin typeface="Cambria" panose="02040503050406030204" pitchFamily="18" charset="0"/>
                <a:ea typeface="Calibri" panose="020F0502020204030204" pitchFamily="34" charset="0"/>
                <a:cs typeface="Times New Roman" panose="02020603050405020304" pitchFamily="18" charset="0"/>
              </a:rPr>
              <a:t>.</a:t>
            </a:r>
          </a:p>
        </p:txBody>
      </p:sp>
      <p:sp>
        <p:nvSpPr>
          <p:cNvPr id="5" name="Rectángulo 4">
            <a:extLst>
              <a:ext uri="{FF2B5EF4-FFF2-40B4-BE49-F238E27FC236}">
                <a16:creationId xmlns:a16="http://schemas.microsoft.com/office/drawing/2014/main" id="{44021258-8CF2-64B6-EA35-269E63C4370D}"/>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descr="Interfaz de usuario gráfica, Aplicación&#10;&#10;Descripción generada automáticamente">
            <a:extLst>
              <a:ext uri="{FF2B5EF4-FFF2-40B4-BE49-F238E27FC236}">
                <a16:creationId xmlns:a16="http://schemas.microsoft.com/office/drawing/2014/main" id="{C642FE75-F717-93CE-B959-631ADFF7FCA2}"/>
              </a:ext>
            </a:extLst>
          </p:cNvPr>
          <p:cNvPicPr>
            <a:picLocks noChangeAspect="1"/>
          </p:cNvPicPr>
          <p:nvPr/>
        </p:nvPicPr>
        <p:blipFill>
          <a:blip r:embed="rId2"/>
          <a:stretch>
            <a:fillRect/>
          </a:stretch>
        </p:blipFill>
        <p:spPr>
          <a:xfrm>
            <a:off x="1090967" y="4054264"/>
            <a:ext cx="2856230" cy="846455"/>
          </a:xfrm>
          <a:prstGeom prst="rect">
            <a:avLst/>
          </a:prstGeom>
          <a:ln w="88900" cap="sq" cmpd="thickThin">
            <a:solidFill>
              <a:srgbClr val="000000"/>
            </a:solidFill>
            <a:prstDash val="solid"/>
            <a:miter lim="800000"/>
          </a:ln>
          <a:effectLst>
            <a:innerShdw blurRad="76200">
              <a:srgbClr val="000000"/>
            </a:innerShdw>
          </a:effectLst>
        </p:spPr>
      </p:pic>
      <p:pic>
        <p:nvPicPr>
          <p:cNvPr id="7" name="Imagen 6">
            <a:extLst>
              <a:ext uri="{FF2B5EF4-FFF2-40B4-BE49-F238E27FC236}">
                <a16:creationId xmlns:a16="http://schemas.microsoft.com/office/drawing/2014/main" id="{2A3A97AE-A4A0-A312-ED44-DDB7031A2078}"/>
              </a:ext>
            </a:extLst>
          </p:cNvPr>
          <p:cNvPicPr>
            <a:picLocks noChangeAspect="1"/>
          </p:cNvPicPr>
          <p:nvPr/>
        </p:nvPicPr>
        <p:blipFill>
          <a:blip r:embed="rId3"/>
          <a:stretch>
            <a:fillRect/>
          </a:stretch>
        </p:blipFill>
        <p:spPr>
          <a:xfrm>
            <a:off x="4596860" y="3255327"/>
            <a:ext cx="4043045" cy="263334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710094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DFB6B-C5D5-16FA-093C-F862FAC145F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E7A4CD-A1F5-B54D-12C2-3B07DAA61A75}"/>
              </a:ext>
            </a:extLst>
          </p:cNvPr>
          <p:cNvSpPr>
            <a:spLocks noGrp="1"/>
          </p:cNvSpPr>
          <p:nvPr>
            <p:ph type="title"/>
          </p:nvPr>
        </p:nvSpPr>
        <p:spPr/>
        <p:txBody>
          <a:bodyPr/>
          <a:lstStyle/>
          <a:p>
            <a:r>
              <a:rPr lang="es-ES" dirty="0"/>
              <a:t>CREACIÓN DEL SERVICIO WEB</a:t>
            </a:r>
          </a:p>
        </p:txBody>
      </p:sp>
      <p:sp>
        <p:nvSpPr>
          <p:cNvPr id="3" name="Marcador de contenido 2">
            <a:extLst>
              <a:ext uri="{FF2B5EF4-FFF2-40B4-BE49-F238E27FC236}">
                <a16:creationId xmlns:a16="http://schemas.microsoft.com/office/drawing/2014/main" id="{741376BF-079B-9EFE-1171-3C156380E3AD}"/>
              </a:ext>
            </a:extLst>
          </p:cNvPr>
          <p:cNvSpPr>
            <a:spLocks noGrp="1"/>
          </p:cNvSpPr>
          <p:nvPr>
            <p:ph idx="1"/>
          </p:nvPr>
        </p:nvSpPr>
        <p:spPr>
          <a:xfrm>
            <a:off x="581192" y="2032487"/>
            <a:ext cx="8589441" cy="771250"/>
          </a:xfrm>
        </p:spPr>
        <p:txBody>
          <a:bodyPr>
            <a:normAutofit fontScale="92500" lnSpcReduction="20000"/>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Una vez creado la clase se muestra la siguiente pantalla por defecto.</a:t>
            </a:r>
          </a:p>
          <a:p>
            <a:pPr marL="342900" marR="0" lvl="0" indent="-342900" algn="just">
              <a:lnSpc>
                <a:spcPct val="107000"/>
              </a:lnSpc>
              <a:spcBef>
                <a:spcPts val="0"/>
              </a:spcBef>
              <a:spcAft>
                <a:spcPts val="0"/>
              </a:spcAft>
              <a:buFont typeface="Symbol" panose="05050102010706020507" pitchFamily="18" charset="2"/>
              <a:buChar char=""/>
            </a:pP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Una vez dentro de la opción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add</a:t>
            </a:r>
            <a:r>
              <a:rPr lang="es-ES" sz="1800" dirty="0">
                <a:effectLst/>
                <a:latin typeface="Cambria" panose="02040503050406030204" pitchFamily="18" charset="0"/>
                <a:ea typeface="Calibri" panose="020F0502020204030204" pitchFamily="34" charset="0"/>
                <a:cs typeface="Times New Roman" panose="02020603050405020304" pitchFamily="18" charset="0"/>
              </a:rPr>
              <a:t>, se crea la opción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traerMovimientos</a:t>
            </a:r>
            <a:r>
              <a:rPr lang="es-ES" sz="1800" dirty="0">
                <a:effectLst/>
                <a:latin typeface="Cambria" panose="02040503050406030204" pitchFamily="18" charset="0"/>
                <a:ea typeface="Calibri" panose="020F0502020204030204" pitchFamily="34" charset="0"/>
                <a:cs typeface="Times New Roman" panose="02020603050405020304" pitchFamily="18" charset="0"/>
              </a:rPr>
              <a:t> y se codifica.</a:t>
            </a:r>
          </a:p>
        </p:txBody>
      </p:sp>
      <p:sp>
        <p:nvSpPr>
          <p:cNvPr id="5" name="Rectángulo 4">
            <a:extLst>
              <a:ext uri="{FF2B5EF4-FFF2-40B4-BE49-F238E27FC236}">
                <a16:creationId xmlns:a16="http://schemas.microsoft.com/office/drawing/2014/main" id="{F42A3B21-A852-0434-EC8A-F1423F23A665}"/>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descr="Texto&#10;&#10;Descripción generada automáticamente">
            <a:extLst>
              <a:ext uri="{FF2B5EF4-FFF2-40B4-BE49-F238E27FC236}">
                <a16:creationId xmlns:a16="http://schemas.microsoft.com/office/drawing/2014/main" id="{7D73696C-4286-F0C0-16AA-0DE84BF86D75}"/>
              </a:ext>
            </a:extLst>
          </p:cNvPr>
          <p:cNvPicPr>
            <a:picLocks noChangeAspect="1"/>
          </p:cNvPicPr>
          <p:nvPr/>
        </p:nvPicPr>
        <p:blipFill>
          <a:blip r:embed="rId2"/>
          <a:stretch>
            <a:fillRect/>
          </a:stretch>
        </p:blipFill>
        <p:spPr>
          <a:xfrm>
            <a:off x="2789667" y="3120268"/>
            <a:ext cx="3896360" cy="340931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949733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Despliegue de la aplicación</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032487"/>
            <a:ext cx="8589441" cy="771250"/>
          </a:xfrm>
        </p:spPr>
        <p:txBody>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10.	Para verificar su funcionamiento, se procede a ejecutar el proyecto y como resultado, se obtendrá una ventana similar a la siguiente.</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descr="Interfaz de usuario gráfica, nombre de la empresa&#10;&#10;Descripción generada automáticamente">
            <a:extLst>
              <a:ext uri="{FF2B5EF4-FFF2-40B4-BE49-F238E27FC236}">
                <a16:creationId xmlns:a16="http://schemas.microsoft.com/office/drawing/2014/main" id="{AB8F1F67-DD40-44DD-BE13-A2DDF6E94234}"/>
              </a:ext>
            </a:extLst>
          </p:cNvPr>
          <p:cNvPicPr>
            <a:picLocks noChangeAspect="1"/>
          </p:cNvPicPr>
          <p:nvPr/>
        </p:nvPicPr>
        <p:blipFill>
          <a:blip r:embed="rId2"/>
          <a:stretch>
            <a:fillRect/>
          </a:stretch>
        </p:blipFill>
        <p:spPr>
          <a:xfrm>
            <a:off x="3567627" y="2966483"/>
            <a:ext cx="2528373" cy="644077"/>
          </a:xfrm>
          <a:prstGeom prst="rect">
            <a:avLst/>
          </a:prstGeom>
          <a:ln w="88900" cap="sq" cmpd="thickThin">
            <a:solidFill>
              <a:srgbClr val="000000"/>
            </a:solidFill>
            <a:prstDash val="solid"/>
            <a:miter lim="800000"/>
          </a:ln>
          <a:effectLst>
            <a:innerShdw blurRad="76200">
              <a:srgbClr val="000000"/>
            </a:innerShdw>
          </a:effectLst>
        </p:spPr>
      </p:pic>
      <p:pic>
        <p:nvPicPr>
          <p:cNvPr id="7" name="Imagen 6">
            <a:extLst>
              <a:ext uri="{FF2B5EF4-FFF2-40B4-BE49-F238E27FC236}">
                <a16:creationId xmlns:a16="http://schemas.microsoft.com/office/drawing/2014/main" id="{98E9B342-4588-2E9A-442D-01811B8AD878}"/>
              </a:ext>
            </a:extLst>
          </p:cNvPr>
          <p:cNvPicPr>
            <a:picLocks noChangeAspect="1"/>
          </p:cNvPicPr>
          <p:nvPr/>
        </p:nvPicPr>
        <p:blipFill>
          <a:blip r:embed="rId3"/>
          <a:stretch>
            <a:fillRect/>
          </a:stretch>
        </p:blipFill>
        <p:spPr>
          <a:xfrm>
            <a:off x="1272895" y="4054264"/>
            <a:ext cx="7231526" cy="242721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802611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CREACIÓN DEL PROYECTO </a:t>
            </a:r>
            <a:r>
              <a:rPr lang="es-ES"/>
              <a:t>BPM</a:t>
            </a:r>
            <a:endParaRPr lang="es-ES" dirty="0"/>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902964"/>
            <a:ext cx="8589441" cy="883545"/>
          </a:xfrm>
        </p:spPr>
        <p:txBody>
          <a:bodyPr>
            <a:normAutofit fontScale="85000" lnSpcReduction="10000"/>
          </a:bodyPr>
          <a:lstStyle/>
          <a:p>
            <a:pPr marL="342900" indent="-342900" algn="just">
              <a:lnSpc>
                <a:spcPct val="107000"/>
              </a:lnSpc>
              <a:spcBef>
                <a:spcPts val="0"/>
              </a:spcBef>
              <a:spcAft>
                <a:spcPts val="0"/>
              </a:spcAft>
              <a:buFont typeface="Symbol" panose="05050102010706020507" pitchFamily="18" charset="2"/>
              <a:buChar char=""/>
            </a:pPr>
            <a:r>
              <a:rPr lang="es-ES">
                <a:ea typeface="+mn-lt"/>
                <a:cs typeface="+mn-lt"/>
              </a:rPr>
              <a:t>Uno de los conflictos más comunes </a:t>
            </a:r>
            <a:r>
              <a:rPr lang="es-ES" sz="1800">
                <a:effectLst/>
                <a:ea typeface="+mn-lt"/>
                <a:cs typeface="+mn-lt"/>
              </a:rPr>
              <a:t>en </a:t>
            </a:r>
            <a:r>
              <a:rPr lang="es-ES">
                <a:ea typeface="+mn-lt"/>
                <a:cs typeface="+mn-lt"/>
              </a:rPr>
              <a:t>entornos de desarrollo local es la colisión del puerto 8080. Tanto el servidor de aplicaciones Payara (donde corre el servicio SOAP) como el servidor Tomcat embebido de Bonita BPM intentan apropiarse de </a:t>
            </a:r>
            <a:r>
              <a:rPr lang="es-ES" sz="1800">
                <a:effectLst/>
                <a:ea typeface="+mn-lt"/>
                <a:cs typeface="+mn-lt"/>
              </a:rPr>
              <a:t>este </a:t>
            </a:r>
            <a:r>
              <a:rPr lang="es-ES">
                <a:ea typeface="+mn-lt"/>
                <a:cs typeface="+mn-lt"/>
              </a:rPr>
              <a:t>puerto por defecto.</a:t>
            </a:r>
            <a:endParaRPr lang="es-ES" sz="180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endParaRPr lang="es-ES" sz="1200" b="1" dirty="0">
              <a:solidFill>
                <a:schemeClr val="bg1"/>
              </a:solidFill>
              <a:latin typeface="Gill Sans MT" panose="020B0502020104020203"/>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rPr>
              <a:t>CREACIÓN DEL PROYECTO BPM</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descr="Interfaz de usuario gráfica, Aplicación&#10;&#10;El contenido generado por IA puede ser incorrecto.">
            <a:extLst>
              <a:ext uri="{FF2B5EF4-FFF2-40B4-BE49-F238E27FC236}">
                <a16:creationId xmlns:a16="http://schemas.microsoft.com/office/drawing/2014/main" id="{C7ADBE1F-16E1-E58B-A12B-E808E199A701}"/>
              </a:ext>
            </a:extLst>
          </p:cNvPr>
          <p:cNvPicPr>
            <a:picLocks noChangeAspect="1"/>
          </p:cNvPicPr>
          <p:nvPr/>
        </p:nvPicPr>
        <p:blipFill>
          <a:blip r:embed="rId2"/>
          <a:stretch>
            <a:fillRect/>
          </a:stretch>
        </p:blipFill>
        <p:spPr>
          <a:xfrm>
            <a:off x="754359" y="2931241"/>
            <a:ext cx="4587282" cy="2176201"/>
          </a:xfrm>
          <a:prstGeom prst="rect">
            <a:avLst/>
          </a:prstGeom>
          <a:ln w="57150">
            <a:solidFill>
              <a:schemeClr val="tx1"/>
            </a:solidFill>
          </a:ln>
        </p:spPr>
      </p:pic>
      <p:pic>
        <p:nvPicPr>
          <p:cNvPr id="7" name="Imagen 6" descr="Interfaz de usuario gráfica, Aplicación&#10;&#10;El contenido generado por IA puede ser incorrecto.">
            <a:extLst>
              <a:ext uri="{FF2B5EF4-FFF2-40B4-BE49-F238E27FC236}">
                <a16:creationId xmlns:a16="http://schemas.microsoft.com/office/drawing/2014/main" id="{4A32D445-9E34-3EA9-E74A-A486BBC45F3C}"/>
              </a:ext>
            </a:extLst>
          </p:cNvPr>
          <p:cNvPicPr>
            <a:picLocks noChangeAspect="1"/>
          </p:cNvPicPr>
          <p:nvPr/>
        </p:nvPicPr>
        <p:blipFill>
          <a:blip r:embed="rId3"/>
          <a:stretch>
            <a:fillRect/>
          </a:stretch>
        </p:blipFill>
        <p:spPr>
          <a:xfrm>
            <a:off x="4438755" y="3828475"/>
            <a:ext cx="4369568" cy="2299294"/>
          </a:xfrm>
          <a:prstGeom prst="rect">
            <a:avLst/>
          </a:prstGeom>
          <a:ln w="57150">
            <a:solidFill>
              <a:schemeClr val="tx1"/>
            </a:solidFill>
          </a:ln>
        </p:spPr>
      </p:pic>
    </p:spTree>
    <p:extLst>
      <p:ext uri="{BB962C8B-B14F-4D97-AF65-F5344CB8AC3E}">
        <p14:creationId xmlns:p14="http://schemas.microsoft.com/office/powerpoint/2010/main" val="2048556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5D8DB-64CA-3442-D4A7-4EAD783D81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92834A-F5EC-B082-D441-84BCAFE67F45}"/>
              </a:ext>
            </a:extLst>
          </p:cNvPr>
          <p:cNvSpPr>
            <a:spLocks noGrp="1"/>
          </p:cNvSpPr>
          <p:nvPr>
            <p:ph type="title"/>
          </p:nvPr>
        </p:nvSpPr>
        <p:spPr/>
        <p:txBody>
          <a:bodyPr/>
          <a:lstStyle/>
          <a:p>
            <a:r>
              <a:rPr lang="es-ES" dirty="0"/>
              <a:t>CREACIÓN DEL PROYECTO </a:t>
            </a:r>
            <a:r>
              <a:rPr lang="es-ES"/>
              <a:t>BPM</a:t>
            </a:r>
            <a:endParaRPr lang="es-ES" dirty="0"/>
          </a:p>
        </p:txBody>
      </p:sp>
      <p:sp>
        <p:nvSpPr>
          <p:cNvPr id="3" name="Marcador de contenido 2">
            <a:extLst>
              <a:ext uri="{FF2B5EF4-FFF2-40B4-BE49-F238E27FC236}">
                <a16:creationId xmlns:a16="http://schemas.microsoft.com/office/drawing/2014/main" id="{352E0737-DE4D-D99E-1EAD-F74EE3A3D23B}"/>
              </a:ext>
            </a:extLst>
          </p:cNvPr>
          <p:cNvSpPr>
            <a:spLocks noGrp="1"/>
          </p:cNvSpPr>
          <p:nvPr>
            <p:ph idx="1"/>
          </p:nvPr>
        </p:nvSpPr>
        <p:spPr>
          <a:xfrm>
            <a:off x="581192" y="1902964"/>
            <a:ext cx="8589441" cy="883545"/>
          </a:xfrm>
        </p:spPr>
        <p:txBody>
          <a:bodyPr>
            <a:normAutofit/>
          </a:bodyPr>
          <a:lstStyle/>
          <a:p>
            <a:pPr marL="305435" indent="-305435" algn="just">
              <a:lnSpc>
                <a:spcPct val="107000"/>
              </a:lnSpc>
              <a:spcBef>
                <a:spcPts val="0"/>
              </a:spcBef>
              <a:spcAft>
                <a:spcPts val="0"/>
              </a:spcAft>
              <a:buFont typeface="Wingdings 2" panose="05050102010706020507" pitchFamily="18" charset="2"/>
              <a:buChar char=""/>
            </a:pPr>
            <a:r>
              <a:rPr lang="es-ES">
                <a:latin typeface="Georgia"/>
                <a:ea typeface="Calibri"/>
                <a:cs typeface="Times New Roman"/>
              </a:rPr>
              <a:t>En Bonita, creamos </a:t>
            </a:r>
            <a:r>
              <a:rPr lang="es-ES" sz="1800">
                <a:effectLst/>
                <a:latin typeface="Georgia"/>
                <a:ea typeface="Calibri"/>
                <a:cs typeface="Times New Roman"/>
              </a:rPr>
              <a:t>un </a:t>
            </a:r>
            <a:r>
              <a:rPr lang="es-ES">
                <a:latin typeface="Georgia"/>
                <a:ea typeface="Calibri"/>
                <a:cs typeface="Times New Roman"/>
              </a:rPr>
              <a:t>diagrama BPMN 2.0. El Pool representa el límite de control del proceso.</a:t>
            </a:r>
            <a:endParaRPr lang="es-ES">
              <a:latin typeface="Cambria" panose="02040503050406030204" pitchFamily="18" charset="0"/>
              <a:ea typeface="Calibri"/>
              <a:cs typeface="Times New Roman"/>
            </a:endParaRPr>
          </a:p>
        </p:txBody>
      </p:sp>
      <p:sp>
        <p:nvSpPr>
          <p:cNvPr id="5" name="Rectángulo 4">
            <a:extLst>
              <a:ext uri="{FF2B5EF4-FFF2-40B4-BE49-F238E27FC236}">
                <a16:creationId xmlns:a16="http://schemas.microsoft.com/office/drawing/2014/main" id="{291FC1CD-8AF1-7466-FD7C-497848931DB3}"/>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endParaRPr lang="es-ES" sz="1200" b="1" dirty="0">
              <a:solidFill>
                <a:schemeClr val="bg1"/>
              </a:solidFill>
              <a:latin typeface="Gill Sans MT" panose="020B0502020104020203"/>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rPr>
              <a:t>CREACIÓN DEL PROYECTO BPM</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a:extLst>
              <a:ext uri="{FF2B5EF4-FFF2-40B4-BE49-F238E27FC236}">
                <a16:creationId xmlns:a16="http://schemas.microsoft.com/office/drawing/2014/main" id="{1A21F647-4E47-A8DF-92F1-63F618BC8F9F}"/>
              </a:ext>
            </a:extLst>
          </p:cNvPr>
          <p:cNvPicPr>
            <a:picLocks noChangeAspect="1"/>
          </p:cNvPicPr>
          <p:nvPr/>
        </p:nvPicPr>
        <p:blipFill>
          <a:blip r:embed="rId2"/>
          <a:stretch>
            <a:fillRect/>
          </a:stretch>
        </p:blipFill>
        <p:spPr>
          <a:xfrm>
            <a:off x="578513" y="2787266"/>
            <a:ext cx="4830117" cy="2204567"/>
          </a:xfrm>
          <a:prstGeom prst="rect">
            <a:avLst/>
          </a:prstGeom>
          <a:ln w="57150" cap="sq" cmpd="thickThin">
            <a:solidFill>
              <a:srgbClr val="000000"/>
            </a:solidFill>
            <a:prstDash val="solid"/>
            <a:miter lim="800000"/>
          </a:ln>
          <a:effectLst>
            <a:innerShdw blurRad="76200">
              <a:srgbClr val="000000"/>
            </a:innerShdw>
          </a:effectLst>
        </p:spPr>
      </p:pic>
      <p:pic>
        <p:nvPicPr>
          <p:cNvPr id="7" name="Imagen 6" descr="Diagrama&#10;&#10;El contenido generado por IA puede ser incorrecto.">
            <a:extLst>
              <a:ext uri="{FF2B5EF4-FFF2-40B4-BE49-F238E27FC236}">
                <a16:creationId xmlns:a16="http://schemas.microsoft.com/office/drawing/2014/main" id="{FFA51FFD-BCB9-3BC4-91AD-4E1D10DDAF81}"/>
              </a:ext>
            </a:extLst>
          </p:cNvPr>
          <p:cNvPicPr>
            <a:picLocks noChangeAspect="1"/>
          </p:cNvPicPr>
          <p:nvPr/>
        </p:nvPicPr>
        <p:blipFill>
          <a:blip r:embed="rId3"/>
          <a:stretch>
            <a:fillRect/>
          </a:stretch>
        </p:blipFill>
        <p:spPr>
          <a:xfrm>
            <a:off x="3785612" y="3802778"/>
            <a:ext cx="5265546" cy="2359060"/>
          </a:xfrm>
          <a:prstGeom prst="rect">
            <a:avLst/>
          </a:prstGeom>
          <a:ln w="57150" cap="sq" cmpd="thickThin">
            <a:solidFill>
              <a:schemeClr val="tx1"/>
            </a:solidFill>
            <a:prstDash val="solid"/>
            <a:miter lim="800000"/>
          </a:ln>
          <a:effectLst>
            <a:innerShdw blurRad="76200">
              <a:srgbClr val="000000"/>
            </a:innerShdw>
          </a:effectLst>
        </p:spPr>
      </p:pic>
    </p:spTree>
    <p:extLst>
      <p:ext uri="{BB962C8B-B14F-4D97-AF65-F5344CB8AC3E}">
        <p14:creationId xmlns:p14="http://schemas.microsoft.com/office/powerpoint/2010/main" val="4077811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44AC0-ADB1-CF15-8A9C-1E2981279F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A81A07-BBCC-A719-3CB8-D61076B9CCD4}"/>
              </a:ext>
            </a:extLst>
          </p:cNvPr>
          <p:cNvSpPr>
            <a:spLocks noGrp="1"/>
          </p:cNvSpPr>
          <p:nvPr>
            <p:ph type="title"/>
          </p:nvPr>
        </p:nvSpPr>
        <p:spPr/>
        <p:txBody>
          <a:bodyPr/>
          <a:lstStyle/>
          <a:p>
            <a:r>
              <a:rPr lang="es-ES"/>
              <a:t>CREACIÓN DEL PROYECTO BPM</a:t>
            </a:r>
          </a:p>
        </p:txBody>
      </p:sp>
      <p:sp>
        <p:nvSpPr>
          <p:cNvPr id="3" name="Marcador de contenido 2">
            <a:extLst>
              <a:ext uri="{FF2B5EF4-FFF2-40B4-BE49-F238E27FC236}">
                <a16:creationId xmlns:a16="http://schemas.microsoft.com/office/drawing/2014/main" id="{7C369A57-1BFF-7AA3-8D17-D4C6C7E73728}"/>
              </a:ext>
            </a:extLst>
          </p:cNvPr>
          <p:cNvSpPr>
            <a:spLocks noGrp="1"/>
          </p:cNvSpPr>
          <p:nvPr>
            <p:ph idx="1"/>
          </p:nvPr>
        </p:nvSpPr>
        <p:spPr>
          <a:xfrm>
            <a:off x="581192" y="2038663"/>
            <a:ext cx="8589441" cy="883545"/>
          </a:xfrm>
        </p:spPr>
        <p:txBody>
          <a:bodyPr>
            <a:normAutofit fontScale="92500"/>
          </a:bodyPr>
          <a:lstStyle/>
          <a:p>
            <a:pPr marL="305435" indent="-305435" algn="just">
              <a:lnSpc>
                <a:spcPct val="107000"/>
              </a:lnSpc>
              <a:spcBef>
                <a:spcPts val="0"/>
              </a:spcBef>
              <a:spcAft>
                <a:spcPts val="0"/>
              </a:spcAft>
              <a:buFont typeface="Wingdings 2" panose="05050102010706020507" pitchFamily="18" charset="2"/>
              <a:buChar char=""/>
            </a:pPr>
            <a:r>
              <a:rPr lang="es-ES">
                <a:latin typeface="Georgia"/>
                <a:ea typeface="Calibri"/>
                <a:cs typeface="Times New Roman"/>
              </a:rPr>
              <a:t>Diseño del Formulario.</a:t>
            </a:r>
            <a:endParaRPr lang="es-ES">
              <a:latin typeface="Georgia"/>
              <a:ea typeface="Calibri" panose="020F0502020204030204" pitchFamily="34" charset="0"/>
              <a:cs typeface="Times New Roman" panose="02020603050405020304" pitchFamily="18" charset="0"/>
            </a:endParaRPr>
          </a:p>
          <a:p>
            <a:pPr marL="305435" indent="-305435" algn="just">
              <a:buNone/>
            </a:pPr>
            <a:r>
              <a:rPr lang="es-ES">
                <a:ea typeface="+mn-lt"/>
                <a:cs typeface="+mn-lt"/>
              </a:rPr>
              <a:t>Bonita utiliza el concepto de Contrato para desacoplar la interfaz de usuario (UI) del proceso.</a:t>
            </a:r>
            <a:endParaRPr lang="es-ES"/>
          </a:p>
          <a:p>
            <a:pPr marL="0" indent="0" algn="just">
              <a:lnSpc>
                <a:spcPct val="107000"/>
              </a:lnSpc>
              <a:spcBef>
                <a:spcPts val="0"/>
              </a:spcBef>
              <a:spcAft>
                <a:spcPts val="0"/>
              </a:spcAft>
              <a:buNone/>
            </a:pPr>
            <a:endParaRPr lang="es-ES" sz="1800">
              <a:effectLst/>
              <a:latin typeface="Georgia"/>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endParaRPr lang="es-ES">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51A935BF-CB46-1D1E-9982-B08D6D0C98E8}"/>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SERVIDOR SOAP</a:t>
            </a:r>
            <a:endParaRPr lang="es-ES" sz="1200" b="1">
              <a:solidFill>
                <a:schemeClr val="bg1"/>
              </a:solidFill>
              <a:latin typeface="Gill Sans MT" panose="020B0502020104020203"/>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rgbClr val="FFFF00"/>
                </a:solidFill>
              </a:rPr>
              <a:t>CREACIÓN DEL PROYECTO BPM</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BIBLIOGRAFÍA</a:t>
            </a:r>
          </a:p>
        </p:txBody>
      </p:sp>
      <p:pic>
        <p:nvPicPr>
          <p:cNvPr id="6" name="Imagen 5" descr="Interfaz de usuario gráfica, Texto, Aplicación, Correo electrónico&#10;&#10;El contenido generado por IA puede ser incorrecto.">
            <a:extLst>
              <a:ext uri="{FF2B5EF4-FFF2-40B4-BE49-F238E27FC236}">
                <a16:creationId xmlns:a16="http://schemas.microsoft.com/office/drawing/2014/main" id="{FAE0E8CE-149B-52F4-12EF-513EA30CB745}"/>
              </a:ext>
            </a:extLst>
          </p:cNvPr>
          <p:cNvPicPr>
            <a:picLocks noChangeAspect="1"/>
          </p:cNvPicPr>
          <p:nvPr/>
        </p:nvPicPr>
        <p:blipFill>
          <a:blip r:embed="rId2"/>
          <a:stretch>
            <a:fillRect/>
          </a:stretch>
        </p:blipFill>
        <p:spPr>
          <a:xfrm>
            <a:off x="1405189" y="2786062"/>
            <a:ext cx="6664493" cy="3060533"/>
          </a:xfrm>
          <a:prstGeom prst="rect">
            <a:avLst/>
          </a:prstGeom>
          <a:ln w="5715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436711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1094D-ACD5-974D-4CAD-5EB1190D68D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66961C-E3EB-7456-7B02-404C334D3F38}"/>
              </a:ext>
            </a:extLst>
          </p:cNvPr>
          <p:cNvSpPr>
            <a:spLocks noGrp="1"/>
          </p:cNvSpPr>
          <p:nvPr>
            <p:ph type="title"/>
          </p:nvPr>
        </p:nvSpPr>
        <p:spPr/>
        <p:txBody>
          <a:bodyPr/>
          <a:lstStyle/>
          <a:p>
            <a:r>
              <a:rPr lang="es-ES" dirty="0"/>
              <a:t>CREACIÓN DEL PROYECTO </a:t>
            </a:r>
            <a:r>
              <a:rPr lang="es-ES"/>
              <a:t>BPM</a:t>
            </a:r>
            <a:endParaRPr lang="es-ES" dirty="0"/>
          </a:p>
        </p:txBody>
      </p:sp>
      <p:sp>
        <p:nvSpPr>
          <p:cNvPr id="3" name="Marcador de contenido 2">
            <a:extLst>
              <a:ext uri="{FF2B5EF4-FFF2-40B4-BE49-F238E27FC236}">
                <a16:creationId xmlns:a16="http://schemas.microsoft.com/office/drawing/2014/main" id="{DD9FFA20-BE2D-7FD8-A06F-0E998C671D3E}"/>
              </a:ext>
            </a:extLst>
          </p:cNvPr>
          <p:cNvSpPr>
            <a:spLocks noGrp="1"/>
          </p:cNvSpPr>
          <p:nvPr>
            <p:ph idx="1"/>
          </p:nvPr>
        </p:nvSpPr>
        <p:spPr>
          <a:xfrm>
            <a:off x="581192" y="1902964"/>
            <a:ext cx="8589441" cy="3520466"/>
          </a:xfrm>
        </p:spPr>
        <p:txBody>
          <a:bodyPr>
            <a:normAutofit/>
          </a:bodyPr>
          <a:lstStyle/>
          <a:p>
            <a:pPr marL="305435" indent="-305435" algn="just">
              <a:buFont typeface="Wingdings 2" panose="05050102010706020507" pitchFamily="18" charset="2"/>
              <a:buChar char=""/>
            </a:pPr>
            <a:r>
              <a:rPr lang="es-ES" b="1" dirty="0">
                <a:solidFill>
                  <a:srgbClr val="244061"/>
                </a:solidFill>
              </a:rPr>
              <a:t>Definición del Contrato</a:t>
            </a:r>
            <a:endParaRPr lang="es-ES" b="1">
              <a:latin typeface="Georgia"/>
              <a:ea typeface="Calibri" panose="020F0502020204030204" pitchFamily="34" charset="0"/>
              <a:cs typeface="Times New Roman" panose="02020603050405020304" pitchFamily="18" charset="0"/>
            </a:endParaRPr>
          </a:p>
          <a:p>
            <a:pPr marL="305435" indent="-305435" algn="just">
              <a:buFont typeface="Wingdings 2" panose="05050102010706020507" pitchFamily="18" charset="2"/>
              <a:buChar char=""/>
            </a:pPr>
            <a:r>
              <a:rPr lang="es-ES" dirty="0">
                <a:ea typeface="+mn-lt"/>
                <a:cs typeface="+mn-lt"/>
              </a:rPr>
              <a:t>En la tarea de inicio ”Solicitar Operación”, definimos las entradas esperadas:</a:t>
            </a:r>
            <a:endParaRPr lang="es-ES" dirty="0"/>
          </a:p>
          <a:p>
            <a:pPr marL="305435" indent="-305435" algn="just">
              <a:buFont typeface="Wingdings 2" panose="05050102010706020507" pitchFamily="18" charset="2"/>
              <a:buChar char=""/>
            </a:pPr>
            <a:r>
              <a:rPr lang="es-ES" sz="1200" dirty="0" err="1">
                <a:solidFill>
                  <a:srgbClr val="000000"/>
                </a:solidFill>
                <a:ea typeface="+mn-lt"/>
                <a:cs typeface="+mn-lt"/>
              </a:rPr>
              <a:t>tipoOperacionInput</a:t>
            </a:r>
            <a:endParaRPr lang="es-ES" dirty="0" err="1"/>
          </a:p>
          <a:p>
            <a:pPr marL="305435" indent="-305435" algn="just">
              <a:buFont typeface="Wingdings 2" panose="05050102010706020507" pitchFamily="18" charset="2"/>
              <a:buChar char=""/>
            </a:pPr>
            <a:r>
              <a:rPr lang="es-ES" sz="1200" dirty="0" err="1">
                <a:solidFill>
                  <a:srgbClr val="000000"/>
                </a:solidFill>
                <a:ea typeface="+mn-lt"/>
                <a:cs typeface="+mn-lt"/>
              </a:rPr>
              <a:t>cuentaOrigenInput</a:t>
            </a:r>
            <a:endParaRPr lang="es-ES" dirty="0" err="1"/>
          </a:p>
          <a:p>
            <a:pPr marL="305435" indent="-305435" algn="just">
              <a:buFont typeface="Wingdings 2" panose="05050102010706020507" pitchFamily="18" charset="2"/>
              <a:buChar char=""/>
            </a:pPr>
            <a:r>
              <a:rPr lang="es-ES" sz="1200" dirty="0" err="1">
                <a:solidFill>
                  <a:srgbClr val="000000"/>
                </a:solidFill>
                <a:ea typeface="+mn-lt"/>
                <a:cs typeface="+mn-lt"/>
              </a:rPr>
              <a:t>montoInput</a:t>
            </a:r>
            <a:endParaRPr lang="es-ES" dirty="0" err="1"/>
          </a:p>
          <a:p>
            <a:pPr marL="305435" indent="-305435" algn="just">
              <a:buFont typeface="Wingdings 2" panose="05050102010706020507" pitchFamily="18" charset="2"/>
              <a:buChar char=""/>
            </a:pPr>
            <a:r>
              <a:rPr lang="es-ES" sz="1200" dirty="0" err="1">
                <a:solidFill>
                  <a:srgbClr val="000000"/>
                </a:solidFill>
                <a:ea typeface="+mn-lt"/>
                <a:cs typeface="+mn-lt"/>
              </a:rPr>
              <a:t>destinoCuentaInput</a:t>
            </a:r>
            <a:endParaRPr lang="es-ES" sz="1200" dirty="0" err="1">
              <a:solidFill>
                <a:srgbClr val="000000"/>
              </a:solidFill>
            </a:endParaRPr>
          </a:p>
          <a:p>
            <a:pPr marL="305435" indent="-305435" algn="just">
              <a:lnSpc>
                <a:spcPct val="107000"/>
              </a:lnSpc>
              <a:spcBef>
                <a:spcPts val="0"/>
              </a:spcBef>
              <a:spcAft>
                <a:spcPts val="0"/>
              </a:spcAft>
              <a:buFont typeface="Wingdings 2" panose="05050102010706020507" pitchFamily="18" charset="2"/>
              <a:buChar char=""/>
            </a:pPr>
            <a:endParaRPr lang="es-ES" dirty="0">
              <a:latin typeface="Georgia"/>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0"/>
              </a:spcAft>
              <a:buNone/>
            </a:pP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0D5F6951-C88F-B480-A925-B415DCA9AFF1}"/>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endParaRPr lang="es-ES" sz="1200" b="1" dirty="0">
              <a:solidFill>
                <a:schemeClr val="bg1"/>
              </a:solidFill>
              <a:latin typeface="Gill Sans MT" panose="020B0502020104020203"/>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rPr>
              <a:t>CREACIÓN DEL PROYECTO BPM</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descr="Imagen que contiene Gráfico de cajas y bigotes&#10;&#10;El contenido generado por IA puede ser incorrecto.">
            <a:extLst>
              <a:ext uri="{FF2B5EF4-FFF2-40B4-BE49-F238E27FC236}">
                <a16:creationId xmlns:a16="http://schemas.microsoft.com/office/drawing/2014/main" id="{4C09B322-794D-975C-9178-103F712C8461}"/>
              </a:ext>
            </a:extLst>
          </p:cNvPr>
          <p:cNvPicPr>
            <a:picLocks noChangeAspect="1"/>
          </p:cNvPicPr>
          <p:nvPr/>
        </p:nvPicPr>
        <p:blipFill>
          <a:blip r:embed="rId2"/>
          <a:stretch>
            <a:fillRect/>
          </a:stretch>
        </p:blipFill>
        <p:spPr>
          <a:xfrm>
            <a:off x="2738687" y="3428499"/>
            <a:ext cx="5661861" cy="2838450"/>
          </a:xfrm>
          <a:prstGeom prst="rect">
            <a:avLst/>
          </a:prstGeom>
          <a:ln w="5715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856813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FF411-C488-5E0C-6D33-DEBFA1BE3B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585C9E-2369-0178-4BC0-A868004CC3BB}"/>
              </a:ext>
            </a:extLst>
          </p:cNvPr>
          <p:cNvSpPr>
            <a:spLocks noGrp="1"/>
          </p:cNvSpPr>
          <p:nvPr>
            <p:ph type="title"/>
          </p:nvPr>
        </p:nvSpPr>
        <p:spPr/>
        <p:txBody>
          <a:bodyPr/>
          <a:lstStyle/>
          <a:p>
            <a:r>
              <a:rPr lang="es-ES"/>
              <a:t>CREACIÓN DEL PROYECTO BPM</a:t>
            </a:r>
          </a:p>
        </p:txBody>
      </p:sp>
      <p:sp>
        <p:nvSpPr>
          <p:cNvPr id="3" name="Marcador de contenido 2">
            <a:extLst>
              <a:ext uri="{FF2B5EF4-FFF2-40B4-BE49-F238E27FC236}">
                <a16:creationId xmlns:a16="http://schemas.microsoft.com/office/drawing/2014/main" id="{D34680F7-7E4A-4006-D19F-C943E02C3048}"/>
              </a:ext>
            </a:extLst>
          </p:cNvPr>
          <p:cNvSpPr>
            <a:spLocks noGrp="1"/>
          </p:cNvSpPr>
          <p:nvPr>
            <p:ph idx="1"/>
          </p:nvPr>
        </p:nvSpPr>
        <p:spPr>
          <a:xfrm>
            <a:off x="581192" y="1902964"/>
            <a:ext cx="8589441" cy="3520466"/>
          </a:xfrm>
        </p:spPr>
        <p:txBody>
          <a:bodyPr>
            <a:normAutofit/>
          </a:bodyPr>
          <a:lstStyle/>
          <a:p>
            <a:pPr marL="305435" indent="-305435" algn="just"/>
            <a:r>
              <a:rPr lang="es-ES">
                <a:solidFill>
                  <a:srgbClr val="244061"/>
                </a:solidFill>
              </a:rPr>
              <a:t>Lógica UI Condicional (UI </a:t>
            </a:r>
            <a:r>
              <a:rPr lang="es-ES" err="1">
                <a:solidFill>
                  <a:srgbClr val="244061"/>
                </a:solidFill>
              </a:rPr>
              <a:t>Designer</a:t>
            </a:r>
            <a:r>
              <a:rPr lang="es-ES">
                <a:solidFill>
                  <a:srgbClr val="244061"/>
                </a:solidFill>
              </a:rPr>
              <a:t>)</a:t>
            </a:r>
            <a:endParaRPr lang="es-ES">
              <a:solidFill>
                <a:srgbClr val="3D3D3D"/>
              </a:solidFill>
              <a:latin typeface="Georgia"/>
              <a:ea typeface="Calibri" panose="020F0502020204030204" pitchFamily="34" charset="0"/>
              <a:cs typeface="Times New Roman" panose="02020603050405020304" pitchFamily="18" charset="0"/>
            </a:endParaRPr>
          </a:p>
          <a:p>
            <a:pPr marL="305435" indent="-305435" algn="just"/>
            <a:r>
              <a:rPr lang="es-ES" sz="1200">
                <a:solidFill>
                  <a:srgbClr val="000000"/>
                </a:solidFill>
                <a:latin typeface="Gill Sans MT" panose="020B0502020104020203"/>
                <a:ea typeface="Calibri"/>
                <a:cs typeface="Times New Roman"/>
              </a:rPr>
              <a:t>Para mejorar la experiencia de usuario (UX), el campo Cuenta Destino “solo debe aparecer cuando es una Transferencia.</a:t>
            </a:r>
          </a:p>
          <a:p>
            <a:pPr marL="0" indent="0" algn="just">
              <a:buNone/>
            </a:pPr>
            <a:r>
              <a:rPr lang="es-ES" sz="1200">
                <a:solidFill>
                  <a:srgbClr val="000000"/>
                </a:solidFill>
                <a:latin typeface="Gill Sans MT" panose="020B0502020104020203"/>
                <a:ea typeface="Calibri"/>
                <a:cs typeface="Times New Roman"/>
              </a:rPr>
              <a:t>1. </a:t>
            </a:r>
            <a:r>
              <a:rPr lang="es-ES" sz="1200">
                <a:solidFill>
                  <a:srgbClr val="000000"/>
                </a:solidFill>
                <a:ea typeface="Calibri"/>
                <a:cs typeface="Times New Roman"/>
              </a:rPr>
              <a:t> </a:t>
            </a:r>
            <a:r>
              <a:rPr lang="es-ES" sz="1200">
                <a:solidFill>
                  <a:srgbClr val="000000"/>
                </a:solidFill>
                <a:ea typeface="+mn-lt"/>
                <a:cs typeface="+mn-lt"/>
              </a:rPr>
              <a:t>En UI </a:t>
            </a:r>
            <a:r>
              <a:rPr lang="es-ES" sz="1200" err="1">
                <a:solidFill>
                  <a:srgbClr val="000000"/>
                </a:solidFill>
                <a:ea typeface="+mn-lt"/>
                <a:cs typeface="+mn-lt"/>
              </a:rPr>
              <a:t>Designer</a:t>
            </a:r>
            <a:r>
              <a:rPr lang="es-ES" sz="1200">
                <a:solidFill>
                  <a:srgbClr val="000000"/>
                </a:solidFill>
                <a:ea typeface="+mn-lt"/>
                <a:cs typeface="+mn-lt"/>
              </a:rPr>
              <a:t>, seleccione el widget Input de la cuenta destino.</a:t>
            </a:r>
            <a:endParaRPr lang="es-ES" sz="1200">
              <a:solidFill>
                <a:srgbClr val="000000"/>
              </a:solidFill>
              <a:latin typeface="Gill Sans MT" panose="020B0502020104020203"/>
              <a:ea typeface="Calibri" panose="020F0502020204030204" pitchFamily="34" charset="0"/>
              <a:cs typeface="Times New Roman" panose="02020603050405020304" pitchFamily="18" charset="0"/>
            </a:endParaRPr>
          </a:p>
          <a:p>
            <a:pPr marL="305435" indent="-305435" algn="just">
              <a:buNone/>
            </a:pPr>
            <a:r>
              <a:rPr lang="es-ES" sz="1200">
                <a:solidFill>
                  <a:srgbClr val="000000"/>
                </a:solidFill>
                <a:ea typeface="+mn-lt"/>
                <a:cs typeface="+mn-lt"/>
              </a:rPr>
              <a:t>2.  Vaya a la propiedad </a:t>
            </a:r>
            <a:r>
              <a:rPr lang="es-ES" sz="1200" err="1">
                <a:solidFill>
                  <a:srgbClr val="000000"/>
                </a:solidFill>
                <a:ea typeface="+mn-lt"/>
                <a:cs typeface="+mn-lt"/>
              </a:rPr>
              <a:t>Hidden</a:t>
            </a:r>
            <a:r>
              <a:rPr lang="es-ES" sz="1200">
                <a:solidFill>
                  <a:srgbClr val="000000"/>
                </a:solidFill>
                <a:ea typeface="+mn-lt"/>
                <a:cs typeface="+mn-lt"/>
              </a:rPr>
              <a:t> (Oculto).</a:t>
            </a:r>
            <a:endParaRPr lang="es-ES"/>
          </a:p>
          <a:p>
            <a:pPr marL="305435" indent="-305435" algn="just">
              <a:buNone/>
            </a:pPr>
            <a:r>
              <a:rPr lang="es-ES" sz="1200">
                <a:solidFill>
                  <a:srgbClr val="000000"/>
                </a:solidFill>
                <a:ea typeface="+mn-lt"/>
                <a:cs typeface="+mn-lt"/>
              </a:rPr>
              <a:t>3.  Cambie el modo a .Expresión”(f (x)).</a:t>
            </a:r>
            <a:endParaRPr lang="es-ES"/>
          </a:p>
          <a:p>
            <a:pPr marL="305435" indent="-305435" algn="just">
              <a:buNone/>
            </a:pPr>
            <a:r>
              <a:rPr lang="es-ES" sz="1200">
                <a:solidFill>
                  <a:srgbClr val="000000"/>
                </a:solidFill>
                <a:ea typeface="+mn-lt"/>
                <a:cs typeface="+mn-lt"/>
              </a:rPr>
              <a:t>4.  Inserte la lógica JavaScript:</a:t>
            </a:r>
            <a:endParaRPr lang="es-ES"/>
          </a:p>
          <a:p>
            <a:pPr marL="0" indent="0" algn="just">
              <a:buNone/>
            </a:pPr>
            <a:endParaRPr lang="es-ES" sz="1200">
              <a:solidFill>
                <a:srgbClr val="000000"/>
              </a:solidFill>
              <a:effectLst/>
              <a:latin typeface="Gill Sans MT" panose="020B0502020104020203"/>
              <a:ea typeface="Calibri" panose="020F0502020204030204" pitchFamily="34" charset="0"/>
              <a:cs typeface="Times New Roman" panose="02020603050405020304" pitchFamily="18" charset="0"/>
            </a:endParaRPr>
          </a:p>
          <a:p>
            <a:pPr marL="305435" indent="-305435" algn="just"/>
            <a:endParaRPr lang="es-ES" sz="1200">
              <a:solidFill>
                <a:srgbClr val="000000"/>
              </a:solidFill>
              <a:latin typeface="Gill Sans MT" panose="020B0502020104020203"/>
              <a:ea typeface="Calibri" panose="020F0502020204030204" pitchFamily="34" charset="0"/>
              <a:cs typeface="Times New Roman" panose="02020603050405020304" pitchFamily="18" charset="0"/>
            </a:endParaRPr>
          </a:p>
          <a:p>
            <a:pPr marL="305435" indent="-305435" algn="just"/>
            <a:endParaRPr lang="es-ES" sz="1200">
              <a:solidFill>
                <a:srgbClr val="000000"/>
              </a:solidFill>
              <a:latin typeface="Gill Sans MT" panose="020B0502020104020203"/>
              <a:ea typeface="Calibri" panose="020F0502020204030204" pitchFamily="34" charset="0"/>
              <a:cs typeface="Times New Roman" panose="02020603050405020304" pitchFamily="18" charset="0"/>
            </a:endParaRPr>
          </a:p>
          <a:p>
            <a:pPr marL="305435" indent="-305435" algn="just"/>
            <a:endParaRPr lang="es-ES" sz="1200">
              <a:solidFill>
                <a:srgbClr val="000000"/>
              </a:solidFill>
              <a:latin typeface="Gill Sans MT" panose="020B0502020104020203"/>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endParaRPr lang="es-ES">
              <a:solidFill>
                <a:srgbClr val="3D3D3D"/>
              </a:solidFill>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6C39970C-2520-C8BF-18CA-74532CE14D74}"/>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SERVIDOR SOAP</a:t>
            </a:r>
            <a:endParaRPr lang="es-ES" sz="1200" b="1">
              <a:solidFill>
                <a:schemeClr val="bg1"/>
              </a:solidFill>
              <a:latin typeface="Gill Sans MT" panose="020B0502020104020203"/>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rgbClr val="FFFF00"/>
                </a:solidFill>
              </a:rPr>
              <a:t>CREACIÓN DEL PROYECTO BPM</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BIBLIOGRAFÍA</a:t>
            </a:r>
          </a:p>
        </p:txBody>
      </p:sp>
      <p:pic>
        <p:nvPicPr>
          <p:cNvPr id="6" name="Imagen 5" descr="Interfaz de usuario gráfica, Aplicación&#10;&#10;El contenido generado por IA puede ser incorrecto.">
            <a:extLst>
              <a:ext uri="{FF2B5EF4-FFF2-40B4-BE49-F238E27FC236}">
                <a16:creationId xmlns:a16="http://schemas.microsoft.com/office/drawing/2014/main" id="{C1B3D995-9FDD-3574-A89F-6F92A9D0267F}"/>
              </a:ext>
            </a:extLst>
          </p:cNvPr>
          <p:cNvPicPr>
            <a:picLocks noChangeAspect="1"/>
          </p:cNvPicPr>
          <p:nvPr/>
        </p:nvPicPr>
        <p:blipFill>
          <a:blip r:embed="rId2"/>
          <a:stretch>
            <a:fillRect/>
          </a:stretch>
        </p:blipFill>
        <p:spPr>
          <a:xfrm>
            <a:off x="3375830" y="2977215"/>
            <a:ext cx="5189821" cy="3064310"/>
          </a:xfrm>
          <a:prstGeom prst="rect">
            <a:avLst/>
          </a:prstGeom>
        </p:spPr>
      </p:pic>
    </p:spTree>
    <p:extLst>
      <p:ext uri="{BB962C8B-B14F-4D97-AF65-F5344CB8AC3E}">
        <p14:creationId xmlns:p14="http://schemas.microsoft.com/office/powerpoint/2010/main" val="16972790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EC1ED-E63D-8A31-47DC-6F77F0E341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744F420-5EB2-72E2-4DD4-425A3A45AB61}"/>
              </a:ext>
            </a:extLst>
          </p:cNvPr>
          <p:cNvSpPr>
            <a:spLocks noGrp="1"/>
          </p:cNvSpPr>
          <p:nvPr>
            <p:ph type="title"/>
          </p:nvPr>
        </p:nvSpPr>
        <p:spPr/>
        <p:txBody>
          <a:bodyPr/>
          <a:lstStyle/>
          <a:p>
            <a:r>
              <a:rPr lang="es-ES"/>
              <a:t>CREACIÓN DEL PROYECTO BPM</a:t>
            </a:r>
          </a:p>
        </p:txBody>
      </p:sp>
      <p:sp>
        <p:nvSpPr>
          <p:cNvPr id="3" name="Marcador de contenido 2">
            <a:extLst>
              <a:ext uri="{FF2B5EF4-FFF2-40B4-BE49-F238E27FC236}">
                <a16:creationId xmlns:a16="http://schemas.microsoft.com/office/drawing/2014/main" id="{BABF7348-6CCA-B4CF-00F4-284D08BDA522}"/>
              </a:ext>
            </a:extLst>
          </p:cNvPr>
          <p:cNvSpPr>
            <a:spLocks noGrp="1"/>
          </p:cNvSpPr>
          <p:nvPr>
            <p:ph idx="1"/>
          </p:nvPr>
        </p:nvSpPr>
        <p:spPr>
          <a:xfrm>
            <a:off x="581192" y="2038663"/>
            <a:ext cx="8589441" cy="883545"/>
          </a:xfrm>
        </p:spPr>
        <p:txBody>
          <a:bodyPr>
            <a:normAutofit fontScale="92500" lnSpcReduction="20000"/>
          </a:bodyPr>
          <a:lstStyle/>
          <a:p>
            <a:pPr marL="305435" indent="-305435" algn="just">
              <a:lnSpc>
                <a:spcPct val="107000"/>
              </a:lnSpc>
              <a:spcBef>
                <a:spcPts val="0"/>
              </a:spcBef>
              <a:spcAft>
                <a:spcPts val="0"/>
              </a:spcAft>
              <a:buFont typeface="Wingdings 2" panose="05050102010706020507" pitchFamily="18" charset="2"/>
              <a:buChar char=""/>
            </a:pPr>
            <a:r>
              <a:rPr lang="es-ES">
                <a:ea typeface="+mn-lt"/>
                <a:cs typeface="+mn-lt"/>
              </a:rPr>
              <a:t>Reglas de Negocio y Validaciones </a:t>
            </a:r>
            <a:endParaRPr lang="es-ES">
              <a:latin typeface="Georgia"/>
              <a:ea typeface="Calibri" panose="020F0502020204030204" pitchFamily="34" charset="0"/>
              <a:cs typeface="Times New Roman" panose="02020603050405020304" pitchFamily="18" charset="0"/>
            </a:endParaRPr>
          </a:p>
          <a:p>
            <a:pPr marL="305435" indent="-305435" algn="just">
              <a:buNone/>
            </a:pPr>
            <a:r>
              <a:rPr lang="es-ES">
                <a:ea typeface="+mn-lt"/>
                <a:cs typeface="+mn-lt"/>
              </a:rPr>
              <a:t>Para garantizar la integridad de los datos antes de invocar servicios costosos o guardar en base de datos, utilizamos Restricciones de Contrato. Estas se ejecutan en el servidor.</a:t>
            </a:r>
            <a:endParaRPr lang="es-ES"/>
          </a:p>
          <a:p>
            <a:pPr marL="0" indent="0" algn="just">
              <a:lnSpc>
                <a:spcPct val="107000"/>
              </a:lnSpc>
              <a:spcBef>
                <a:spcPts val="0"/>
              </a:spcBef>
              <a:spcAft>
                <a:spcPts val="0"/>
              </a:spcAft>
              <a:buNone/>
            </a:pPr>
            <a:endParaRPr lang="es-ES" sz="1800">
              <a:effectLst/>
              <a:latin typeface="Georgia"/>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endParaRPr lang="es-ES">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667353BA-D085-A727-2087-8D3D989FBE28}"/>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SERVIDOR SOAP</a:t>
            </a:r>
            <a:endParaRPr lang="es-ES" sz="1200" b="1">
              <a:solidFill>
                <a:schemeClr val="bg1"/>
              </a:solidFill>
              <a:latin typeface="Gill Sans MT" panose="020B0502020104020203"/>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rgbClr val="FFFF00"/>
                </a:solidFill>
              </a:rPr>
              <a:t>CREACIÓN DEL PROYECTO BPM</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BIBLIOGRAFÍA</a:t>
            </a:r>
          </a:p>
        </p:txBody>
      </p:sp>
      <p:pic>
        <p:nvPicPr>
          <p:cNvPr id="4" name="Imagen 3">
            <a:extLst>
              <a:ext uri="{FF2B5EF4-FFF2-40B4-BE49-F238E27FC236}">
                <a16:creationId xmlns:a16="http://schemas.microsoft.com/office/drawing/2014/main" id="{79BA4898-9DE5-06A8-0F1E-C2F290CD884B}"/>
              </a:ext>
            </a:extLst>
          </p:cNvPr>
          <p:cNvPicPr>
            <a:picLocks noChangeAspect="1"/>
          </p:cNvPicPr>
          <p:nvPr/>
        </p:nvPicPr>
        <p:blipFill>
          <a:blip r:embed="rId2"/>
          <a:stretch>
            <a:fillRect/>
          </a:stretch>
        </p:blipFill>
        <p:spPr>
          <a:xfrm>
            <a:off x="729238" y="2927891"/>
            <a:ext cx="8439150" cy="3095625"/>
          </a:xfrm>
          <a:prstGeom prst="rect">
            <a:avLst/>
          </a:prstGeom>
          <a:ln w="5715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7236386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F673C-51D0-1096-AFC3-23493D63583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A360767-31A6-F3E4-E8E9-914240C7DFD2}"/>
              </a:ext>
            </a:extLst>
          </p:cNvPr>
          <p:cNvSpPr>
            <a:spLocks noGrp="1"/>
          </p:cNvSpPr>
          <p:nvPr>
            <p:ph type="title"/>
          </p:nvPr>
        </p:nvSpPr>
        <p:spPr/>
        <p:txBody>
          <a:bodyPr/>
          <a:lstStyle/>
          <a:p>
            <a:r>
              <a:rPr lang="es-ES"/>
              <a:t>CREACIÓN DEL PROYECTO BPM</a:t>
            </a:r>
          </a:p>
        </p:txBody>
      </p:sp>
      <p:sp>
        <p:nvSpPr>
          <p:cNvPr id="3" name="Marcador de contenido 2">
            <a:extLst>
              <a:ext uri="{FF2B5EF4-FFF2-40B4-BE49-F238E27FC236}">
                <a16:creationId xmlns:a16="http://schemas.microsoft.com/office/drawing/2014/main" id="{805CC8E8-F6A1-ECB0-75FD-77BE79AE6529}"/>
              </a:ext>
            </a:extLst>
          </p:cNvPr>
          <p:cNvSpPr>
            <a:spLocks noGrp="1"/>
          </p:cNvSpPr>
          <p:nvPr>
            <p:ph idx="1"/>
          </p:nvPr>
        </p:nvSpPr>
        <p:spPr>
          <a:xfrm>
            <a:off x="581192" y="2550005"/>
            <a:ext cx="8589441" cy="883545"/>
          </a:xfrm>
        </p:spPr>
        <p:txBody>
          <a:bodyPr>
            <a:normAutofit/>
          </a:bodyPr>
          <a:lstStyle/>
          <a:p>
            <a:pPr marL="305435" indent="-305435" algn="just">
              <a:buFont typeface="Wingdings 2" panose="05050102010706020507" pitchFamily="18" charset="2"/>
              <a:buChar char=""/>
            </a:pPr>
            <a:r>
              <a:rPr lang="es-ES">
                <a:solidFill>
                  <a:srgbClr val="244061"/>
                </a:solidFill>
              </a:rPr>
              <a:t>Operación: Registrar </a:t>
            </a:r>
            <a:r>
              <a:rPr lang="es-ES" b="1">
                <a:solidFill>
                  <a:srgbClr val="244061"/>
                </a:solidFill>
              </a:rPr>
              <a:t>Transferencia</a:t>
            </a:r>
            <a:endParaRPr lang="es-ES" b="1">
              <a:latin typeface="Georgia"/>
              <a:ea typeface="Calibri"/>
              <a:cs typeface="Times New Roman"/>
            </a:endParaRPr>
          </a:p>
          <a:p>
            <a:pPr marL="305435" indent="-305435" algn="just">
              <a:buFont typeface="Wingdings 2" panose="05050102010706020507" pitchFamily="18" charset="2"/>
              <a:buChar char=""/>
            </a:pPr>
            <a:r>
              <a:rPr lang="es-ES">
                <a:ea typeface="+mn-lt"/>
                <a:cs typeface="+mn-lt"/>
              </a:rPr>
              <a:t>Esta operación requiere un parámetro adicional.</a:t>
            </a:r>
          </a:p>
          <a:p>
            <a:pPr marL="305435" indent="-305435" algn="just">
              <a:lnSpc>
                <a:spcPct val="107000"/>
              </a:lnSpc>
              <a:spcBef>
                <a:spcPts val="0"/>
              </a:spcBef>
              <a:spcAft>
                <a:spcPts val="0"/>
              </a:spcAft>
              <a:buFont typeface="Wingdings 2" panose="05050102010706020507" pitchFamily="18" charset="2"/>
              <a:buChar char=""/>
            </a:pPr>
            <a:endParaRPr lang="es-ES">
              <a:latin typeface="Georgia"/>
              <a:ea typeface="Calibri" panose="020F0502020204030204" pitchFamily="34" charset="0"/>
              <a:cs typeface="Times New Roman" panose="02020603050405020304" pitchFamily="18" charset="0"/>
            </a:endParaRPr>
          </a:p>
          <a:p>
            <a:pPr marL="305435" indent="-305435" algn="just">
              <a:buNone/>
            </a:pPr>
            <a:endParaRPr lang="es-ES"/>
          </a:p>
          <a:p>
            <a:pPr marL="0" indent="0" algn="just">
              <a:lnSpc>
                <a:spcPct val="107000"/>
              </a:lnSpc>
              <a:spcBef>
                <a:spcPts val="0"/>
              </a:spcBef>
              <a:spcAft>
                <a:spcPts val="0"/>
              </a:spcAft>
              <a:buNone/>
            </a:pPr>
            <a:endParaRPr lang="es-ES" sz="1800">
              <a:effectLst/>
              <a:latin typeface="Georgia"/>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endParaRPr lang="es-ES">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54D8E8A8-5B17-BB89-FCC6-F9F518F6459A}"/>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SERVIDOR SOAP</a:t>
            </a:r>
            <a:endParaRPr lang="es-ES" sz="1200" b="1">
              <a:solidFill>
                <a:schemeClr val="bg1"/>
              </a:solidFill>
              <a:latin typeface="Gill Sans MT" panose="020B0502020104020203"/>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rgbClr val="FFFF00"/>
                </a:solidFill>
              </a:rPr>
              <a:t>CREACIÓN DEL PROYECTO BPM</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BIBLIOGRAFÍA</a:t>
            </a:r>
          </a:p>
        </p:txBody>
      </p:sp>
      <p:pic>
        <p:nvPicPr>
          <p:cNvPr id="8" name="Imagen 7" descr="Texto, Carta&#10;&#10;El contenido generado por IA puede ser incorrecto.">
            <a:extLst>
              <a:ext uri="{FF2B5EF4-FFF2-40B4-BE49-F238E27FC236}">
                <a16:creationId xmlns:a16="http://schemas.microsoft.com/office/drawing/2014/main" id="{560E8AC7-6F1F-1D3F-16D5-EBE1D0632E4E}"/>
              </a:ext>
            </a:extLst>
          </p:cNvPr>
          <p:cNvPicPr>
            <a:picLocks noChangeAspect="1"/>
          </p:cNvPicPr>
          <p:nvPr/>
        </p:nvPicPr>
        <p:blipFill>
          <a:blip r:embed="rId2"/>
          <a:stretch>
            <a:fillRect/>
          </a:stretch>
        </p:blipFill>
        <p:spPr>
          <a:xfrm>
            <a:off x="508585" y="2880812"/>
            <a:ext cx="5489910" cy="1848352"/>
          </a:xfrm>
          <a:prstGeom prst="rect">
            <a:avLst/>
          </a:prstGeom>
        </p:spPr>
      </p:pic>
      <p:pic>
        <p:nvPicPr>
          <p:cNvPr id="9" name="Imagen 8" descr="Interfaz de usuario gráfica, Aplicación&#10;&#10;El contenido generado por IA puede ser incorrecto.">
            <a:extLst>
              <a:ext uri="{FF2B5EF4-FFF2-40B4-BE49-F238E27FC236}">
                <a16:creationId xmlns:a16="http://schemas.microsoft.com/office/drawing/2014/main" id="{D9A0E290-1B5D-9E0C-8B35-0C5BB5578B8B}"/>
              </a:ext>
            </a:extLst>
          </p:cNvPr>
          <p:cNvPicPr>
            <a:picLocks noChangeAspect="1"/>
          </p:cNvPicPr>
          <p:nvPr/>
        </p:nvPicPr>
        <p:blipFill>
          <a:blip r:embed="rId3"/>
          <a:stretch>
            <a:fillRect/>
          </a:stretch>
        </p:blipFill>
        <p:spPr>
          <a:xfrm>
            <a:off x="3513722" y="3594684"/>
            <a:ext cx="5555582" cy="3027447"/>
          </a:xfrm>
          <a:prstGeom prst="rect">
            <a:avLst/>
          </a:prstGeom>
          <a:ln w="5715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463076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E1F4-5253-ACB4-124F-9BB0C8CDC4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4E5711-AC66-63EF-F9E0-3CB433EE6515}"/>
              </a:ext>
            </a:extLst>
          </p:cNvPr>
          <p:cNvSpPr>
            <a:spLocks noGrp="1"/>
          </p:cNvSpPr>
          <p:nvPr>
            <p:ph type="title"/>
          </p:nvPr>
        </p:nvSpPr>
        <p:spPr/>
        <p:txBody>
          <a:bodyPr/>
          <a:lstStyle/>
          <a:p>
            <a:r>
              <a:rPr lang="es-ES"/>
              <a:t>CREACIÓN DEL PROYECTO BPM</a:t>
            </a:r>
          </a:p>
        </p:txBody>
      </p:sp>
      <p:sp>
        <p:nvSpPr>
          <p:cNvPr id="3" name="Marcador de contenido 2">
            <a:extLst>
              <a:ext uri="{FF2B5EF4-FFF2-40B4-BE49-F238E27FC236}">
                <a16:creationId xmlns:a16="http://schemas.microsoft.com/office/drawing/2014/main" id="{985F8C4B-E8C3-073D-4C8E-97420CB05A71}"/>
              </a:ext>
            </a:extLst>
          </p:cNvPr>
          <p:cNvSpPr>
            <a:spLocks noGrp="1"/>
          </p:cNvSpPr>
          <p:nvPr>
            <p:ph idx="1"/>
          </p:nvPr>
        </p:nvSpPr>
        <p:spPr>
          <a:xfrm>
            <a:off x="581192" y="2550005"/>
            <a:ext cx="8589441" cy="883545"/>
          </a:xfrm>
        </p:spPr>
        <p:txBody>
          <a:bodyPr>
            <a:normAutofit/>
          </a:bodyPr>
          <a:lstStyle/>
          <a:p>
            <a:pPr marL="305435" indent="-305435" algn="just">
              <a:buFont typeface="Wingdings 2" panose="05050102010706020507" pitchFamily="18" charset="2"/>
              <a:buChar char=""/>
            </a:pPr>
            <a:r>
              <a:rPr lang="es-ES">
                <a:solidFill>
                  <a:srgbClr val="244061"/>
                </a:solidFill>
              </a:rPr>
              <a:t>Operación: Registrar Retiro</a:t>
            </a:r>
            <a:endParaRPr lang="es-ES" b="1">
              <a:solidFill>
                <a:srgbClr val="244061"/>
              </a:solidFill>
              <a:latin typeface="Gill Sans MT"/>
              <a:ea typeface="Calibri"/>
              <a:cs typeface="Times New Roman"/>
            </a:endParaRPr>
          </a:p>
          <a:p>
            <a:pPr marL="305435" indent="-305435" algn="just">
              <a:buFont typeface="Wingdings 2" panose="05050102010706020507" pitchFamily="18" charset="2"/>
              <a:buChar char=""/>
            </a:pPr>
            <a:r>
              <a:rPr lang="es-ES" dirty="0">
                <a:ea typeface="+mn-lt"/>
                <a:cs typeface="+mn-lt"/>
              </a:rPr>
              <a:t>Esta operación requiere un parámetro adicional.</a:t>
            </a:r>
          </a:p>
          <a:p>
            <a:pPr marL="305435" indent="-305435" algn="just">
              <a:lnSpc>
                <a:spcPct val="107000"/>
              </a:lnSpc>
              <a:spcBef>
                <a:spcPts val="0"/>
              </a:spcBef>
              <a:spcAft>
                <a:spcPts val="0"/>
              </a:spcAft>
              <a:buFont typeface="Wingdings 2" panose="05050102010706020507" pitchFamily="18" charset="2"/>
              <a:buChar char=""/>
            </a:pPr>
            <a:endParaRPr lang="es-ES">
              <a:latin typeface="Georgia"/>
              <a:ea typeface="Calibri" panose="020F0502020204030204" pitchFamily="34" charset="0"/>
              <a:cs typeface="Times New Roman" panose="02020603050405020304" pitchFamily="18" charset="0"/>
            </a:endParaRPr>
          </a:p>
          <a:p>
            <a:pPr marL="305435" indent="-305435" algn="just">
              <a:buNone/>
            </a:pPr>
            <a:endParaRPr lang="es-ES"/>
          </a:p>
          <a:p>
            <a:pPr marL="0" indent="0" algn="just">
              <a:lnSpc>
                <a:spcPct val="107000"/>
              </a:lnSpc>
              <a:spcBef>
                <a:spcPts val="0"/>
              </a:spcBef>
              <a:spcAft>
                <a:spcPts val="0"/>
              </a:spcAft>
              <a:buNone/>
            </a:pPr>
            <a:endParaRPr lang="es-ES" sz="1800">
              <a:effectLst/>
              <a:latin typeface="Georgia"/>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endParaRPr lang="es-ES">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78A2F80D-3FC1-8CB3-8F9A-233C60DEEC9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SERVIDOR SOAP</a:t>
            </a:r>
            <a:endParaRPr lang="es-ES" sz="1200" b="1">
              <a:solidFill>
                <a:schemeClr val="bg1"/>
              </a:solidFill>
              <a:latin typeface="Gill Sans MT" panose="020B0502020104020203"/>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rgbClr val="FFFF00"/>
                </a:solidFill>
              </a:rPr>
              <a:t>CREACIÓN DEL PROYECTO BPM</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BIBLIOGRAFÍA</a:t>
            </a:r>
          </a:p>
        </p:txBody>
      </p:sp>
      <p:pic>
        <p:nvPicPr>
          <p:cNvPr id="8" name="Imagen 7" descr="Texto, Carta&#10;&#10;El contenido generado por IA puede ser incorrecto.">
            <a:extLst>
              <a:ext uri="{FF2B5EF4-FFF2-40B4-BE49-F238E27FC236}">
                <a16:creationId xmlns:a16="http://schemas.microsoft.com/office/drawing/2014/main" id="{4255E1C9-EC6A-28C0-4077-E7E0FDBFB54A}"/>
              </a:ext>
            </a:extLst>
          </p:cNvPr>
          <p:cNvPicPr>
            <a:picLocks noChangeAspect="1"/>
          </p:cNvPicPr>
          <p:nvPr/>
        </p:nvPicPr>
        <p:blipFill>
          <a:blip r:embed="rId2"/>
          <a:stretch>
            <a:fillRect/>
          </a:stretch>
        </p:blipFill>
        <p:spPr>
          <a:xfrm>
            <a:off x="508585" y="2880812"/>
            <a:ext cx="5489910" cy="1848352"/>
          </a:xfrm>
          <a:prstGeom prst="rect">
            <a:avLst/>
          </a:prstGeom>
        </p:spPr>
      </p:pic>
      <p:pic>
        <p:nvPicPr>
          <p:cNvPr id="9" name="Imagen 8" descr="Interfaz de usuario gráfica, Aplicación&#10;&#10;El contenido generado por IA puede ser incorrecto.">
            <a:extLst>
              <a:ext uri="{FF2B5EF4-FFF2-40B4-BE49-F238E27FC236}">
                <a16:creationId xmlns:a16="http://schemas.microsoft.com/office/drawing/2014/main" id="{4389DDAC-FD4E-E04F-47C3-BB66C223F424}"/>
              </a:ext>
            </a:extLst>
          </p:cNvPr>
          <p:cNvPicPr>
            <a:picLocks noChangeAspect="1"/>
          </p:cNvPicPr>
          <p:nvPr/>
        </p:nvPicPr>
        <p:blipFill>
          <a:blip r:embed="rId3"/>
          <a:stretch>
            <a:fillRect/>
          </a:stretch>
        </p:blipFill>
        <p:spPr>
          <a:xfrm>
            <a:off x="3513722" y="3594684"/>
            <a:ext cx="5555582" cy="3027447"/>
          </a:xfrm>
          <a:prstGeom prst="rect">
            <a:avLst/>
          </a:prstGeom>
          <a:ln w="5715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304750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B0DD6-BABC-A339-86F2-B0CA34747DB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4F3F41-0E7D-61BD-4A28-FFDB541B010E}"/>
              </a:ext>
            </a:extLst>
          </p:cNvPr>
          <p:cNvSpPr>
            <a:spLocks noGrp="1"/>
          </p:cNvSpPr>
          <p:nvPr>
            <p:ph type="title"/>
          </p:nvPr>
        </p:nvSpPr>
        <p:spPr/>
        <p:txBody>
          <a:bodyPr/>
          <a:lstStyle/>
          <a:p>
            <a:r>
              <a:rPr lang="es-ES"/>
              <a:t>CREACIÓN DEL PROYECTO BPM</a:t>
            </a:r>
          </a:p>
        </p:txBody>
      </p:sp>
      <p:sp>
        <p:nvSpPr>
          <p:cNvPr id="3" name="Marcador de contenido 2">
            <a:extLst>
              <a:ext uri="{FF2B5EF4-FFF2-40B4-BE49-F238E27FC236}">
                <a16:creationId xmlns:a16="http://schemas.microsoft.com/office/drawing/2014/main" id="{850B8BEE-8C90-56EA-A1FB-EA3AF28B7560}"/>
              </a:ext>
            </a:extLst>
          </p:cNvPr>
          <p:cNvSpPr>
            <a:spLocks noGrp="1"/>
          </p:cNvSpPr>
          <p:nvPr>
            <p:ph idx="1"/>
          </p:nvPr>
        </p:nvSpPr>
        <p:spPr>
          <a:xfrm>
            <a:off x="581192" y="2550005"/>
            <a:ext cx="8589441" cy="883545"/>
          </a:xfrm>
        </p:spPr>
        <p:txBody>
          <a:bodyPr>
            <a:normAutofit/>
          </a:bodyPr>
          <a:lstStyle/>
          <a:p>
            <a:pPr marL="305435" indent="-305435" algn="just">
              <a:buFont typeface="Wingdings 2" panose="05050102010706020507" pitchFamily="18" charset="2"/>
              <a:buChar char=""/>
            </a:pPr>
            <a:r>
              <a:rPr lang="es-ES" dirty="0">
                <a:solidFill>
                  <a:srgbClr val="244061"/>
                </a:solidFill>
              </a:rPr>
              <a:t>Operación: Registrar Depósito</a:t>
            </a:r>
            <a:endParaRPr lang="es-ES" b="1" dirty="0">
              <a:solidFill>
                <a:srgbClr val="244061"/>
              </a:solidFill>
              <a:latin typeface="Gill Sans MT"/>
              <a:ea typeface="Calibri"/>
              <a:cs typeface="Times New Roman"/>
            </a:endParaRPr>
          </a:p>
          <a:p>
            <a:pPr marL="305435" indent="-305435" algn="just">
              <a:buFont typeface="Wingdings 2" panose="05050102010706020507" pitchFamily="18" charset="2"/>
              <a:buChar char=""/>
            </a:pPr>
            <a:r>
              <a:rPr lang="es-ES" dirty="0">
                <a:ea typeface="+mn-lt"/>
                <a:cs typeface="+mn-lt"/>
              </a:rPr>
              <a:t>Esta operación requiere un parámetro adicional.</a:t>
            </a:r>
          </a:p>
          <a:p>
            <a:pPr marL="305435" indent="-305435" algn="just">
              <a:lnSpc>
                <a:spcPct val="107000"/>
              </a:lnSpc>
              <a:spcBef>
                <a:spcPts val="0"/>
              </a:spcBef>
              <a:spcAft>
                <a:spcPts val="0"/>
              </a:spcAft>
              <a:buFont typeface="Wingdings 2" panose="05050102010706020507" pitchFamily="18" charset="2"/>
              <a:buChar char=""/>
            </a:pPr>
            <a:endParaRPr lang="es-ES">
              <a:latin typeface="Georgia"/>
              <a:ea typeface="Calibri" panose="020F0502020204030204" pitchFamily="34" charset="0"/>
              <a:cs typeface="Times New Roman" panose="02020603050405020304" pitchFamily="18" charset="0"/>
            </a:endParaRPr>
          </a:p>
          <a:p>
            <a:pPr marL="305435" indent="-305435" algn="just">
              <a:buNone/>
            </a:pPr>
            <a:endParaRPr lang="es-ES"/>
          </a:p>
          <a:p>
            <a:pPr marL="0" indent="0" algn="just">
              <a:lnSpc>
                <a:spcPct val="107000"/>
              </a:lnSpc>
              <a:spcBef>
                <a:spcPts val="0"/>
              </a:spcBef>
              <a:spcAft>
                <a:spcPts val="0"/>
              </a:spcAft>
              <a:buNone/>
            </a:pPr>
            <a:endParaRPr lang="es-ES" sz="1800">
              <a:effectLst/>
              <a:latin typeface="Georgia"/>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endParaRPr lang="es-ES">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6EE0F05A-1612-208B-D5F9-E293B3AF9223}"/>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SERVIDOR SOAP</a:t>
            </a:r>
            <a:endParaRPr lang="es-ES" sz="1200" b="1">
              <a:solidFill>
                <a:schemeClr val="bg1"/>
              </a:solidFill>
              <a:latin typeface="Gill Sans MT" panose="020B0502020104020203"/>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rgbClr val="FFFF00"/>
                </a:solidFill>
              </a:rPr>
              <a:t>CREACIÓN DEL PROYECTO BPM</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BIBLIOGRAFÍA</a:t>
            </a:r>
          </a:p>
        </p:txBody>
      </p:sp>
      <p:pic>
        <p:nvPicPr>
          <p:cNvPr id="8" name="Imagen 7" descr="Texto, Carta&#10;&#10;El contenido generado por IA puede ser incorrecto.">
            <a:extLst>
              <a:ext uri="{FF2B5EF4-FFF2-40B4-BE49-F238E27FC236}">
                <a16:creationId xmlns:a16="http://schemas.microsoft.com/office/drawing/2014/main" id="{B0D85C2E-A4B3-02DD-6A74-8487AF678158}"/>
              </a:ext>
            </a:extLst>
          </p:cNvPr>
          <p:cNvPicPr>
            <a:picLocks noChangeAspect="1"/>
          </p:cNvPicPr>
          <p:nvPr/>
        </p:nvPicPr>
        <p:blipFill>
          <a:blip r:embed="rId2"/>
          <a:stretch>
            <a:fillRect/>
          </a:stretch>
        </p:blipFill>
        <p:spPr>
          <a:xfrm>
            <a:off x="508585" y="2880812"/>
            <a:ext cx="5489910" cy="1848352"/>
          </a:xfrm>
          <a:prstGeom prst="rect">
            <a:avLst/>
          </a:prstGeom>
        </p:spPr>
      </p:pic>
      <p:pic>
        <p:nvPicPr>
          <p:cNvPr id="9" name="Imagen 8" descr="Interfaz de usuario gráfica, Aplicación&#10;&#10;El contenido generado por IA puede ser incorrecto.">
            <a:extLst>
              <a:ext uri="{FF2B5EF4-FFF2-40B4-BE49-F238E27FC236}">
                <a16:creationId xmlns:a16="http://schemas.microsoft.com/office/drawing/2014/main" id="{9E8723EF-5AEC-183C-F466-9C5A699F8AF6}"/>
              </a:ext>
            </a:extLst>
          </p:cNvPr>
          <p:cNvPicPr>
            <a:picLocks noChangeAspect="1"/>
          </p:cNvPicPr>
          <p:nvPr/>
        </p:nvPicPr>
        <p:blipFill>
          <a:blip r:embed="rId3"/>
          <a:stretch>
            <a:fillRect/>
          </a:stretch>
        </p:blipFill>
        <p:spPr>
          <a:xfrm>
            <a:off x="3513722" y="3594684"/>
            <a:ext cx="5555582" cy="3027447"/>
          </a:xfrm>
          <a:prstGeom prst="rect">
            <a:avLst/>
          </a:prstGeom>
          <a:ln w="5715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79560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A4E5E-3CED-5C46-997F-5F3FCEF44B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9D3EDA-9046-E3E1-0790-1654F98E6033}"/>
              </a:ext>
            </a:extLst>
          </p:cNvPr>
          <p:cNvSpPr>
            <a:spLocks noGrp="1"/>
          </p:cNvSpPr>
          <p:nvPr>
            <p:ph type="title"/>
          </p:nvPr>
        </p:nvSpPr>
        <p:spPr/>
        <p:txBody>
          <a:bodyPr/>
          <a:lstStyle/>
          <a:p>
            <a:r>
              <a:rPr lang="es-ES"/>
              <a:t>CREACIÓN DEL PROYECTO BPM</a:t>
            </a:r>
          </a:p>
        </p:txBody>
      </p:sp>
      <p:sp>
        <p:nvSpPr>
          <p:cNvPr id="3" name="Marcador de contenido 2">
            <a:extLst>
              <a:ext uri="{FF2B5EF4-FFF2-40B4-BE49-F238E27FC236}">
                <a16:creationId xmlns:a16="http://schemas.microsoft.com/office/drawing/2014/main" id="{6E44724E-16DE-5307-60FA-2DD34F9697CF}"/>
              </a:ext>
            </a:extLst>
          </p:cNvPr>
          <p:cNvSpPr>
            <a:spLocks noGrp="1"/>
          </p:cNvSpPr>
          <p:nvPr>
            <p:ph idx="1"/>
          </p:nvPr>
        </p:nvSpPr>
        <p:spPr>
          <a:xfrm>
            <a:off x="581192" y="2550005"/>
            <a:ext cx="8589441" cy="883545"/>
          </a:xfrm>
        </p:spPr>
        <p:txBody>
          <a:bodyPr>
            <a:normAutofit/>
          </a:bodyPr>
          <a:lstStyle/>
          <a:p>
            <a:pPr marL="305435" indent="-305435" algn="just">
              <a:buFont typeface="Wingdings 2" panose="05050102010706020507" pitchFamily="18" charset="2"/>
              <a:buChar char=""/>
            </a:pPr>
            <a:r>
              <a:rPr lang="es-ES" dirty="0">
                <a:solidFill>
                  <a:srgbClr val="244061"/>
                </a:solidFill>
              </a:rPr>
              <a:t>Operación: Registrar </a:t>
            </a:r>
            <a:r>
              <a:rPr lang="es-ES" b="1" dirty="0">
                <a:solidFill>
                  <a:srgbClr val="244061"/>
                </a:solidFill>
              </a:rPr>
              <a:t>Ver Movimientos</a:t>
            </a:r>
            <a:endParaRPr lang="es-ES" b="1" dirty="0">
              <a:latin typeface="Georgia"/>
              <a:ea typeface="Calibri"/>
              <a:cs typeface="Times New Roman"/>
            </a:endParaRPr>
          </a:p>
          <a:p>
            <a:pPr marL="305435" indent="-305435" algn="just">
              <a:buFont typeface="Wingdings 2" panose="05050102010706020507" pitchFamily="18" charset="2"/>
              <a:buChar char=""/>
            </a:pPr>
            <a:r>
              <a:rPr lang="es-ES" dirty="0">
                <a:ea typeface="+mn-lt"/>
                <a:cs typeface="+mn-lt"/>
              </a:rPr>
              <a:t>Esta operación requiere un parámetro adicional.</a:t>
            </a:r>
          </a:p>
          <a:p>
            <a:pPr marL="305435" indent="-305435" algn="just">
              <a:lnSpc>
                <a:spcPct val="107000"/>
              </a:lnSpc>
              <a:spcBef>
                <a:spcPts val="0"/>
              </a:spcBef>
              <a:spcAft>
                <a:spcPts val="0"/>
              </a:spcAft>
              <a:buFont typeface="Wingdings 2" panose="05050102010706020507" pitchFamily="18" charset="2"/>
              <a:buChar char=""/>
            </a:pPr>
            <a:endParaRPr lang="es-ES">
              <a:latin typeface="Georgia"/>
              <a:ea typeface="Calibri" panose="020F0502020204030204" pitchFamily="34" charset="0"/>
              <a:cs typeface="Times New Roman" panose="02020603050405020304" pitchFamily="18" charset="0"/>
            </a:endParaRPr>
          </a:p>
          <a:p>
            <a:pPr marL="305435" indent="-305435" algn="just">
              <a:buNone/>
            </a:pPr>
            <a:endParaRPr lang="es-ES"/>
          </a:p>
          <a:p>
            <a:pPr marL="0" indent="0" algn="just">
              <a:lnSpc>
                <a:spcPct val="107000"/>
              </a:lnSpc>
              <a:spcBef>
                <a:spcPts val="0"/>
              </a:spcBef>
              <a:spcAft>
                <a:spcPts val="0"/>
              </a:spcAft>
              <a:buNone/>
            </a:pPr>
            <a:endParaRPr lang="es-ES" sz="1800">
              <a:effectLst/>
              <a:latin typeface="Georgia"/>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endParaRPr lang="es-ES">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FAF39663-456F-A76D-7B0B-541301EB6981}"/>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SERVIDOR SOAP</a:t>
            </a:r>
            <a:endParaRPr lang="es-ES" sz="1200" b="1">
              <a:solidFill>
                <a:schemeClr val="bg1"/>
              </a:solidFill>
              <a:latin typeface="Gill Sans MT" panose="020B0502020104020203"/>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rgbClr val="FFFF00"/>
                </a:solidFill>
              </a:rPr>
              <a:t>CREACIÓN DEL PROYECTO BPM</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BIBLIOGRAFÍA</a:t>
            </a:r>
          </a:p>
        </p:txBody>
      </p:sp>
      <p:pic>
        <p:nvPicPr>
          <p:cNvPr id="8" name="Imagen 7" descr="Texto, Carta&#10;&#10;El contenido generado por IA puede ser incorrecto.">
            <a:extLst>
              <a:ext uri="{FF2B5EF4-FFF2-40B4-BE49-F238E27FC236}">
                <a16:creationId xmlns:a16="http://schemas.microsoft.com/office/drawing/2014/main" id="{7B7520A3-2C17-0C38-7A83-250FB9CDF2BC}"/>
              </a:ext>
            </a:extLst>
          </p:cNvPr>
          <p:cNvPicPr>
            <a:picLocks noChangeAspect="1"/>
          </p:cNvPicPr>
          <p:nvPr/>
        </p:nvPicPr>
        <p:blipFill>
          <a:blip r:embed="rId2"/>
          <a:stretch>
            <a:fillRect/>
          </a:stretch>
        </p:blipFill>
        <p:spPr>
          <a:xfrm>
            <a:off x="508585" y="2880812"/>
            <a:ext cx="5489910" cy="1848352"/>
          </a:xfrm>
          <a:prstGeom prst="rect">
            <a:avLst/>
          </a:prstGeom>
        </p:spPr>
      </p:pic>
      <p:pic>
        <p:nvPicPr>
          <p:cNvPr id="9" name="Imagen 8" descr="Interfaz de usuario gráfica, Aplicación&#10;&#10;El contenido generado por IA puede ser incorrecto.">
            <a:extLst>
              <a:ext uri="{FF2B5EF4-FFF2-40B4-BE49-F238E27FC236}">
                <a16:creationId xmlns:a16="http://schemas.microsoft.com/office/drawing/2014/main" id="{B40C5566-763F-563B-6B78-0CD897EF016D}"/>
              </a:ext>
            </a:extLst>
          </p:cNvPr>
          <p:cNvPicPr>
            <a:picLocks noChangeAspect="1"/>
          </p:cNvPicPr>
          <p:nvPr/>
        </p:nvPicPr>
        <p:blipFill>
          <a:blip r:embed="rId3"/>
          <a:stretch>
            <a:fillRect/>
          </a:stretch>
        </p:blipFill>
        <p:spPr>
          <a:xfrm>
            <a:off x="3513722" y="3594684"/>
            <a:ext cx="5555582" cy="3027447"/>
          </a:xfrm>
          <a:prstGeom prst="rect">
            <a:avLst/>
          </a:prstGeom>
          <a:ln w="5715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781850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20B7B-4D3F-EDAF-E054-15F3A19C8F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17B85C9-0612-C7AC-0DF5-AEC97B29BE1D}"/>
              </a:ext>
            </a:extLst>
          </p:cNvPr>
          <p:cNvSpPr>
            <a:spLocks noGrp="1"/>
          </p:cNvSpPr>
          <p:nvPr>
            <p:ph type="title"/>
          </p:nvPr>
        </p:nvSpPr>
        <p:spPr/>
        <p:txBody>
          <a:bodyPr/>
          <a:lstStyle/>
          <a:p>
            <a:r>
              <a:rPr lang="es-ES"/>
              <a:t>CREACIÓN DEL PROYECTO BPM</a:t>
            </a:r>
          </a:p>
        </p:txBody>
      </p:sp>
      <p:sp>
        <p:nvSpPr>
          <p:cNvPr id="3" name="Marcador de contenido 2">
            <a:extLst>
              <a:ext uri="{FF2B5EF4-FFF2-40B4-BE49-F238E27FC236}">
                <a16:creationId xmlns:a16="http://schemas.microsoft.com/office/drawing/2014/main" id="{0CA4079B-EA0F-D200-1514-792931BFD79D}"/>
              </a:ext>
            </a:extLst>
          </p:cNvPr>
          <p:cNvSpPr>
            <a:spLocks noGrp="1"/>
          </p:cNvSpPr>
          <p:nvPr>
            <p:ph idx="1"/>
          </p:nvPr>
        </p:nvSpPr>
        <p:spPr>
          <a:xfrm>
            <a:off x="581192" y="1998558"/>
            <a:ext cx="8589441" cy="883545"/>
          </a:xfrm>
        </p:spPr>
        <p:txBody>
          <a:bodyPr>
            <a:normAutofit/>
          </a:bodyPr>
          <a:lstStyle/>
          <a:p>
            <a:pPr marL="0" indent="0" algn="just">
              <a:buNone/>
            </a:pPr>
            <a:r>
              <a:rPr lang="es-ES" dirty="0">
                <a:solidFill>
                  <a:srgbClr val="244061"/>
                </a:solidFill>
                <a:latin typeface="Gill Sans MT"/>
                <a:ea typeface="Calibri"/>
                <a:cs typeface="Times New Roman"/>
              </a:rPr>
              <a:t>EN EJECUCIÓN</a:t>
            </a:r>
            <a:endParaRPr lang="es-ES" dirty="0">
              <a:solidFill>
                <a:srgbClr val="244061"/>
              </a:solidFill>
              <a:latin typeface="Gill Sans MT"/>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847BC887-02A6-5AA8-8008-DA2883B38EBE}"/>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SERVIDOR SOAP</a:t>
            </a:r>
            <a:endParaRPr lang="es-ES" sz="1200" b="1">
              <a:solidFill>
                <a:schemeClr val="bg1"/>
              </a:solidFill>
              <a:latin typeface="Gill Sans MT" panose="020B0502020104020203"/>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rgbClr val="FFFF00"/>
                </a:solidFill>
              </a:rPr>
              <a:t>CREACIÓN DEL PROYECTO BPM</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a:ln>
                  <a:noFill/>
                </a:ln>
                <a:solidFill>
                  <a:schemeClr val="bg1"/>
                </a:solidFill>
                <a:effectLst/>
                <a:uLnTx/>
                <a:uFillTx/>
                <a:latin typeface="Gill Sans MT" panose="020B0502020104020203"/>
                <a:ea typeface="+mn-ea"/>
                <a:cs typeface="+mn-cs"/>
              </a:rPr>
              <a:t>BIBLIOGRAFÍA</a:t>
            </a:r>
          </a:p>
        </p:txBody>
      </p:sp>
      <p:pic>
        <p:nvPicPr>
          <p:cNvPr id="4" name="Imagen 3" descr="Interfaz de usuario gráfica, Aplicación&#10;&#10;El contenido generado por IA puede ser incorrecto.">
            <a:extLst>
              <a:ext uri="{FF2B5EF4-FFF2-40B4-BE49-F238E27FC236}">
                <a16:creationId xmlns:a16="http://schemas.microsoft.com/office/drawing/2014/main" id="{5C4FB9D8-2AA4-A368-6D9B-3F04E7DE3BF2}"/>
              </a:ext>
            </a:extLst>
          </p:cNvPr>
          <p:cNvPicPr>
            <a:picLocks noChangeAspect="1"/>
          </p:cNvPicPr>
          <p:nvPr/>
        </p:nvPicPr>
        <p:blipFill>
          <a:blip r:embed="rId2"/>
          <a:stretch>
            <a:fillRect/>
          </a:stretch>
        </p:blipFill>
        <p:spPr>
          <a:xfrm>
            <a:off x="1367589" y="2809124"/>
            <a:ext cx="7010400" cy="3305175"/>
          </a:xfrm>
          <a:prstGeom prst="rect">
            <a:avLst/>
          </a:prstGeom>
        </p:spPr>
      </p:pic>
    </p:spTree>
    <p:extLst>
      <p:ext uri="{BB962C8B-B14F-4D97-AF65-F5344CB8AC3E}">
        <p14:creationId xmlns:p14="http://schemas.microsoft.com/office/powerpoint/2010/main" val="3193291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C01E9-E3B8-6856-D3B6-200CEDC4F0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1DE11F-A95E-1484-7316-3A0A79A0B81F}"/>
              </a:ext>
            </a:extLst>
          </p:cNvPr>
          <p:cNvSpPr>
            <a:spLocks noGrp="1"/>
          </p:cNvSpPr>
          <p:nvPr>
            <p:ph type="title"/>
          </p:nvPr>
        </p:nvSpPr>
        <p:spPr/>
        <p:txBody>
          <a:bodyPr/>
          <a:lstStyle/>
          <a:p>
            <a:r>
              <a:rPr lang="es-ES" dirty="0"/>
              <a:t>CREACIÓN DEL PROYECTO CONSOLA</a:t>
            </a:r>
          </a:p>
        </p:txBody>
      </p:sp>
      <p:sp>
        <p:nvSpPr>
          <p:cNvPr id="3" name="Marcador de contenido 2">
            <a:extLst>
              <a:ext uri="{FF2B5EF4-FFF2-40B4-BE49-F238E27FC236}">
                <a16:creationId xmlns:a16="http://schemas.microsoft.com/office/drawing/2014/main" id="{9CF1548B-0EBC-52CD-150B-78F3392D2BEB}"/>
              </a:ext>
            </a:extLst>
          </p:cNvPr>
          <p:cNvSpPr>
            <a:spLocks noGrp="1"/>
          </p:cNvSpPr>
          <p:nvPr>
            <p:ph idx="1"/>
          </p:nvPr>
        </p:nvSpPr>
        <p:spPr>
          <a:xfrm>
            <a:off x="581192" y="1902964"/>
            <a:ext cx="8589441" cy="883545"/>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Crear un nuevo proyecto java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aplicacion</a:t>
            </a:r>
            <a:r>
              <a:rPr lang="es-ES" sz="1800" dirty="0">
                <a:effectLst/>
                <a:latin typeface="Cambria" panose="02040503050406030204" pitchFamily="18" charset="0"/>
                <a:ea typeface="Calibri" panose="020F0502020204030204" pitchFamily="34" charset="0"/>
                <a:cs typeface="Times New Roman" panose="02020603050405020304" pitchFamily="18" charset="0"/>
              </a:rPr>
              <a:t>,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especificamente</a:t>
            </a:r>
            <a:r>
              <a:rPr lang="es-ES" sz="1800" dirty="0">
                <a:effectLst/>
                <a:latin typeface="Cambria" panose="02040503050406030204" pitchFamily="18" charset="0"/>
                <a:ea typeface="Calibri" panose="020F0502020204030204" pitchFamily="34" charset="0"/>
                <a:cs typeface="Times New Roman" panose="02020603050405020304" pitchFamily="18" charset="0"/>
              </a:rPr>
              <a:t> en este orden, Java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with</a:t>
            </a:r>
            <a:r>
              <a:rPr lang="es-ES" sz="1800" dirty="0">
                <a:effectLst/>
                <a:latin typeface="Cambria" panose="02040503050406030204" pitchFamily="18" charset="0"/>
                <a:ea typeface="Calibri" panose="020F0502020204030204" pitchFamily="34" charset="0"/>
                <a:cs typeface="Times New Roman" panose="02020603050405020304" pitchFamily="18" charset="0"/>
              </a:rPr>
              <a:t>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Ant</a:t>
            </a:r>
            <a:r>
              <a:rPr lang="es-ES" sz="1800" dirty="0">
                <a:effectLst/>
                <a:latin typeface="Cambria" panose="02040503050406030204" pitchFamily="18" charset="0"/>
                <a:ea typeface="Calibri" panose="020F0502020204030204" pitchFamily="34" charset="0"/>
                <a:cs typeface="Times New Roman" panose="02020603050405020304" pitchFamily="18" charset="0"/>
              </a:rPr>
              <a:t> -&gt; Java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Application</a:t>
            </a: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08F3C5F-D89D-9715-7C21-1AB9E3E30A70}"/>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endParaRPr lang="es-ES" sz="1200" b="1" dirty="0">
              <a:solidFill>
                <a:schemeClr val="bg1"/>
              </a:solidFill>
              <a:latin typeface="Gill Sans MT" panose="020B0502020104020203"/>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a:extLst>
              <a:ext uri="{FF2B5EF4-FFF2-40B4-BE49-F238E27FC236}">
                <a16:creationId xmlns:a16="http://schemas.microsoft.com/office/drawing/2014/main" id="{3BA2B2A2-E987-6242-35CA-38A54B6E6E40}"/>
              </a:ext>
            </a:extLst>
          </p:cNvPr>
          <p:cNvPicPr>
            <a:picLocks noChangeAspect="1"/>
          </p:cNvPicPr>
          <p:nvPr/>
        </p:nvPicPr>
        <p:blipFill>
          <a:blip r:embed="rId2"/>
          <a:stretch>
            <a:fillRect/>
          </a:stretch>
        </p:blipFill>
        <p:spPr>
          <a:xfrm>
            <a:off x="228385" y="3311694"/>
            <a:ext cx="4230404" cy="2844150"/>
          </a:xfrm>
          <a:prstGeom prst="rect">
            <a:avLst/>
          </a:prstGeom>
          <a:ln w="88900" cap="sq" cmpd="thickThin">
            <a:solidFill>
              <a:srgbClr val="000000"/>
            </a:solidFill>
            <a:prstDash val="solid"/>
            <a:miter lim="800000"/>
          </a:ln>
          <a:effectLst>
            <a:innerShdw blurRad="76200">
              <a:srgbClr val="000000"/>
            </a:innerShdw>
          </a:effectLst>
        </p:spPr>
      </p:pic>
      <p:pic>
        <p:nvPicPr>
          <p:cNvPr id="8" name="Imagen 7" descr="Interfaz de usuario gráfica, Texto, Aplicación, Correo electrónico&#10;&#10;Descripción generada automáticamente">
            <a:extLst>
              <a:ext uri="{FF2B5EF4-FFF2-40B4-BE49-F238E27FC236}">
                <a16:creationId xmlns:a16="http://schemas.microsoft.com/office/drawing/2014/main" id="{188DDA7A-C38E-AA58-543A-0881D152EA02}"/>
              </a:ext>
            </a:extLst>
          </p:cNvPr>
          <p:cNvPicPr>
            <a:picLocks noChangeAspect="1"/>
          </p:cNvPicPr>
          <p:nvPr/>
        </p:nvPicPr>
        <p:blipFill>
          <a:blip r:embed="rId3"/>
          <a:stretch>
            <a:fillRect/>
          </a:stretch>
        </p:blipFill>
        <p:spPr>
          <a:xfrm>
            <a:off x="4768901" y="3311694"/>
            <a:ext cx="4401732" cy="284415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696559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Creación Web </a:t>
            </a:r>
            <a:r>
              <a:rPr lang="es-ES" dirty="0" err="1"/>
              <a:t>Service</a:t>
            </a:r>
            <a:r>
              <a:rPr lang="es-ES" dirty="0"/>
              <a:t> Client</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729110" y="2170899"/>
            <a:ext cx="3264667" cy="883545"/>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Se crea un cliente de servicio web</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descr="Interfaz de usuario gráfica, Aplicación&#10;&#10;Descripción generada automáticamente">
            <a:extLst>
              <a:ext uri="{FF2B5EF4-FFF2-40B4-BE49-F238E27FC236}">
                <a16:creationId xmlns:a16="http://schemas.microsoft.com/office/drawing/2014/main" id="{361428E5-8F36-6A15-73B3-E819D3477611}"/>
              </a:ext>
            </a:extLst>
          </p:cNvPr>
          <p:cNvPicPr>
            <a:picLocks noChangeAspect="1"/>
          </p:cNvPicPr>
          <p:nvPr/>
        </p:nvPicPr>
        <p:blipFill>
          <a:blip r:embed="rId2"/>
          <a:stretch>
            <a:fillRect/>
          </a:stretch>
        </p:blipFill>
        <p:spPr>
          <a:xfrm>
            <a:off x="4526244" y="2010373"/>
            <a:ext cx="4324985" cy="1204595"/>
          </a:xfrm>
          <a:prstGeom prst="rect">
            <a:avLst/>
          </a:prstGeom>
          <a:ln w="88900" cap="sq" cmpd="thickThin">
            <a:solidFill>
              <a:srgbClr val="000000"/>
            </a:solidFill>
            <a:prstDash val="solid"/>
            <a:miter lim="800000"/>
          </a:ln>
          <a:effectLst>
            <a:innerShdw blurRad="76200">
              <a:srgbClr val="000000"/>
            </a:innerShdw>
          </a:effectLst>
        </p:spPr>
      </p:pic>
      <p:pic>
        <p:nvPicPr>
          <p:cNvPr id="8" name="Imagen 7" descr="Interfaz de usuario gráfica, Texto, Aplicación, Correo electrónico&#10;&#10;Descripción generada automáticamente">
            <a:extLst>
              <a:ext uri="{FF2B5EF4-FFF2-40B4-BE49-F238E27FC236}">
                <a16:creationId xmlns:a16="http://schemas.microsoft.com/office/drawing/2014/main" id="{801336F4-6FD6-6989-73A9-9751982FCE47}"/>
              </a:ext>
            </a:extLst>
          </p:cNvPr>
          <p:cNvPicPr>
            <a:picLocks noChangeAspect="1"/>
          </p:cNvPicPr>
          <p:nvPr/>
        </p:nvPicPr>
        <p:blipFill>
          <a:blip r:embed="rId3"/>
          <a:stretch>
            <a:fillRect/>
          </a:stretch>
        </p:blipFill>
        <p:spPr>
          <a:xfrm>
            <a:off x="468210" y="3683226"/>
            <a:ext cx="4813300" cy="2860040"/>
          </a:xfrm>
          <a:prstGeom prst="rect">
            <a:avLst/>
          </a:prstGeom>
          <a:ln w="88900" cap="sq" cmpd="thickThin">
            <a:solidFill>
              <a:srgbClr val="000000"/>
            </a:solidFill>
            <a:prstDash val="solid"/>
            <a:miter lim="800000"/>
          </a:ln>
          <a:effectLst>
            <a:innerShdw blurRad="76200">
              <a:srgbClr val="000000"/>
            </a:innerShdw>
          </a:effectLst>
        </p:spPr>
      </p:pic>
      <p:pic>
        <p:nvPicPr>
          <p:cNvPr id="9" name="Imagen 8">
            <a:extLst>
              <a:ext uri="{FF2B5EF4-FFF2-40B4-BE49-F238E27FC236}">
                <a16:creationId xmlns:a16="http://schemas.microsoft.com/office/drawing/2014/main" id="{264E97EA-E074-C644-4730-0BB092BF02FC}"/>
              </a:ext>
            </a:extLst>
          </p:cNvPr>
          <p:cNvPicPr>
            <a:picLocks noChangeAspect="1"/>
          </p:cNvPicPr>
          <p:nvPr/>
        </p:nvPicPr>
        <p:blipFill>
          <a:blip r:embed="rId4"/>
          <a:stretch>
            <a:fillRect/>
          </a:stretch>
        </p:blipFill>
        <p:spPr>
          <a:xfrm>
            <a:off x="6203576" y="3565026"/>
            <a:ext cx="2347749" cy="297824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022546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ESTRUCTURA MVC </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4" name="CuadroTexto 3">
            <a:extLst>
              <a:ext uri="{FF2B5EF4-FFF2-40B4-BE49-F238E27FC236}">
                <a16:creationId xmlns:a16="http://schemas.microsoft.com/office/drawing/2014/main" id="{F29D5116-D40F-626B-1D1C-F573D3EE2DEB}"/>
              </a:ext>
            </a:extLst>
          </p:cNvPr>
          <p:cNvSpPr txBox="1"/>
          <p:nvPr/>
        </p:nvSpPr>
        <p:spPr>
          <a:xfrm>
            <a:off x="581192" y="1747992"/>
            <a:ext cx="8295402" cy="670120"/>
          </a:xfrm>
          <a:prstGeom prst="rect">
            <a:avLst/>
          </a:prstGeom>
        </p:spPr>
        <p:txBody>
          <a:bodyPr vert="horz" lIns="91440" tIns="45720" rIns="91440" bIns="45720" rtlCol="0" anchor="ctr">
            <a:normAutofit/>
          </a:bodyPr>
          <a:lstStyle>
            <a:lvl1pPr marL="342900" marR="0" lvl="0" indent="-342900" algn="just" defTabSz="457200">
              <a:lnSpc>
                <a:spcPct val="107000"/>
              </a:lnSpc>
              <a:spcBef>
                <a:spcPts val="0"/>
              </a:spcBef>
              <a:spcAft>
                <a:spcPts val="0"/>
              </a:spcAft>
              <a:buClr>
                <a:schemeClr val="accent2"/>
              </a:buClr>
              <a:buSzPct val="92000"/>
              <a:buFont typeface="Symbol" panose="05050102010706020507" pitchFamily="18" charset="2"/>
              <a:buChar char=""/>
              <a:defRPr>
                <a:solidFill>
                  <a:schemeClr val="tx2"/>
                </a:solidFill>
                <a:effectLst/>
                <a:latin typeface="Cambria" panose="02040503050406030204" pitchFamily="18" charset="0"/>
                <a:ea typeface="Calibri" panose="020F0502020204030204" pitchFamily="34" charset="0"/>
                <a:cs typeface="Times New Roman" panose="02020603050405020304" pitchFamily="18" charset="0"/>
              </a:defRPr>
            </a:lvl1pPr>
            <a:lvl2pPr marL="630000" indent="-306000" defTabSz="457200">
              <a:spcBef>
                <a:spcPct val="20000"/>
              </a:spcBef>
              <a:spcAft>
                <a:spcPts val="600"/>
              </a:spcAft>
              <a:buClr>
                <a:schemeClr val="accent2"/>
              </a:buClr>
              <a:buSzPct val="92000"/>
              <a:buFont typeface="Wingdings 2" panose="05020102010507070707" pitchFamily="18" charset="2"/>
              <a:buChar char=""/>
              <a:defRPr sz="1600">
                <a:solidFill>
                  <a:schemeClr val="tx2"/>
                </a:solidFill>
              </a:defRPr>
            </a:lvl2pPr>
            <a:lvl3pPr marL="900000" indent="-270000" defTabSz="457200">
              <a:spcBef>
                <a:spcPct val="20000"/>
              </a:spcBef>
              <a:spcAft>
                <a:spcPts val="600"/>
              </a:spcAft>
              <a:buClr>
                <a:schemeClr val="accent2"/>
              </a:buClr>
              <a:buSzPct val="92000"/>
              <a:buFont typeface="Wingdings 2" panose="05020102010507070707" pitchFamily="18" charset="2"/>
              <a:buChar char=""/>
              <a:defRPr sz="1400">
                <a:solidFill>
                  <a:schemeClr val="tx2"/>
                </a:solidFill>
              </a:defRPr>
            </a:lvl3pPr>
            <a:lvl4pPr marL="124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4pPr>
            <a:lvl5pPr marL="160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5pPr>
            <a:lvl6pPr marL="19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6pPr>
            <a:lvl7pPr marL="22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7pPr>
            <a:lvl8pPr marL="25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8pPr>
            <a:lvl9pPr marL="28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9pPr>
          </a:lstStyle>
          <a:p>
            <a:r>
              <a:rPr lang="es-EC" dirty="0"/>
              <a:t>Creación del paquete principal, el que contendrá todos los demás paquetes</a:t>
            </a:r>
          </a:p>
        </p:txBody>
      </p:sp>
      <p:pic>
        <p:nvPicPr>
          <p:cNvPr id="6" name="Imagen 5">
            <a:extLst>
              <a:ext uri="{FF2B5EF4-FFF2-40B4-BE49-F238E27FC236}">
                <a16:creationId xmlns:a16="http://schemas.microsoft.com/office/drawing/2014/main" id="{4F193493-4334-F1EF-5C76-12F50464515F}"/>
              </a:ext>
            </a:extLst>
          </p:cNvPr>
          <p:cNvPicPr>
            <a:picLocks noChangeAspect="1"/>
          </p:cNvPicPr>
          <p:nvPr/>
        </p:nvPicPr>
        <p:blipFill>
          <a:blip r:embed="rId2"/>
          <a:stretch>
            <a:fillRect/>
          </a:stretch>
        </p:blipFill>
        <p:spPr>
          <a:xfrm>
            <a:off x="327640" y="2658237"/>
            <a:ext cx="3466373" cy="1815067"/>
          </a:xfrm>
          <a:prstGeom prst="rect">
            <a:avLst/>
          </a:prstGeom>
          <a:ln w="88900" cap="sq" cmpd="thickThin">
            <a:solidFill>
              <a:srgbClr val="000000"/>
            </a:solidFill>
            <a:prstDash val="solid"/>
            <a:miter lim="800000"/>
          </a:ln>
          <a:effectLst>
            <a:innerShdw blurRad="76200">
              <a:srgbClr val="000000"/>
            </a:innerShdw>
          </a:effectLst>
        </p:spPr>
      </p:pic>
      <p:pic>
        <p:nvPicPr>
          <p:cNvPr id="7" name="Imagen 6" descr="Interfaz de usuario gráfica, Texto, Aplicación, Correo electrónico&#10;&#10;Descripción generada automáticamente">
            <a:extLst>
              <a:ext uri="{FF2B5EF4-FFF2-40B4-BE49-F238E27FC236}">
                <a16:creationId xmlns:a16="http://schemas.microsoft.com/office/drawing/2014/main" id="{2C480A35-2B71-73C8-3D76-336CACB4A9F2}"/>
              </a:ext>
            </a:extLst>
          </p:cNvPr>
          <p:cNvPicPr>
            <a:picLocks noChangeAspect="1"/>
          </p:cNvPicPr>
          <p:nvPr/>
        </p:nvPicPr>
        <p:blipFill>
          <a:blip r:embed="rId3"/>
          <a:stretch>
            <a:fillRect/>
          </a:stretch>
        </p:blipFill>
        <p:spPr>
          <a:xfrm>
            <a:off x="4047565" y="2450148"/>
            <a:ext cx="5193427" cy="2156085"/>
          </a:xfrm>
          <a:prstGeom prst="rect">
            <a:avLst/>
          </a:prstGeom>
          <a:ln w="88900" cap="sq" cmpd="thickThin">
            <a:solidFill>
              <a:srgbClr val="000000"/>
            </a:solidFill>
            <a:prstDash val="solid"/>
            <a:miter lim="800000"/>
          </a:ln>
          <a:effectLst>
            <a:innerShdw blurRad="76200">
              <a:srgbClr val="000000"/>
            </a:innerShdw>
          </a:effectLst>
        </p:spPr>
      </p:pic>
      <p:sp>
        <p:nvSpPr>
          <p:cNvPr id="11" name="CuadroTexto 10">
            <a:extLst>
              <a:ext uri="{FF2B5EF4-FFF2-40B4-BE49-F238E27FC236}">
                <a16:creationId xmlns:a16="http://schemas.microsoft.com/office/drawing/2014/main" id="{E9E74538-3F98-3F12-659D-863C6C042A5D}"/>
              </a:ext>
            </a:extLst>
          </p:cNvPr>
          <p:cNvSpPr txBox="1"/>
          <p:nvPr/>
        </p:nvSpPr>
        <p:spPr>
          <a:xfrm>
            <a:off x="581192" y="5548514"/>
            <a:ext cx="6104964" cy="375552"/>
          </a:xfrm>
          <a:prstGeom prst="rect">
            <a:avLst/>
          </a:prstGeom>
        </p:spPr>
        <p:txBody>
          <a:bodyPr vert="horz" lIns="91440" tIns="45720" rIns="91440" bIns="45720" rtlCol="0" anchor="ctr">
            <a:normAutofit/>
          </a:bodyPr>
          <a:lstStyle>
            <a:defPPr>
              <a:defRPr lang="es-ES"/>
            </a:defPPr>
            <a:lvl1pPr marL="342900" marR="0" lvl="0" indent="-342900" algn="just" defTabSz="457200">
              <a:lnSpc>
                <a:spcPct val="107000"/>
              </a:lnSpc>
              <a:spcBef>
                <a:spcPts val="0"/>
              </a:spcBef>
              <a:spcAft>
                <a:spcPts val="0"/>
              </a:spcAft>
              <a:buClr>
                <a:schemeClr val="accent2"/>
              </a:buClr>
              <a:buSzPct val="92000"/>
              <a:buFont typeface="Symbol" panose="05050102010706020507" pitchFamily="18" charset="2"/>
              <a:buChar char=""/>
              <a:defRPr>
                <a:solidFill>
                  <a:schemeClr val="tx2"/>
                </a:solidFill>
                <a:effectLst/>
                <a:latin typeface="Cambria" panose="02040503050406030204" pitchFamily="18" charset="0"/>
                <a:ea typeface="Calibri" panose="020F0502020204030204" pitchFamily="34" charset="0"/>
                <a:cs typeface="Times New Roman" panose="02020603050405020304" pitchFamily="18" charset="0"/>
              </a:defRPr>
            </a:lvl1pPr>
            <a:lvl2pPr marL="630000" indent="-306000" defTabSz="457200">
              <a:spcBef>
                <a:spcPct val="20000"/>
              </a:spcBef>
              <a:spcAft>
                <a:spcPts val="600"/>
              </a:spcAft>
              <a:buClr>
                <a:schemeClr val="accent2"/>
              </a:buClr>
              <a:buSzPct val="92000"/>
              <a:buFont typeface="Wingdings 2" panose="05020102010507070707" pitchFamily="18" charset="2"/>
              <a:buChar char=""/>
              <a:defRPr sz="1600">
                <a:solidFill>
                  <a:schemeClr val="tx2"/>
                </a:solidFill>
              </a:defRPr>
            </a:lvl2pPr>
            <a:lvl3pPr marL="900000" indent="-270000" defTabSz="457200">
              <a:spcBef>
                <a:spcPct val="20000"/>
              </a:spcBef>
              <a:spcAft>
                <a:spcPts val="600"/>
              </a:spcAft>
              <a:buClr>
                <a:schemeClr val="accent2"/>
              </a:buClr>
              <a:buSzPct val="92000"/>
              <a:buFont typeface="Wingdings 2" panose="05020102010507070707" pitchFamily="18" charset="2"/>
              <a:buChar char=""/>
              <a:defRPr sz="1400">
                <a:solidFill>
                  <a:schemeClr val="tx2"/>
                </a:solidFill>
              </a:defRPr>
            </a:lvl3pPr>
            <a:lvl4pPr marL="124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4pPr>
            <a:lvl5pPr marL="160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5pPr>
            <a:lvl6pPr marL="19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6pPr>
            <a:lvl7pPr marL="22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7pPr>
            <a:lvl8pPr marL="25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8pPr>
            <a:lvl9pPr marL="28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9pPr>
          </a:lstStyle>
          <a:p>
            <a:r>
              <a:rPr lang="es-EC" dirty="0"/>
              <a:t>PROYECTO ESTRUCTURADO</a:t>
            </a:r>
          </a:p>
        </p:txBody>
      </p:sp>
      <p:pic>
        <p:nvPicPr>
          <p:cNvPr id="12" name="Imagen 11" descr="Tabla&#10;&#10;Descripción generada automáticamente">
            <a:extLst>
              <a:ext uri="{FF2B5EF4-FFF2-40B4-BE49-F238E27FC236}">
                <a16:creationId xmlns:a16="http://schemas.microsoft.com/office/drawing/2014/main" id="{93D25B1F-AA74-B68B-C60C-73EA3CEA2049}"/>
              </a:ext>
            </a:extLst>
          </p:cNvPr>
          <p:cNvPicPr>
            <a:picLocks noChangeAspect="1"/>
          </p:cNvPicPr>
          <p:nvPr/>
        </p:nvPicPr>
        <p:blipFill>
          <a:blip r:embed="rId4"/>
          <a:stretch>
            <a:fillRect/>
          </a:stretch>
        </p:blipFill>
        <p:spPr>
          <a:xfrm>
            <a:off x="4784008" y="5009447"/>
            <a:ext cx="2186162" cy="145368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460837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CONEXIÓN A BASE DE DATOS</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188259" y="2011371"/>
            <a:ext cx="8982374" cy="1526036"/>
          </a:xfrm>
        </p:spPr>
        <p:txBody>
          <a:bodyPr>
            <a:normAutofit fontScale="92500" lnSpcReduction="20000"/>
          </a:bodyPr>
          <a:lstStyle/>
          <a:p>
            <a:pPr marL="342900" marR="0" lvl="0" indent="-342900" algn="just">
              <a:lnSpc>
                <a:spcPct val="107000"/>
              </a:lnSpc>
              <a:spcBef>
                <a:spcPts val="0"/>
              </a:spcBef>
              <a:spcAft>
                <a:spcPts val="0"/>
              </a:spcAft>
              <a:buFont typeface="Symbol" panose="05050102010706020507" pitchFamily="18" charset="2"/>
              <a:buChar char=""/>
            </a:pPr>
            <a:r>
              <a:rPr lang="es-ES" dirty="0">
                <a:latin typeface="Cambria" panose="02040503050406030204" pitchFamily="18" charset="0"/>
                <a:ea typeface="Calibri" panose="020F0502020204030204" pitchFamily="34" charset="0"/>
                <a:cs typeface="Times New Roman" panose="02020603050405020304" pitchFamily="18" charset="0"/>
              </a:rPr>
              <a:t>Una vez creado los paquetes necesarios, se procede a crear la conexión a la base de datos de la siguiente manera.</a:t>
            </a:r>
          </a:p>
          <a:p>
            <a:pPr marL="342900" marR="0" lvl="0" indent="-342900" algn="just">
              <a:lnSpc>
                <a:spcPct val="107000"/>
              </a:lnSpc>
              <a:spcBef>
                <a:spcPts val="0"/>
              </a:spcBef>
              <a:spcAft>
                <a:spcPts val="0"/>
              </a:spcAft>
              <a:buFont typeface="Symbol" panose="05050102010706020507" pitchFamily="18" charset="2"/>
              <a:buChar char=""/>
            </a:pPr>
            <a:r>
              <a:rPr lang="es-ES" dirty="0">
                <a:latin typeface="Cambria" panose="02040503050406030204" pitchFamily="18" charset="0"/>
                <a:ea typeface="Calibri" panose="020F0502020204030204" pitchFamily="34" charset="0"/>
                <a:cs typeface="Times New Roman" panose="02020603050405020304" pitchFamily="18" charset="0"/>
              </a:rPr>
              <a:t>Primero, se selecciona el paquete </a:t>
            </a:r>
            <a:r>
              <a:rPr lang="es-ES" dirty="0" err="1">
                <a:latin typeface="Cambria" panose="02040503050406030204" pitchFamily="18" charset="0"/>
                <a:ea typeface="Calibri" panose="020F0502020204030204" pitchFamily="34" charset="0"/>
                <a:cs typeface="Times New Roman" panose="02020603050405020304" pitchFamily="18" charset="0"/>
              </a:rPr>
              <a:t>db</a:t>
            </a:r>
            <a:r>
              <a:rPr lang="es-ES" dirty="0">
                <a:latin typeface="Cambria" panose="02040503050406030204" pitchFamily="18" charset="0"/>
                <a:ea typeface="Calibri" panose="020F0502020204030204" pitchFamily="34" charset="0"/>
                <a:cs typeface="Times New Roman" panose="02020603050405020304" pitchFamily="18" charset="0"/>
              </a:rPr>
              <a:t> para luego dar clic derecho sobre el mismo y seleccionar New &gt; Java </a:t>
            </a:r>
            <a:r>
              <a:rPr lang="es-ES" dirty="0" err="1">
                <a:latin typeface="Cambria" panose="02040503050406030204" pitchFamily="18" charset="0"/>
                <a:ea typeface="Calibri" panose="020F0502020204030204" pitchFamily="34" charset="0"/>
                <a:cs typeface="Times New Roman" panose="02020603050405020304" pitchFamily="18" charset="0"/>
              </a:rPr>
              <a:t>Class</a:t>
            </a:r>
            <a:r>
              <a:rPr lang="es-ES" dirty="0">
                <a:latin typeface="Cambria" panose="02040503050406030204" pitchFamily="18" charset="0"/>
                <a:ea typeface="Calibri" panose="020F0502020204030204" pitchFamily="34" charset="0"/>
                <a:cs typeface="Times New Roman" panose="02020603050405020304" pitchFamily="18" charset="0"/>
              </a:rPr>
              <a:t>.</a:t>
            </a:r>
          </a:p>
          <a:p>
            <a:pPr marL="342900" marR="0" lvl="0" indent="-342900" algn="just">
              <a:lnSpc>
                <a:spcPct val="107000"/>
              </a:lnSpc>
              <a:spcBef>
                <a:spcPts val="0"/>
              </a:spcBef>
              <a:spcAft>
                <a:spcPts val="0"/>
              </a:spcAft>
              <a:buFont typeface="Symbol" panose="05050102010706020507" pitchFamily="18" charset="2"/>
              <a:buChar char=""/>
            </a:pPr>
            <a:r>
              <a:rPr lang="es-ES" dirty="0">
                <a:latin typeface="Cambria" panose="02040503050406030204" pitchFamily="18" charset="0"/>
                <a:ea typeface="Calibri" panose="020F0502020204030204" pitchFamily="34" charset="0"/>
                <a:cs typeface="Times New Roman" panose="02020603050405020304" pitchFamily="18" charset="0"/>
              </a:rPr>
              <a:t>Dentro del menú de configuración de la nueva clase se coloca el nombre de </a:t>
            </a:r>
            <a:r>
              <a:rPr lang="es-ES" dirty="0" err="1">
                <a:latin typeface="Cambria" panose="02040503050406030204" pitchFamily="18" charset="0"/>
                <a:ea typeface="Calibri" panose="020F0502020204030204" pitchFamily="34" charset="0"/>
                <a:cs typeface="Times New Roman" panose="02020603050405020304" pitchFamily="18" charset="0"/>
              </a:rPr>
              <a:t>AccesoDB</a:t>
            </a:r>
            <a:r>
              <a:rPr lang="es-ES" dirty="0">
                <a:latin typeface="Cambria" panose="02040503050406030204" pitchFamily="18" charset="0"/>
                <a:ea typeface="Calibri" panose="020F0502020204030204" pitchFamily="34" charset="0"/>
                <a:cs typeface="Times New Roman" panose="02020603050405020304" pitchFamily="18" charset="0"/>
              </a:rPr>
              <a:t> para luego finalizar la creación.</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a:extLst>
              <a:ext uri="{FF2B5EF4-FFF2-40B4-BE49-F238E27FC236}">
                <a16:creationId xmlns:a16="http://schemas.microsoft.com/office/drawing/2014/main" id="{9EF62AAF-F593-E22A-8EEF-308A991494F2}"/>
              </a:ext>
            </a:extLst>
          </p:cNvPr>
          <p:cNvPicPr>
            <a:picLocks noChangeAspect="1"/>
          </p:cNvPicPr>
          <p:nvPr/>
        </p:nvPicPr>
        <p:blipFill>
          <a:blip r:embed="rId2"/>
          <a:stretch>
            <a:fillRect/>
          </a:stretch>
        </p:blipFill>
        <p:spPr>
          <a:xfrm>
            <a:off x="3273942" y="3769559"/>
            <a:ext cx="3059623" cy="661540"/>
          </a:xfrm>
          <a:prstGeom prst="rect">
            <a:avLst/>
          </a:prstGeom>
          <a:ln w="88900" cap="sq" cmpd="thickThin">
            <a:solidFill>
              <a:srgbClr val="000000"/>
            </a:solidFill>
            <a:prstDash val="solid"/>
            <a:miter lim="800000"/>
          </a:ln>
          <a:effectLst>
            <a:innerShdw blurRad="76200">
              <a:srgbClr val="000000"/>
            </a:innerShdw>
          </a:effectLst>
        </p:spPr>
      </p:pic>
      <p:sp>
        <p:nvSpPr>
          <p:cNvPr id="8" name="CuadroTexto 7">
            <a:extLst>
              <a:ext uri="{FF2B5EF4-FFF2-40B4-BE49-F238E27FC236}">
                <a16:creationId xmlns:a16="http://schemas.microsoft.com/office/drawing/2014/main" id="{0B0F094B-58BD-8CC3-F2A3-C5817D956DCF}"/>
              </a:ext>
            </a:extLst>
          </p:cNvPr>
          <p:cNvSpPr txBox="1"/>
          <p:nvPr/>
        </p:nvSpPr>
        <p:spPr>
          <a:xfrm>
            <a:off x="188259" y="4794643"/>
            <a:ext cx="8982374" cy="559230"/>
          </a:xfrm>
          <a:prstGeom prst="rect">
            <a:avLst/>
          </a:prstGeom>
        </p:spPr>
        <p:txBody>
          <a:bodyPr vert="horz" lIns="91440" tIns="45720" rIns="91440" bIns="45720" rtlCol="0" anchor="ctr">
            <a:normAutofit fontScale="92500" lnSpcReduction="20000"/>
          </a:bodyPr>
          <a:lstStyle>
            <a:lvl1pPr marL="342900" marR="0" lvl="0" indent="-342900" algn="just" defTabSz="457200">
              <a:lnSpc>
                <a:spcPct val="107000"/>
              </a:lnSpc>
              <a:spcBef>
                <a:spcPts val="0"/>
              </a:spcBef>
              <a:spcAft>
                <a:spcPts val="0"/>
              </a:spcAft>
              <a:buClr>
                <a:schemeClr val="accent2"/>
              </a:buClr>
              <a:buSzPct val="92000"/>
              <a:buFont typeface="Symbol" panose="05050102010706020507" pitchFamily="18" charset="2"/>
              <a:buChar char=""/>
              <a:defRPr>
                <a:solidFill>
                  <a:schemeClr val="tx2"/>
                </a:solidFill>
                <a:latin typeface="Cambria" panose="02040503050406030204" pitchFamily="18" charset="0"/>
                <a:ea typeface="Calibri" panose="020F0502020204030204" pitchFamily="34" charset="0"/>
                <a:cs typeface="Times New Roman" panose="02020603050405020304" pitchFamily="18" charset="0"/>
              </a:defRPr>
            </a:lvl1pPr>
            <a:lvl2pPr marL="630000" indent="-306000" defTabSz="457200">
              <a:spcBef>
                <a:spcPct val="20000"/>
              </a:spcBef>
              <a:spcAft>
                <a:spcPts val="600"/>
              </a:spcAft>
              <a:buClr>
                <a:schemeClr val="accent2"/>
              </a:buClr>
              <a:buSzPct val="92000"/>
              <a:buFont typeface="Wingdings 2" panose="05020102010507070707" pitchFamily="18" charset="2"/>
              <a:buChar char=""/>
              <a:defRPr sz="1600">
                <a:solidFill>
                  <a:schemeClr val="tx2"/>
                </a:solidFill>
              </a:defRPr>
            </a:lvl2pPr>
            <a:lvl3pPr marL="900000" indent="-270000" defTabSz="457200">
              <a:spcBef>
                <a:spcPct val="20000"/>
              </a:spcBef>
              <a:spcAft>
                <a:spcPts val="600"/>
              </a:spcAft>
              <a:buClr>
                <a:schemeClr val="accent2"/>
              </a:buClr>
              <a:buSzPct val="92000"/>
              <a:buFont typeface="Wingdings 2" panose="05020102010507070707" pitchFamily="18" charset="2"/>
              <a:buChar char=""/>
              <a:defRPr sz="1400">
                <a:solidFill>
                  <a:schemeClr val="tx2"/>
                </a:solidFill>
              </a:defRPr>
            </a:lvl3pPr>
            <a:lvl4pPr marL="124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4pPr>
            <a:lvl5pPr marL="160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5pPr>
            <a:lvl6pPr marL="19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6pPr>
            <a:lvl7pPr marL="22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7pPr>
            <a:lvl8pPr marL="25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8pPr>
            <a:lvl9pPr marL="28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9pPr>
          </a:lstStyle>
          <a:p>
            <a:r>
              <a:rPr lang="es-EC" dirty="0"/>
              <a:t>A continuación, se procede a crear una nueva clase en el paquete de pruebas que se llama </a:t>
            </a:r>
            <a:r>
              <a:rPr lang="es-EC" dirty="0" err="1"/>
              <a:t>PruebaConexionBD</a:t>
            </a:r>
            <a:r>
              <a:rPr lang="es-EC" dirty="0"/>
              <a:t>.</a:t>
            </a:r>
          </a:p>
        </p:txBody>
      </p:sp>
      <p:pic>
        <p:nvPicPr>
          <p:cNvPr id="9" name="Imagen 8">
            <a:extLst>
              <a:ext uri="{FF2B5EF4-FFF2-40B4-BE49-F238E27FC236}">
                <a16:creationId xmlns:a16="http://schemas.microsoft.com/office/drawing/2014/main" id="{1167117B-F2EE-3F15-982B-7FD582B6D02C}"/>
              </a:ext>
            </a:extLst>
          </p:cNvPr>
          <p:cNvPicPr>
            <a:picLocks noChangeAspect="1"/>
          </p:cNvPicPr>
          <p:nvPr/>
        </p:nvPicPr>
        <p:blipFill>
          <a:blip r:embed="rId3"/>
          <a:stretch>
            <a:fillRect/>
          </a:stretch>
        </p:blipFill>
        <p:spPr>
          <a:xfrm>
            <a:off x="3273942" y="5591897"/>
            <a:ext cx="3094832" cy="56394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967702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CODIFICACIÓN DE CLASES</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902964"/>
            <a:ext cx="8589441" cy="883545"/>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dirty="0">
                <a:latin typeface="Cambria" panose="02040503050406030204" pitchFamily="18" charset="0"/>
                <a:ea typeface="Calibri" panose="020F0502020204030204" pitchFamily="34" charset="0"/>
                <a:cs typeface="Times New Roman" panose="02020603050405020304" pitchFamily="18" charset="0"/>
              </a:rPr>
              <a:t>Habiendo obtenido la conexión se crea una nueva clase dentro del paquete modelo llamada Movimiento.</a:t>
            </a: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a:extLst>
              <a:ext uri="{FF2B5EF4-FFF2-40B4-BE49-F238E27FC236}">
                <a16:creationId xmlns:a16="http://schemas.microsoft.com/office/drawing/2014/main" id="{4A217817-FB8B-A65D-FC1E-DBFC2E0E0D39}"/>
              </a:ext>
            </a:extLst>
          </p:cNvPr>
          <p:cNvPicPr>
            <a:picLocks noChangeAspect="1"/>
          </p:cNvPicPr>
          <p:nvPr/>
        </p:nvPicPr>
        <p:blipFill>
          <a:blip r:embed="rId2"/>
          <a:stretch>
            <a:fillRect/>
          </a:stretch>
        </p:blipFill>
        <p:spPr>
          <a:xfrm>
            <a:off x="3110752" y="2900646"/>
            <a:ext cx="3370729" cy="684679"/>
          </a:xfrm>
          <a:prstGeom prst="rect">
            <a:avLst/>
          </a:prstGeom>
          <a:ln w="88900" cap="sq" cmpd="thickThin">
            <a:solidFill>
              <a:srgbClr val="000000"/>
            </a:solidFill>
            <a:prstDash val="solid"/>
            <a:miter lim="800000"/>
          </a:ln>
          <a:effectLst>
            <a:innerShdw blurRad="76200">
              <a:srgbClr val="000000"/>
            </a:innerShdw>
          </a:effectLst>
        </p:spPr>
      </p:pic>
      <p:sp>
        <p:nvSpPr>
          <p:cNvPr id="9" name="CuadroTexto 8">
            <a:extLst>
              <a:ext uri="{FF2B5EF4-FFF2-40B4-BE49-F238E27FC236}">
                <a16:creationId xmlns:a16="http://schemas.microsoft.com/office/drawing/2014/main" id="{C8AD15A3-F606-E33C-155A-920B446E5D0C}"/>
              </a:ext>
            </a:extLst>
          </p:cNvPr>
          <p:cNvSpPr txBox="1"/>
          <p:nvPr/>
        </p:nvSpPr>
        <p:spPr>
          <a:xfrm>
            <a:off x="497637" y="4071492"/>
            <a:ext cx="8672996" cy="968278"/>
          </a:xfrm>
          <a:prstGeom prst="rect">
            <a:avLst/>
          </a:prstGeom>
        </p:spPr>
        <p:txBody>
          <a:bodyPr vert="horz" lIns="91440" tIns="45720" rIns="91440" bIns="45720" rtlCol="0" anchor="ctr">
            <a:normAutofit/>
          </a:bodyPr>
          <a:lstStyle>
            <a:lvl1pPr marL="342900" marR="0" lvl="0" indent="-342900" algn="just" defTabSz="457200">
              <a:lnSpc>
                <a:spcPct val="107000"/>
              </a:lnSpc>
              <a:spcBef>
                <a:spcPts val="0"/>
              </a:spcBef>
              <a:spcAft>
                <a:spcPts val="0"/>
              </a:spcAft>
              <a:buClr>
                <a:schemeClr val="accent2"/>
              </a:buClr>
              <a:buSzPct val="92000"/>
              <a:buFont typeface="Symbol" panose="05050102010706020507" pitchFamily="18" charset="2"/>
              <a:buChar char=""/>
              <a:defRPr>
                <a:solidFill>
                  <a:schemeClr val="tx2"/>
                </a:solidFill>
                <a:latin typeface="Cambria" panose="02040503050406030204" pitchFamily="18" charset="0"/>
                <a:ea typeface="Calibri" panose="020F0502020204030204" pitchFamily="34" charset="0"/>
                <a:cs typeface="Times New Roman" panose="02020603050405020304" pitchFamily="18" charset="0"/>
              </a:defRPr>
            </a:lvl1pPr>
            <a:lvl2pPr marL="630000" indent="-306000" defTabSz="457200">
              <a:spcBef>
                <a:spcPct val="20000"/>
              </a:spcBef>
              <a:spcAft>
                <a:spcPts val="600"/>
              </a:spcAft>
              <a:buClr>
                <a:schemeClr val="accent2"/>
              </a:buClr>
              <a:buSzPct val="92000"/>
              <a:buFont typeface="Wingdings 2" panose="05020102010507070707" pitchFamily="18" charset="2"/>
              <a:buChar char=""/>
              <a:defRPr sz="1600">
                <a:solidFill>
                  <a:schemeClr val="tx2"/>
                </a:solidFill>
              </a:defRPr>
            </a:lvl2pPr>
            <a:lvl3pPr marL="900000" indent="-270000" defTabSz="457200">
              <a:spcBef>
                <a:spcPct val="20000"/>
              </a:spcBef>
              <a:spcAft>
                <a:spcPts val="600"/>
              </a:spcAft>
              <a:buClr>
                <a:schemeClr val="accent2"/>
              </a:buClr>
              <a:buSzPct val="92000"/>
              <a:buFont typeface="Wingdings 2" panose="05020102010507070707" pitchFamily="18" charset="2"/>
              <a:buChar char=""/>
              <a:defRPr sz="1400">
                <a:solidFill>
                  <a:schemeClr val="tx2"/>
                </a:solidFill>
              </a:defRPr>
            </a:lvl3pPr>
            <a:lvl4pPr marL="124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4pPr>
            <a:lvl5pPr marL="160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5pPr>
            <a:lvl6pPr marL="19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6pPr>
            <a:lvl7pPr marL="22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7pPr>
            <a:lvl8pPr marL="25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8pPr>
            <a:lvl9pPr marL="28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9pPr>
          </a:lstStyle>
          <a:p>
            <a:r>
              <a:rPr lang="es-EC" dirty="0"/>
              <a:t>Se procede a implementar los servicios, para ello se crea una nueva clase llamada </a:t>
            </a:r>
            <a:r>
              <a:rPr lang="es-EC" dirty="0" err="1"/>
              <a:t>EurekaService</a:t>
            </a:r>
            <a:r>
              <a:rPr lang="es-EC" dirty="0"/>
              <a:t> dentro del paquete servicio. </a:t>
            </a:r>
          </a:p>
        </p:txBody>
      </p:sp>
      <p:pic>
        <p:nvPicPr>
          <p:cNvPr id="10" name="Imagen 9">
            <a:extLst>
              <a:ext uri="{FF2B5EF4-FFF2-40B4-BE49-F238E27FC236}">
                <a16:creationId xmlns:a16="http://schemas.microsoft.com/office/drawing/2014/main" id="{5218DA48-6F21-06A9-6F56-C3BD52E187E9}"/>
              </a:ext>
            </a:extLst>
          </p:cNvPr>
          <p:cNvPicPr>
            <a:picLocks noChangeAspect="1"/>
          </p:cNvPicPr>
          <p:nvPr/>
        </p:nvPicPr>
        <p:blipFill>
          <a:blip r:embed="rId3"/>
          <a:stretch>
            <a:fillRect/>
          </a:stretch>
        </p:blipFill>
        <p:spPr>
          <a:xfrm>
            <a:off x="3110752" y="5306937"/>
            <a:ext cx="3370729" cy="80338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44665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CREACIÓN DEL CONTROLADOR y la VISTA</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902964"/>
            <a:ext cx="8589441" cy="883545"/>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dirty="0">
                <a:latin typeface="Cambria" panose="02040503050406030204" pitchFamily="18" charset="0"/>
                <a:ea typeface="Calibri" panose="020F0502020204030204" pitchFamily="34" charset="0"/>
                <a:cs typeface="Times New Roman" panose="02020603050405020304" pitchFamily="18" charset="0"/>
              </a:rPr>
              <a:t>Para crear el controlador, es necesario crear un paquete y crear una nueva clase llamada </a:t>
            </a:r>
            <a:r>
              <a:rPr lang="es-ES" dirty="0" err="1">
                <a:latin typeface="Cambria" panose="02040503050406030204" pitchFamily="18" charset="0"/>
                <a:ea typeface="Calibri" panose="020F0502020204030204" pitchFamily="34" charset="0"/>
                <a:cs typeface="Times New Roman" panose="02020603050405020304" pitchFamily="18" charset="0"/>
              </a:rPr>
              <a:t>EurekaController</a:t>
            </a:r>
            <a:r>
              <a:rPr lang="es-ES" dirty="0">
                <a:latin typeface="Cambria" panose="02040503050406030204" pitchFamily="18" charset="0"/>
                <a:ea typeface="Calibri" panose="020F0502020204030204" pitchFamily="34" charset="0"/>
                <a:cs typeface="Times New Roman" panose="02020603050405020304" pitchFamily="18" charset="0"/>
              </a:rPr>
              <a:t> </a:t>
            </a: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a:extLst>
              <a:ext uri="{FF2B5EF4-FFF2-40B4-BE49-F238E27FC236}">
                <a16:creationId xmlns:a16="http://schemas.microsoft.com/office/drawing/2014/main" id="{5C0951AC-885D-1974-DB15-E59A6B7419C1}"/>
              </a:ext>
            </a:extLst>
          </p:cNvPr>
          <p:cNvPicPr>
            <a:picLocks noChangeAspect="1"/>
          </p:cNvPicPr>
          <p:nvPr/>
        </p:nvPicPr>
        <p:blipFill>
          <a:blip r:embed="rId2"/>
          <a:stretch>
            <a:fillRect/>
          </a:stretch>
        </p:blipFill>
        <p:spPr>
          <a:xfrm>
            <a:off x="2906805" y="3002655"/>
            <a:ext cx="3719513" cy="628650"/>
          </a:xfrm>
          <a:prstGeom prst="rect">
            <a:avLst/>
          </a:prstGeom>
          <a:ln w="88900" cap="sq" cmpd="thickThin">
            <a:solidFill>
              <a:srgbClr val="000000"/>
            </a:solidFill>
            <a:prstDash val="solid"/>
            <a:miter lim="800000"/>
          </a:ln>
          <a:effectLst>
            <a:innerShdw blurRad="76200">
              <a:srgbClr val="000000"/>
            </a:innerShdw>
          </a:effectLst>
        </p:spPr>
      </p:pic>
      <p:sp>
        <p:nvSpPr>
          <p:cNvPr id="9" name="CuadroTexto 8">
            <a:extLst>
              <a:ext uri="{FF2B5EF4-FFF2-40B4-BE49-F238E27FC236}">
                <a16:creationId xmlns:a16="http://schemas.microsoft.com/office/drawing/2014/main" id="{EC10846E-C353-13E7-B35F-446FB2FCF964}"/>
              </a:ext>
            </a:extLst>
          </p:cNvPr>
          <p:cNvSpPr txBox="1"/>
          <p:nvPr/>
        </p:nvSpPr>
        <p:spPr>
          <a:xfrm>
            <a:off x="521353" y="4071492"/>
            <a:ext cx="8649279" cy="1264642"/>
          </a:xfrm>
          <a:prstGeom prst="rect">
            <a:avLst/>
          </a:prstGeom>
        </p:spPr>
        <p:txBody>
          <a:bodyPr vert="horz" lIns="91440" tIns="45720" rIns="91440" bIns="45720" rtlCol="0" anchor="ctr">
            <a:normAutofit/>
          </a:bodyPr>
          <a:lstStyle>
            <a:lvl1pPr marL="342900" marR="0" lvl="0" indent="-342900" algn="just" defTabSz="457200">
              <a:lnSpc>
                <a:spcPct val="107000"/>
              </a:lnSpc>
              <a:spcBef>
                <a:spcPts val="0"/>
              </a:spcBef>
              <a:spcAft>
                <a:spcPts val="0"/>
              </a:spcAft>
              <a:buClr>
                <a:schemeClr val="accent2"/>
              </a:buClr>
              <a:buSzPct val="92000"/>
              <a:buFont typeface="Symbol" panose="05050102010706020507" pitchFamily="18" charset="2"/>
              <a:buChar char=""/>
              <a:defRPr>
                <a:solidFill>
                  <a:schemeClr val="tx2"/>
                </a:solidFill>
                <a:latin typeface="Cambria" panose="02040503050406030204" pitchFamily="18" charset="0"/>
                <a:ea typeface="Calibri" panose="020F0502020204030204" pitchFamily="34" charset="0"/>
                <a:cs typeface="Times New Roman" panose="02020603050405020304" pitchFamily="18" charset="0"/>
              </a:defRPr>
            </a:lvl1pPr>
            <a:lvl2pPr marL="630000" indent="-306000" defTabSz="457200">
              <a:spcBef>
                <a:spcPct val="20000"/>
              </a:spcBef>
              <a:spcAft>
                <a:spcPts val="600"/>
              </a:spcAft>
              <a:buClr>
                <a:schemeClr val="accent2"/>
              </a:buClr>
              <a:buSzPct val="92000"/>
              <a:buFont typeface="Wingdings 2" panose="05020102010507070707" pitchFamily="18" charset="2"/>
              <a:buChar char=""/>
              <a:defRPr sz="1600">
                <a:solidFill>
                  <a:schemeClr val="tx2"/>
                </a:solidFill>
              </a:defRPr>
            </a:lvl2pPr>
            <a:lvl3pPr marL="900000" indent="-270000" defTabSz="457200">
              <a:spcBef>
                <a:spcPct val="20000"/>
              </a:spcBef>
              <a:spcAft>
                <a:spcPts val="600"/>
              </a:spcAft>
              <a:buClr>
                <a:schemeClr val="accent2"/>
              </a:buClr>
              <a:buSzPct val="92000"/>
              <a:buFont typeface="Wingdings 2" panose="05020102010507070707" pitchFamily="18" charset="2"/>
              <a:buChar char=""/>
              <a:defRPr sz="1400">
                <a:solidFill>
                  <a:schemeClr val="tx2"/>
                </a:solidFill>
              </a:defRPr>
            </a:lvl3pPr>
            <a:lvl4pPr marL="124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4pPr>
            <a:lvl5pPr marL="160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5pPr>
            <a:lvl6pPr marL="19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6pPr>
            <a:lvl7pPr marL="22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7pPr>
            <a:lvl8pPr marL="25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8pPr>
            <a:lvl9pPr marL="28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9pPr>
          </a:lstStyle>
          <a:p>
            <a:r>
              <a:rPr lang="es-EC" dirty="0"/>
              <a:t>Al tratarse de una aplicación de consola, se facilitan las tareas al momento de únicamente compilar en consola, para ello  se debe dirigir a WSEurekaClient.java el cual debió crearse cuando se inicia el proyecto.</a:t>
            </a:r>
          </a:p>
        </p:txBody>
      </p:sp>
      <p:pic>
        <p:nvPicPr>
          <p:cNvPr id="10" name="Imagen 9">
            <a:extLst>
              <a:ext uri="{FF2B5EF4-FFF2-40B4-BE49-F238E27FC236}">
                <a16:creationId xmlns:a16="http://schemas.microsoft.com/office/drawing/2014/main" id="{2B0EDD23-433A-1695-B085-6FBAC024CDE3}"/>
              </a:ext>
            </a:extLst>
          </p:cNvPr>
          <p:cNvPicPr>
            <a:picLocks noChangeAspect="1"/>
          </p:cNvPicPr>
          <p:nvPr/>
        </p:nvPicPr>
        <p:blipFill>
          <a:blip r:embed="rId3"/>
          <a:stretch>
            <a:fillRect/>
          </a:stretch>
        </p:blipFill>
        <p:spPr>
          <a:xfrm>
            <a:off x="3171963" y="5681492"/>
            <a:ext cx="3189195" cy="61069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655309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EJECUCIÓN</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336716" y="1870471"/>
            <a:ext cx="8654883" cy="883545"/>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dirty="0">
                <a:latin typeface="Cambria" panose="02040503050406030204" pitchFamily="18" charset="0"/>
                <a:ea typeface="Calibri" panose="020F0502020204030204" pitchFamily="34" charset="0"/>
                <a:cs typeface="Times New Roman" panose="02020603050405020304" pitchFamily="18" charset="0"/>
              </a:rPr>
              <a:t>Para realizar la ejecución, se debe tener desplegado el servidor, como siguiente paso es necesario en la aplicación cliente y dar clic en run </a:t>
            </a: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descr="Interfaz de usuario gráfica, Aplicación&#10;&#10;Descripción generada automáticamente">
            <a:extLst>
              <a:ext uri="{FF2B5EF4-FFF2-40B4-BE49-F238E27FC236}">
                <a16:creationId xmlns:a16="http://schemas.microsoft.com/office/drawing/2014/main" id="{6381D986-5595-8830-346B-4B706BFFB9C3}"/>
              </a:ext>
            </a:extLst>
          </p:cNvPr>
          <p:cNvPicPr>
            <a:picLocks noChangeAspect="1"/>
          </p:cNvPicPr>
          <p:nvPr/>
        </p:nvPicPr>
        <p:blipFill>
          <a:blip r:embed="rId2"/>
          <a:stretch>
            <a:fillRect/>
          </a:stretch>
        </p:blipFill>
        <p:spPr>
          <a:xfrm>
            <a:off x="3381375" y="2972638"/>
            <a:ext cx="2714625" cy="904875"/>
          </a:xfrm>
          <a:prstGeom prst="rect">
            <a:avLst/>
          </a:prstGeom>
          <a:ln w="88900" cap="sq" cmpd="thickThin">
            <a:solidFill>
              <a:srgbClr val="000000"/>
            </a:solidFill>
            <a:prstDash val="solid"/>
            <a:miter lim="800000"/>
          </a:ln>
          <a:effectLst>
            <a:innerShdw blurRad="76200">
              <a:srgbClr val="000000"/>
            </a:innerShdw>
          </a:effectLst>
        </p:spPr>
      </p:pic>
      <p:pic>
        <p:nvPicPr>
          <p:cNvPr id="8" name="Imagen 7" descr="Imagen que contiene Interfaz de usuario gráfica&#10;&#10;El contenido generado por IA puede ser incorrecto.">
            <a:extLst>
              <a:ext uri="{FF2B5EF4-FFF2-40B4-BE49-F238E27FC236}">
                <a16:creationId xmlns:a16="http://schemas.microsoft.com/office/drawing/2014/main" id="{6A46E082-32EF-A43F-0E0E-EBD893EB763D}"/>
              </a:ext>
            </a:extLst>
          </p:cNvPr>
          <p:cNvPicPr>
            <a:picLocks noChangeAspect="1"/>
          </p:cNvPicPr>
          <p:nvPr/>
        </p:nvPicPr>
        <p:blipFill>
          <a:blip r:embed="rId3"/>
          <a:stretch>
            <a:fillRect/>
          </a:stretch>
        </p:blipFill>
        <p:spPr>
          <a:xfrm>
            <a:off x="2779517" y="4209023"/>
            <a:ext cx="4022035" cy="2129999"/>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41034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7E0F8-A425-8103-4641-5C3ECBE7B4C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A9F982-53D3-4923-59C5-D56EA606C7BE}"/>
              </a:ext>
            </a:extLst>
          </p:cNvPr>
          <p:cNvSpPr>
            <a:spLocks noGrp="1"/>
          </p:cNvSpPr>
          <p:nvPr>
            <p:ph type="title"/>
          </p:nvPr>
        </p:nvSpPr>
        <p:spPr/>
        <p:txBody>
          <a:bodyPr/>
          <a:lstStyle/>
          <a:p>
            <a:r>
              <a:rPr lang="es-ES" dirty="0"/>
              <a:t>EJECUCIÓN</a:t>
            </a:r>
          </a:p>
        </p:txBody>
      </p:sp>
      <p:sp>
        <p:nvSpPr>
          <p:cNvPr id="3" name="Marcador de contenido 2">
            <a:extLst>
              <a:ext uri="{FF2B5EF4-FFF2-40B4-BE49-F238E27FC236}">
                <a16:creationId xmlns:a16="http://schemas.microsoft.com/office/drawing/2014/main" id="{26915488-F666-4869-9041-51013B5213DC}"/>
              </a:ext>
            </a:extLst>
          </p:cNvPr>
          <p:cNvSpPr>
            <a:spLocks noGrp="1"/>
          </p:cNvSpPr>
          <p:nvPr>
            <p:ph idx="1"/>
          </p:nvPr>
        </p:nvSpPr>
        <p:spPr>
          <a:xfrm>
            <a:off x="296375" y="2426150"/>
            <a:ext cx="3431276" cy="2499823"/>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dirty="0">
                <a:latin typeface="Cambria" panose="02040503050406030204" pitchFamily="18" charset="0"/>
                <a:ea typeface="Calibri" panose="020F0502020204030204" pitchFamily="34" charset="0"/>
                <a:cs typeface="Times New Roman" panose="02020603050405020304" pitchFamily="18" charset="0"/>
              </a:rPr>
              <a:t>Para realizar la ejecución, se debe tener desplegado el servidor, como siguiente paso es necesario en la aplicación cliente y dar clic en run </a:t>
            </a: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56610C62-3043-8F71-7B4D-6ACA7A21957C}"/>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descr="Tabla&#10;&#10;Descripción generada automáticamente con confianza media">
            <a:extLst>
              <a:ext uri="{FF2B5EF4-FFF2-40B4-BE49-F238E27FC236}">
                <a16:creationId xmlns:a16="http://schemas.microsoft.com/office/drawing/2014/main" id="{566639FE-7E90-EADD-49D5-0110B79432AF}"/>
              </a:ext>
            </a:extLst>
          </p:cNvPr>
          <p:cNvPicPr>
            <a:picLocks noChangeAspect="1"/>
          </p:cNvPicPr>
          <p:nvPr/>
        </p:nvPicPr>
        <p:blipFill>
          <a:blip r:embed="rId2"/>
          <a:stretch>
            <a:fillRect/>
          </a:stretch>
        </p:blipFill>
        <p:spPr>
          <a:xfrm>
            <a:off x="4189198" y="2071053"/>
            <a:ext cx="4637908" cy="2499823"/>
          </a:xfrm>
          <a:prstGeom prst="rect">
            <a:avLst/>
          </a:prstGeom>
          <a:ln w="88900" cap="sq" cmpd="thickThin">
            <a:solidFill>
              <a:srgbClr val="000000"/>
            </a:solidFill>
            <a:prstDash val="solid"/>
            <a:miter lim="800000"/>
          </a:ln>
          <a:effectLst>
            <a:innerShdw blurRad="76200">
              <a:srgbClr val="000000"/>
            </a:innerShdw>
          </a:effectLst>
        </p:spPr>
      </p:pic>
      <p:pic>
        <p:nvPicPr>
          <p:cNvPr id="8" name="Imagen 7" descr="Texto, Carta&#10;&#10;Descripción generada automáticamente">
            <a:extLst>
              <a:ext uri="{FF2B5EF4-FFF2-40B4-BE49-F238E27FC236}">
                <a16:creationId xmlns:a16="http://schemas.microsoft.com/office/drawing/2014/main" id="{E020F006-6093-F1B1-357C-2F6B0C918BD9}"/>
              </a:ext>
            </a:extLst>
          </p:cNvPr>
          <p:cNvPicPr>
            <a:picLocks noChangeAspect="1"/>
          </p:cNvPicPr>
          <p:nvPr/>
        </p:nvPicPr>
        <p:blipFill>
          <a:blip r:embed="rId3"/>
          <a:stretch>
            <a:fillRect/>
          </a:stretch>
        </p:blipFill>
        <p:spPr>
          <a:xfrm>
            <a:off x="4342952" y="4925973"/>
            <a:ext cx="4330400" cy="174419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493036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CREACIÓN DEL PROYECTO CLIENTE ESCRITORIO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860969"/>
            <a:ext cx="8431632" cy="1114286"/>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dirty="0">
                <a:latin typeface="Cambria" panose="02040503050406030204" pitchFamily="18" charset="0"/>
                <a:ea typeface="Calibri" panose="020F0502020204030204" pitchFamily="34" charset="0"/>
                <a:cs typeface="Times New Roman" panose="02020603050405020304" pitchFamily="18" charset="0"/>
              </a:rPr>
              <a:t>Para el cliente de escritorio, en Apache NetBeans se debe dar clic en nuevo proyecto &gt; Java </a:t>
            </a:r>
            <a:r>
              <a:rPr lang="es-ES" dirty="0" err="1">
                <a:latin typeface="Cambria" panose="02040503050406030204" pitchFamily="18" charset="0"/>
                <a:ea typeface="Calibri" panose="020F0502020204030204" pitchFamily="34" charset="0"/>
                <a:cs typeface="Times New Roman" panose="02020603050405020304" pitchFamily="18" charset="0"/>
              </a:rPr>
              <a:t>with</a:t>
            </a:r>
            <a:r>
              <a:rPr lang="es-ES" dirty="0">
                <a:latin typeface="Cambria" panose="02040503050406030204" pitchFamily="18" charset="0"/>
                <a:ea typeface="Calibri" panose="020F0502020204030204" pitchFamily="34" charset="0"/>
                <a:cs typeface="Times New Roman" panose="02020603050405020304" pitchFamily="18" charset="0"/>
              </a:rPr>
              <a:t> </a:t>
            </a:r>
            <a:r>
              <a:rPr lang="es-ES" dirty="0" err="1">
                <a:latin typeface="Cambria" panose="02040503050406030204" pitchFamily="18" charset="0"/>
                <a:ea typeface="Calibri" panose="020F0502020204030204" pitchFamily="34" charset="0"/>
                <a:cs typeface="Times New Roman" panose="02020603050405020304" pitchFamily="18" charset="0"/>
              </a:rPr>
              <a:t>Ant</a:t>
            </a:r>
            <a:r>
              <a:rPr lang="es-ES" dirty="0">
                <a:latin typeface="Cambria" panose="02040503050406030204" pitchFamily="18" charset="0"/>
                <a:ea typeface="Calibri" panose="020F0502020204030204" pitchFamily="34" charset="0"/>
                <a:cs typeface="Times New Roman" panose="02020603050405020304" pitchFamily="18" charset="0"/>
              </a:rPr>
              <a:t> &gt; Java </a:t>
            </a:r>
            <a:r>
              <a:rPr lang="es-ES" dirty="0" err="1">
                <a:latin typeface="Cambria" panose="02040503050406030204" pitchFamily="18" charset="0"/>
                <a:ea typeface="Calibri" panose="020F0502020204030204" pitchFamily="34" charset="0"/>
                <a:cs typeface="Times New Roman" panose="02020603050405020304" pitchFamily="18" charset="0"/>
              </a:rPr>
              <a:t>Application</a:t>
            </a:r>
            <a:r>
              <a:rPr lang="es-ES" dirty="0">
                <a:latin typeface="Cambria" panose="02040503050406030204" pitchFamily="18" charset="0"/>
                <a:ea typeface="Calibri" panose="020F0502020204030204" pitchFamily="34" charset="0"/>
                <a:cs typeface="Times New Roman" panose="02020603050405020304" pitchFamily="18" charset="0"/>
              </a:rPr>
              <a:t>, llamado </a:t>
            </a:r>
            <a:r>
              <a:rPr lang="es-ES" dirty="0" err="1">
                <a:latin typeface="Cambria" panose="02040503050406030204" pitchFamily="18" charset="0"/>
                <a:ea typeface="Calibri" panose="020F0502020204030204" pitchFamily="34" charset="0"/>
                <a:cs typeface="Times New Roman" panose="02020603050405020304" pitchFamily="18" charset="0"/>
              </a:rPr>
              <a:t>WSEurekaClient</a:t>
            </a:r>
            <a:r>
              <a:rPr lang="es-ES" dirty="0">
                <a:latin typeface="Cambria" panose="02040503050406030204" pitchFamily="18" charset="0"/>
                <a:ea typeface="Calibri" panose="020F0502020204030204" pitchFamily="34" charset="0"/>
                <a:cs typeface="Times New Roman" panose="02020603050405020304" pitchFamily="18" charset="0"/>
              </a:rPr>
              <a:t>.</a:t>
            </a: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a:extLst>
              <a:ext uri="{FF2B5EF4-FFF2-40B4-BE49-F238E27FC236}">
                <a16:creationId xmlns:a16="http://schemas.microsoft.com/office/drawing/2014/main" id="{AC4A6612-A9CF-5CDF-7CC8-6A9A55116EF2}"/>
              </a:ext>
            </a:extLst>
          </p:cNvPr>
          <p:cNvPicPr>
            <a:picLocks noChangeAspect="1"/>
          </p:cNvPicPr>
          <p:nvPr/>
        </p:nvPicPr>
        <p:blipFill>
          <a:blip r:embed="rId2"/>
          <a:stretch>
            <a:fillRect/>
          </a:stretch>
        </p:blipFill>
        <p:spPr>
          <a:xfrm>
            <a:off x="232704" y="3157155"/>
            <a:ext cx="4150714" cy="2846070"/>
          </a:xfrm>
          <a:prstGeom prst="rect">
            <a:avLst/>
          </a:prstGeom>
          <a:ln w="88900" cap="sq" cmpd="thickThin">
            <a:solidFill>
              <a:srgbClr val="000000"/>
            </a:solidFill>
            <a:prstDash val="solid"/>
            <a:miter lim="800000"/>
          </a:ln>
          <a:effectLst>
            <a:innerShdw blurRad="76200">
              <a:srgbClr val="000000"/>
            </a:innerShdw>
          </a:effectLst>
        </p:spPr>
      </p:pic>
      <p:pic>
        <p:nvPicPr>
          <p:cNvPr id="7" name="Imagen 6">
            <a:extLst>
              <a:ext uri="{FF2B5EF4-FFF2-40B4-BE49-F238E27FC236}">
                <a16:creationId xmlns:a16="http://schemas.microsoft.com/office/drawing/2014/main" id="{E25CE150-A9B0-460E-48F3-B2525FDF6153}"/>
              </a:ext>
            </a:extLst>
          </p:cNvPr>
          <p:cNvPicPr>
            <a:picLocks noChangeAspect="1"/>
          </p:cNvPicPr>
          <p:nvPr/>
        </p:nvPicPr>
        <p:blipFill>
          <a:blip r:embed="rId3"/>
          <a:stretch>
            <a:fillRect/>
          </a:stretch>
        </p:blipFill>
        <p:spPr>
          <a:xfrm>
            <a:off x="4754291" y="3157155"/>
            <a:ext cx="4401185" cy="284607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0574897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291274"/>
            <a:ext cx="4569032" cy="557143"/>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2.	Se crea un cliente de servicio web.</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descr="Interfaz de usuario gráfica, Aplicación&#10;&#10;Descripción generada automáticamente">
            <a:extLst>
              <a:ext uri="{FF2B5EF4-FFF2-40B4-BE49-F238E27FC236}">
                <a16:creationId xmlns:a16="http://schemas.microsoft.com/office/drawing/2014/main" id="{15D23BA0-FACE-63C1-5C11-57FA26D31E1D}"/>
              </a:ext>
            </a:extLst>
          </p:cNvPr>
          <p:cNvPicPr>
            <a:picLocks noChangeAspect="1"/>
          </p:cNvPicPr>
          <p:nvPr/>
        </p:nvPicPr>
        <p:blipFill rotWithShape="1">
          <a:blip r:embed="rId2"/>
          <a:srcRect l="4459"/>
          <a:stretch/>
        </p:blipFill>
        <p:spPr bwMode="auto">
          <a:xfrm>
            <a:off x="5782024" y="1496769"/>
            <a:ext cx="3237865" cy="1407795"/>
          </a:xfrm>
          <a:prstGeom prst="rect">
            <a:avLst/>
          </a:prstGeom>
          <a:ln w="889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pic>
        <p:nvPicPr>
          <p:cNvPr id="8" name="Imagen 7">
            <a:extLst>
              <a:ext uri="{FF2B5EF4-FFF2-40B4-BE49-F238E27FC236}">
                <a16:creationId xmlns:a16="http://schemas.microsoft.com/office/drawing/2014/main" id="{229CB9A4-8805-0C01-7AB5-E489188CC28A}"/>
              </a:ext>
            </a:extLst>
          </p:cNvPr>
          <p:cNvPicPr>
            <a:picLocks noChangeAspect="1"/>
          </p:cNvPicPr>
          <p:nvPr/>
        </p:nvPicPr>
        <p:blipFill>
          <a:blip r:embed="rId3"/>
          <a:stretch>
            <a:fillRect/>
          </a:stretch>
        </p:blipFill>
        <p:spPr>
          <a:xfrm>
            <a:off x="581192" y="3738377"/>
            <a:ext cx="4726305" cy="2807335"/>
          </a:xfrm>
          <a:prstGeom prst="rect">
            <a:avLst/>
          </a:prstGeom>
          <a:ln w="88900" cap="sq" cmpd="thickThin">
            <a:solidFill>
              <a:srgbClr val="000000"/>
            </a:solidFill>
            <a:prstDash val="solid"/>
            <a:miter lim="800000"/>
          </a:ln>
          <a:effectLst>
            <a:innerShdw blurRad="76200">
              <a:srgbClr val="000000"/>
            </a:innerShdw>
          </a:effectLst>
        </p:spPr>
      </p:pic>
      <p:pic>
        <p:nvPicPr>
          <p:cNvPr id="9" name="Imagen 8" descr="Interfaz de usuario gráfica, Texto, Aplicación&#10;&#10;Descripción generada automáticamente">
            <a:extLst>
              <a:ext uri="{FF2B5EF4-FFF2-40B4-BE49-F238E27FC236}">
                <a16:creationId xmlns:a16="http://schemas.microsoft.com/office/drawing/2014/main" id="{357C8915-EEA1-EB54-5B07-1288D2E2CBE5}"/>
              </a:ext>
            </a:extLst>
          </p:cNvPr>
          <p:cNvPicPr>
            <a:picLocks noChangeAspect="1"/>
          </p:cNvPicPr>
          <p:nvPr/>
        </p:nvPicPr>
        <p:blipFill>
          <a:blip r:embed="rId4"/>
          <a:stretch>
            <a:fillRect/>
          </a:stretch>
        </p:blipFill>
        <p:spPr>
          <a:xfrm>
            <a:off x="6083649" y="3848549"/>
            <a:ext cx="2936240" cy="258699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2027208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CREACIÓN DE LA CAPA DE SERVICIO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15956"/>
            <a:ext cx="8431632" cy="765915"/>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3.	Se crea la capa de servicio para llamar los métodos del web </a:t>
            </a:r>
            <a:r>
              <a:rPr lang="es-ES" sz="1800" dirty="0" err="1">
                <a:effectLst/>
                <a:latin typeface="Cambria" panose="02040503050406030204" pitchFamily="18" charset="0"/>
                <a:ea typeface="Calibri" panose="020F0502020204030204" pitchFamily="34" charset="0"/>
                <a:cs typeface="Times New Roman" panose="02020603050405020304" pitchFamily="18" charset="0"/>
              </a:rPr>
              <a:t>service</a:t>
            </a:r>
            <a:r>
              <a:rPr lang="es-ES" sz="1800" dirty="0">
                <a:effectLst/>
                <a:latin typeface="Cambria" panose="02040503050406030204" pitchFamily="18" charset="0"/>
                <a:ea typeface="Calibri" panose="020F0502020204030204" pitchFamily="34" charset="0"/>
                <a:cs typeface="Times New Roman" panose="02020603050405020304" pitchFamily="18" charset="0"/>
              </a:rPr>
              <a:t>.</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a:extLst>
              <a:ext uri="{FF2B5EF4-FFF2-40B4-BE49-F238E27FC236}">
                <a16:creationId xmlns:a16="http://schemas.microsoft.com/office/drawing/2014/main" id="{3EDF7B92-1CE7-9358-E755-0CEA79FA14F1}"/>
              </a:ext>
            </a:extLst>
          </p:cNvPr>
          <p:cNvPicPr>
            <a:picLocks noChangeAspect="1"/>
          </p:cNvPicPr>
          <p:nvPr/>
        </p:nvPicPr>
        <p:blipFill>
          <a:blip r:embed="rId2"/>
          <a:stretch>
            <a:fillRect/>
          </a:stretch>
        </p:blipFill>
        <p:spPr>
          <a:xfrm>
            <a:off x="2295200" y="2839747"/>
            <a:ext cx="4448810" cy="307276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4931504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CREACIÓN DE LA CAPA DE PRUEBAS</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15956"/>
            <a:ext cx="8431632" cy="765915"/>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4.	Para la creación de la capa de pruebas es necesario crear un nuevo paquete.</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descr="Interfaz de usuario gráfica, Texto, Aplicación, Correo electrónico&#10;&#10;Descripción generada automáticamente">
            <a:extLst>
              <a:ext uri="{FF2B5EF4-FFF2-40B4-BE49-F238E27FC236}">
                <a16:creationId xmlns:a16="http://schemas.microsoft.com/office/drawing/2014/main" id="{30A4DC15-75A1-5B03-78F4-1F31545BC564}"/>
              </a:ext>
            </a:extLst>
          </p:cNvPr>
          <p:cNvPicPr>
            <a:picLocks noChangeAspect="1"/>
          </p:cNvPicPr>
          <p:nvPr/>
        </p:nvPicPr>
        <p:blipFill>
          <a:blip r:embed="rId2"/>
          <a:stretch>
            <a:fillRect/>
          </a:stretch>
        </p:blipFill>
        <p:spPr>
          <a:xfrm>
            <a:off x="1821560" y="2729756"/>
            <a:ext cx="5550447" cy="2555138"/>
          </a:xfrm>
          <a:prstGeom prst="rect">
            <a:avLst/>
          </a:prstGeom>
          <a:ln w="88900" cap="sq" cmpd="thickThin">
            <a:solidFill>
              <a:srgbClr val="000000"/>
            </a:solidFill>
            <a:prstDash val="solid"/>
            <a:miter lim="800000"/>
          </a:ln>
          <a:effectLst>
            <a:innerShdw blurRad="76200">
              <a:srgbClr val="000000"/>
            </a:innerShdw>
          </a:effectLst>
        </p:spPr>
      </p:pic>
      <p:pic>
        <p:nvPicPr>
          <p:cNvPr id="8" name="Imagen 7" descr="Interfaz de usuario gráfica, Texto&#10;&#10;Descripción generada automáticamente">
            <a:extLst>
              <a:ext uri="{FF2B5EF4-FFF2-40B4-BE49-F238E27FC236}">
                <a16:creationId xmlns:a16="http://schemas.microsoft.com/office/drawing/2014/main" id="{5525BC5E-975B-2DB7-1796-A6CAEE6E2F34}"/>
              </a:ext>
            </a:extLst>
          </p:cNvPr>
          <p:cNvPicPr>
            <a:picLocks noChangeAspect="1"/>
          </p:cNvPicPr>
          <p:nvPr/>
        </p:nvPicPr>
        <p:blipFill>
          <a:blip r:embed="rId3"/>
          <a:stretch>
            <a:fillRect/>
          </a:stretch>
        </p:blipFill>
        <p:spPr>
          <a:xfrm>
            <a:off x="3297792" y="5771591"/>
            <a:ext cx="2998431" cy="76850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9215194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CREACIÓN DEL CONTROLADOR y la vista</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15956"/>
            <a:ext cx="8431632" cy="765915"/>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panose="02040503050406030204" pitchFamily="18" charset="0"/>
                <a:ea typeface="Calibri" panose="020F0502020204030204" pitchFamily="34" charset="0"/>
                <a:cs typeface="Times New Roman" panose="02020603050405020304" pitchFamily="18" charset="0"/>
              </a:rPr>
              <a:t>Para crear el controlador, es necesario crear un paquete y crear una nueva clase.</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descr="Interfaz de usuario gráfica, Texto, Aplicación&#10;&#10;Descripción generada automáticamente">
            <a:extLst>
              <a:ext uri="{FF2B5EF4-FFF2-40B4-BE49-F238E27FC236}">
                <a16:creationId xmlns:a16="http://schemas.microsoft.com/office/drawing/2014/main" id="{14CF5D5E-82A0-5569-6AB2-89ED9D87D953}"/>
              </a:ext>
            </a:extLst>
          </p:cNvPr>
          <p:cNvPicPr>
            <a:picLocks noChangeAspect="1"/>
          </p:cNvPicPr>
          <p:nvPr/>
        </p:nvPicPr>
        <p:blipFill>
          <a:blip r:embed="rId2"/>
          <a:stretch>
            <a:fillRect/>
          </a:stretch>
        </p:blipFill>
        <p:spPr>
          <a:xfrm>
            <a:off x="3296820" y="2729756"/>
            <a:ext cx="3000375" cy="1219200"/>
          </a:xfrm>
          <a:prstGeom prst="rect">
            <a:avLst/>
          </a:prstGeom>
          <a:ln w="88900" cap="sq" cmpd="thickThin">
            <a:solidFill>
              <a:srgbClr val="000000"/>
            </a:solidFill>
            <a:prstDash val="solid"/>
            <a:miter lim="800000"/>
          </a:ln>
          <a:effectLst>
            <a:innerShdw blurRad="76200">
              <a:srgbClr val="000000"/>
            </a:innerShdw>
          </a:effectLst>
        </p:spPr>
      </p:pic>
      <p:sp>
        <p:nvSpPr>
          <p:cNvPr id="10" name="CuadroTexto 9">
            <a:extLst>
              <a:ext uri="{FF2B5EF4-FFF2-40B4-BE49-F238E27FC236}">
                <a16:creationId xmlns:a16="http://schemas.microsoft.com/office/drawing/2014/main" id="{A2DB9B41-D851-4091-AF69-12C93CEBA161}"/>
              </a:ext>
            </a:extLst>
          </p:cNvPr>
          <p:cNvSpPr txBox="1"/>
          <p:nvPr/>
        </p:nvSpPr>
        <p:spPr>
          <a:xfrm>
            <a:off x="581192" y="4376130"/>
            <a:ext cx="7947211" cy="671915"/>
          </a:xfrm>
          <a:prstGeom prst="rect">
            <a:avLst/>
          </a:prstGeom>
        </p:spPr>
        <p:txBody>
          <a:bodyPr vert="horz" lIns="91440" tIns="45720" rIns="91440" bIns="45720" rtlCol="0" anchor="ctr">
            <a:normAutofit/>
          </a:bodyPr>
          <a:lstStyle>
            <a:lvl1pPr marL="342900" marR="0" lvl="0" indent="-342900" algn="just" defTabSz="457200">
              <a:lnSpc>
                <a:spcPct val="107000"/>
              </a:lnSpc>
              <a:spcBef>
                <a:spcPts val="0"/>
              </a:spcBef>
              <a:spcAft>
                <a:spcPts val="0"/>
              </a:spcAft>
              <a:buClr>
                <a:schemeClr val="accent2"/>
              </a:buClr>
              <a:buSzPct val="92000"/>
              <a:buFont typeface="Symbol" panose="05050102010706020507" pitchFamily="18" charset="2"/>
              <a:buChar char=""/>
              <a:defRPr>
                <a:solidFill>
                  <a:schemeClr val="tx2"/>
                </a:solidFill>
                <a:effectLst/>
                <a:latin typeface="Cambria" panose="02040503050406030204" pitchFamily="18" charset="0"/>
                <a:ea typeface="Calibri" panose="020F0502020204030204" pitchFamily="34" charset="0"/>
                <a:cs typeface="Times New Roman" panose="02020603050405020304" pitchFamily="18" charset="0"/>
              </a:defRPr>
            </a:lvl1pPr>
            <a:lvl2pPr marL="630000" indent="-306000" defTabSz="457200">
              <a:spcBef>
                <a:spcPct val="20000"/>
              </a:spcBef>
              <a:spcAft>
                <a:spcPts val="600"/>
              </a:spcAft>
              <a:buClr>
                <a:schemeClr val="accent2"/>
              </a:buClr>
              <a:buSzPct val="92000"/>
              <a:buFont typeface="Wingdings 2" panose="05020102010507070707" pitchFamily="18" charset="2"/>
              <a:buChar char=""/>
              <a:defRPr sz="1600">
                <a:solidFill>
                  <a:schemeClr val="tx2"/>
                </a:solidFill>
              </a:defRPr>
            </a:lvl2pPr>
            <a:lvl3pPr marL="900000" indent="-270000" defTabSz="457200">
              <a:spcBef>
                <a:spcPct val="20000"/>
              </a:spcBef>
              <a:spcAft>
                <a:spcPts val="600"/>
              </a:spcAft>
              <a:buClr>
                <a:schemeClr val="accent2"/>
              </a:buClr>
              <a:buSzPct val="92000"/>
              <a:buFont typeface="Wingdings 2" panose="05020102010507070707" pitchFamily="18" charset="2"/>
              <a:buChar char=""/>
              <a:defRPr sz="1400">
                <a:solidFill>
                  <a:schemeClr val="tx2"/>
                </a:solidFill>
              </a:defRPr>
            </a:lvl3pPr>
            <a:lvl4pPr marL="124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4pPr>
            <a:lvl5pPr marL="160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5pPr>
            <a:lvl6pPr marL="19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6pPr>
            <a:lvl7pPr marL="22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7pPr>
            <a:lvl8pPr marL="25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8pPr>
            <a:lvl9pPr marL="28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9pPr>
          </a:lstStyle>
          <a:p>
            <a:r>
              <a:rPr lang="es-EC" dirty="0"/>
              <a:t>Para la creación de la vista es necesario realizar 4 formularios.</a:t>
            </a:r>
          </a:p>
        </p:txBody>
      </p:sp>
      <p:pic>
        <p:nvPicPr>
          <p:cNvPr id="11" name="Imagen 10" descr="Texto&#10;&#10;Descripción generada automáticamente">
            <a:extLst>
              <a:ext uri="{FF2B5EF4-FFF2-40B4-BE49-F238E27FC236}">
                <a16:creationId xmlns:a16="http://schemas.microsoft.com/office/drawing/2014/main" id="{36BD11FE-05C8-A1C9-FA10-B9C7B5E34C5A}"/>
              </a:ext>
            </a:extLst>
          </p:cNvPr>
          <p:cNvPicPr>
            <a:picLocks noChangeAspect="1"/>
          </p:cNvPicPr>
          <p:nvPr/>
        </p:nvPicPr>
        <p:blipFill>
          <a:blip r:embed="rId3"/>
          <a:stretch>
            <a:fillRect/>
          </a:stretch>
        </p:blipFill>
        <p:spPr>
          <a:xfrm>
            <a:off x="3296820" y="5339342"/>
            <a:ext cx="3087370" cy="100774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2103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EJECUCIÓN</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847697"/>
            <a:ext cx="3478190" cy="144278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Inicio de sesión</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7" name="Marcador de contenido 2">
            <a:extLst>
              <a:ext uri="{FF2B5EF4-FFF2-40B4-BE49-F238E27FC236}">
                <a16:creationId xmlns:a16="http://schemas.microsoft.com/office/drawing/2014/main" id="{2CED6FA8-D1EB-7116-F928-672BDCC3153D}"/>
              </a:ext>
            </a:extLst>
          </p:cNvPr>
          <p:cNvSpPr txBox="1">
            <a:spLocks/>
          </p:cNvSpPr>
          <p:nvPr/>
        </p:nvSpPr>
        <p:spPr>
          <a:xfrm>
            <a:off x="5383560" y="1847697"/>
            <a:ext cx="2886382" cy="144278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42900" indent="-342900" algn="just">
              <a:lnSpc>
                <a:spcPct val="107000"/>
              </a:lnSpc>
              <a:spcBef>
                <a:spcPts val="0"/>
              </a:spcBef>
              <a:spcAft>
                <a:spcPts val="0"/>
              </a:spcAft>
              <a:buFont typeface="Symbol" panose="05050102010706020507" pitchFamily="18" charset="2"/>
              <a:buChar char=""/>
            </a:pPr>
            <a:r>
              <a:rPr lang="es-ES" sz="2000" dirty="0" err="1">
                <a:latin typeface="Cambria" panose="02040503050406030204" pitchFamily="18" charset="0"/>
                <a:ea typeface="Calibri" panose="020F0502020204030204" pitchFamily="34" charset="0"/>
                <a:cs typeface="Times New Roman" panose="02020603050405020304" pitchFamily="18" charset="0"/>
              </a:rPr>
              <a:t>Pesta</a:t>
            </a:r>
            <a:r>
              <a:rPr lang="es-EC" sz="2000" dirty="0" err="1">
                <a:latin typeface="Cambria" panose="02040503050406030204" pitchFamily="18" charset="0"/>
                <a:ea typeface="Calibri" panose="020F0502020204030204" pitchFamily="34" charset="0"/>
                <a:cs typeface="Times New Roman" panose="02020603050405020304" pitchFamily="18" charset="0"/>
              </a:rPr>
              <a:t>ña</a:t>
            </a:r>
            <a:r>
              <a:rPr lang="es-EC" sz="2000" dirty="0">
                <a:latin typeface="Cambria" panose="02040503050406030204" pitchFamily="18" charset="0"/>
                <a:ea typeface="Calibri" panose="020F0502020204030204" pitchFamily="34" charset="0"/>
                <a:cs typeface="Times New Roman" panose="02020603050405020304" pitchFamily="18" charset="0"/>
              </a:rPr>
              <a:t> Principal Aplicación Escritorio</a:t>
            </a:r>
            <a:endParaRPr lang="es-ES" sz="2000" dirty="0">
              <a:latin typeface="Cambria" panose="02040503050406030204" pitchFamily="18" charset="0"/>
              <a:ea typeface="Calibri" panose="020F0502020204030204" pitchFamily="34" charset="0"/>
              <a:cs typeface="Times New Roman" panose="02020603050405020304" pitchFamily="18" charset="0"/>
            </a:endParaRPr>
          </a:p>
        </p:txBody>
      </p:sp>
      <p:pic>
        <p:nvPicPr>
          <p:cNvPr id="9" name="Imagen 8" descr="Interfaz de usuario gráfica, Aplicación&#10;&#10;El contenido generado por IA puede ser incorrecto.">
            <a:extLst>
              <a:ext uri="{FF2B5EF4-FFF2-40B4-BE49-F238E27FC236}">
                <a16:creationId xmlns:a16="http://schemas.microsoft.com/office/drawing/2014/main" id="{C67D049A-5DAB-7C9D-ADC2-5E4C1A622E58}"/>
              </a:ext>
            </a:extLst>
          </p:cNvPr>
          <p:cNvPicPr>
            <a:picLocks noChangeAspect="1"/>
          </p:cNvPicPr>
          <p:nvPr/>
        </p:nvPicPr>
        <p:blipFill>
          <a:blip r:embed="rId2"/>
          <a:stretch>
            <a:fillRect/>
          </a:stretch>
        </p:blipFill>
        <p:spPr>
          <a:xfrm>
            <a:off x="779686" y="3352801"/>
            <a:ext cx="3506556" cy="2334454"/>
          </a:xfrm>
          <a:prstGeom prst="rect">
            <a:avLst/>
          </a:prstGeom>
        </p:spPr>
      </p:pic>
      <p:pic>
        <p:nvPicPr>
          <p:cNvPr id="11" name="Imagen 10" descr="Interfaz de usuario gráfica, Aplicación, Sitio web&#10;&#10;El contenido generado por IA puede ser incorrecto.">
            <a:extLst>
              <a:ext uri="{FF2B5EF4-FFF2-40B4-BE49-F238E27FC236}">
                <a16:creationId xmlns:a16="http://schemas.microsoft.com/office/drawing/2014/main" id="{24E25750-82C3-BEB2-673E-A2F08CA2D225}"/>
              </a:ext>
            </a:extLst>
          </p:cNvPr>
          <p:cNvPicPr>
            <a:picLocks noChangeAspect="1"/>
          </p:cNvPicPr>
          <p:nvPr/>
        </p:nvPicPr>
        <p:blipFill>
          <a:blip r:embed="rId3"/>
          <a:stretch>
            <a:fillRect/>
          </a:stretch>
        </p:blipFill>
        <p:spPr>
          <a:xfrm>
            <a:off x="5025863" y="3427627"/>
            <a:ext cx="3506556" cy="2184802"/>
          </a:xfrm>
          <a:prstGeom prst="rect">
            <a:avLst/>
          </a:prstGeom>
        </p:spPr>
      </p:pic>
      <p:pic>
        <p:nvPicPr>
          <p:cNvPr id="12" name="Imagen 11" descr="Interfaz de usuario gráfica, Aplicación&#10;&#10;El contenido generado por IA puede ser incorrecto.">
            <a:extLst>
              <a:ext uri="{FF2B5EF4-FFF2-40B4-BE49-F238E27FC236}">
                <a16:creationId xmlns:a16="http://schemas.microsoft.com/office/drawing/2014/main" id="{7B004875-215C-D191-060A-E2EDD3FD3453}"/>
              </a:ext>
            </a:extLst>
          </p:cNvPr>
          <p:cNvPicPr>
            <a:picLocks noChangeAspect="1"/>
          </p:cNvPicPr>
          <p:nvPr/>
        </p:nvPicPr>
        <p:blipFill>
          <a:blip r:embed="rId2"/>
          <a:stretch>
            <a:fillRect/>
          </a:stretch>
        </p:blipFill>
        <p:spPr>
          <a:xfrm>
            <a:off x="779686" y="3347392"/>
            <a:ext cx="3506556" cy="2334454"/>
          </a:xfrm>
          <a:prstGeom prst="rect">
            <a:avLst/>
          </a:prstGeom>
          <a:ln w="76200" cap="sq" cmpd="thickThin">
            <a:solidFill>
              <a:srgbClr val="000000"/>
            </a:solidFill>
            <a:prstDash val="solid"/>
            <a:miter lim="800000"/>
          </a:ln>
          <a:effectLst>
            <a:innerShdw blurRad="76200">
              <a:srgbClr val="000000"/>
            </a:innerShdw>
          </a:effectLst>
        </p:spPr>
      </p:pic>
      <p:pic>
        <p:nvPicPr>
          <p:cNvPr id="13" name="Imagen 12" descr="Interfaz de usuario gráfica, Aplicación, Sitio web&#10;&#10;El contenido generado por IA puede ser incorrecto.">
            <a:extLst>
              <a:ext uri="{FF2B5EF4-FFF2-40B4-BE49-F238E27FC236}">
                <a16:creationId xmlns:a16="http://schemas.microsoft.com/office/drawing/2014/main" id="{CFC0CF09-26E4-2C05-A665-99C8E1C5ED1B}"/>
              </a:ext>
            </a:extLst>
          </p:cNvPr>
          <p:cNvPicPr>
            <a:picLocks noChangeAspect="1"/>
          </p:cNvPicPr>
          <p:nvPr/>
        </p:nvPicPr>
        <p:blipFill>
          <a:blip r:embed="rId3"/>
          <a:stretch>
            <a:fillRect/>
          </a:stretch>
        </p:blipFill>
        <p:spPr>
          <a:xfrm>
            <a:off x="5025863" y="3422218"/>
            <a:ext cx="3506556" cy="2184802"/>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7950991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E3760-EA1E-EAA0-C0EE-13B819E415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93C65F-ABA3-2BBF-7968-155A08EFDCC8}"/>
              </a:ext>
            </a:extLst>
          </p:cNvPr>
          <p:cNvSpPr>
            <a:spLocks noGrp="1"/>
          </p:cNvSpPr>
          <p:nvPr>
            <p:ph type="title"/>
          </p:nvPr>
        </p:nvSpPr>
        <p:spPr/>
        <p:txBody>
          <a:bodyPr/>
          <a:lstStyle/>
          <a:p>
            <a:r>
              <a:rPr lang="es-ES" dirty="0"/>
              <a:t>EJECUCIÓN</a:t>
            </a:r>
          </a:p>
        </p:txBody>
      </p:sp>
      <p:sp>
        <p:nvSpPr>
          <p:cNvPr id="3" name="Marcador de contenido 2">
            <a:extLst>
              <a:ext uri="{FF2B5EF4-FFF2-40B4-BE49-F238E27FC236}">
                <a16:creationId xmlns:a16="http://schemas.microsoft.com/office/drawing/2014/main" id="{354BB0F1-F5AE-22DE-B788-F3F9DD90FD1C}"/>
              </a:ext>
            </a:extLst>
          </p:cNvPr>
          <p:cNvSpPr>
            <a:spLocks noGrp="1"/>
          </p:cNvSpPr>
          <p:nvPr>
            <p:ph idx="1"/>
          </p:nvPr>
        </p:nvSpPr>
        <p:spPr>
          <a:xfrm>
            <a:off x="326212" y="4713064"/>
            <a:ext cx="3152528" cy="144278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Últimos Movimientos.</a:t>
            </a:r>
          </a:p>
        </p:txBody>
      </p:sp>
      <p:sp>
        <p:nvSpPr>
          <p:cNvPr id="5" name="Rectángulo 4">
            <a:extLst>
              <a:ext uri="{FF2B5EF4-FFF2-40B4-BE49-F238E27FC236}">
                <a16:creationId xmlns:a16="http://schemas.microsoft.com/office/drawing/2014/main" id="{A1938E0F-E1CC-344B-3FA3-D299DC0F934E}"/>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7" name="Marcador de contenido 2">
            <a:extLst>
              <a:ext uri="{FF2B5EF4-FFF2-40B4-BE49-F238E27FC236}">
                <a16:creationId xmlns:a16="http://schemas.microsoft.com/office/drawing/2014/main" id="{812964A3-EF8B-D325-C7A3-42C2D107C7E0}"/>
              </a:ext>
            </a:extLst>
          </p:cNvPr>
          <p:cNvSpPr txBox="1">
            <a:spLocks/>
          </p:cNvSpPr>
          <p:nvPr/>
        </p:nvSpPr>
        <p:spPr>
          <a:xfrm>
            <a:off x="326212" y="2844198"/>
            <a:ext cx="2886382" cy="144278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4290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Tipo de Transacción .</a:t>
            </a:r>
            <a:endParaRPr lang="es-ES" sz="2000" dirty="0">
              <a:latin typeface="Cambria" panose="02040503050406030204" pitchFamily="18" charset="0"/>
              <a:ea typeface="Calibri" panose="020F0502020204030204" pitchFamily="34" charset="0"/>
              <a:cs typeface="Times New Roman" panose="02020603050405020304" pitchFamily="18" charset="0"/>
            </a:endParaRPr>
          </a:p>
        </p:txBody>
      </p:sp>
      <p:pic>
        <p:nvPicPr>
          <p:cNvPr id="8" name="Imagen 7" descr="Interfaz de usuario gráfica, Aplicación&#10;&#10;El contenido generado por IA puede ser incorrecto.">
            <a:extLst>
              <a:ext uri="{FF2B5EF4-FFF2-40B4-BE49-F238E27FC236}">
                <a16:creationId xmlns:a16="http://schemas.microsoft.com/office/drawing/2014/main" id="{9A1816C4-E3BF-20D0-7423-0B4EF85E65E4}"/>
              </a:ext>
            </a:extLst>
          </p:cNvPr>
          <p:cNvPicPr>
            <a:picLocks noChangeAspect="1"/>
          </p:cNvPicPr>
          <p:nvPr/>
        </p:nvPicPr>
        <p:blipFill>
          <a:blip r:embed="rId2"/>
          <a:stretch>
            <a:fillRect/>
          </a:stretch>
        </p:blipFill>
        <p:spPr>
          <a:xfrm>
            <a:off x="4066947" y="3082314"/>
            <a:ext cx="4058105" cy="2516730"/>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087444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484209" y="1715956"/>
            <a:ext cx="8576663" cy="144278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Como tercer paso, se crea el proyecto web que permite un funcionamiento multiplataforma.</a:t>
            </a:r>
          </a:p>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Se deben tener en cuenta los siguientes pasos para desarrollar el proyecto.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4" name="Imagen 3">
            <a:extLst>
              <a:ext uri="{FF2B5EF4-FFF2-40B4-BE49-F238E27FC236}">
                <a16:creationId xmlns:a16="http://schemas.microsoft.com/office/drawing/2014/main" id="{C8192789-2796-8DE1-5DB1-9F7E7EFA1F9A}"/>
              </a:ext>
            </a:extLst>
          </p:cNvPr>
          <p:cNvPicPr>
            <a:picLocks noChangeAspect="1"/>
          </p:cNvPicPr>
          <p:nvPr/>
        </p:nvPicPr>
        <p:blipFill>
          <a:blip r:embed="rId2"/>
          <a:stretch>
            <a:fillRect/>
          </a:stretch>
        </p:blipFill>
        <p:spPr>
          <a:xfrm>
            <a:off x="2162372" y="3158736"/>
            <a:ext cx="5220335" cy="238125"/>
          </a:xfrm>
          <a:prstGeom prst="rect">
            <a:avLst/>
          </a:prstGeom>
          <a:ln w="88900" cap="sq" cmpd="thickThin">
            <a:solidFill>
              <a:srgbClr val="000000"/>
            </a:solidFill>
            <a:prstDash val="solid"/>
            <a:miter lim="800000"/>
          </a:ln>
          <a:effectLst>
            <a:innerShdw blurRad="76200">
              <a:srgbClr val="000000"/>
            </a:innerShdw>
          </a:effectLst>
        </p:spPr>
      </p:pic>
      <p:pic>
        <p:nvPicPr>
          <p:cNvPr id="8" name="Imagen 7" descr="Texto&#10;&#10;Descripción generada automáticamente">
            <a:extLst>
              <a:ext uri="{FF2B5EF4-FFF2-40B4-BE49-F238E27FC236}">
                <a16:creationId xmlns:a16="http://schemas.microsoft.com/office/drawing/2014/main" id="{ED07517D-C6B1-8130-7675-1E1C74DC1124}"/>
              </a:ext>
            </a:extLst>
          </p:cNvPr>
          <p:cNvPicPr>
            <a:picLocks noChangeAspect="1"/>
          </p:cNvPicPr>
          <p:nvPr/>
        </p:nvPicPr>
        <p:blipFill>
          <a:blip r:embed="rId3"/>
          <a:stretch>
            <a:fillRect/>
          </a:stretch>
        </p:blipFill>
        <p:spPr>
          <a:xfrm>
            <a:off x="1985524" y="3699265"/>
            <a:ext cx="5482076" cy="2955944"/>
          </a:xfrm>
          <a:prstGeom prst="rect">
            <a:avLst/>
          </a:prstGeom>
        </p:spPr>
      </p:pic>
    </p:spTree>
    <p:extLst>
      <p:ext uri="{BB962C8B-B14F-4D97-AF65-F5344CB8AC3E}">
        <p14:creationId xmlns:p14="http://schemas.microsoft.com/office/powerpoint/2010/main" val="30229033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484209" y="1986220"/>
            <a:ext cx="8576663" cy="144278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1.	Estructura WEB. </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6" name="Imagen 5" descr="Interfaz de usuario gráfica, Texto, Aplicación&#10;&#10;Descripción generada automáticamente">
            <a:extLst>
              <a:ext uri="{FF2B5EF4-FFF2-40B4-BE49-F238E27FC236}">
                <a16:creationId xmlns:a16="http://schemas.microsoft.com/office/drawing/2014/main" id="{7041D818-6BBF-6A53-1139-11478085309F}"/>
              </a:ext>
            </a:extLst>
          </p:cNvPr>
          <p:cNvPicPr>
            <a:picLocks noChangeAspect="1"/>
          </p:cNvPicPr>
          <p:nvPr/>
        </p:nvPicPr>
        <p:blipFill>
          <a:blip r:embed="rId2"/>
          <a:stretch>
            <a:fillRect/>
          </a:stretch>
        </p:blipFill>
        <p:spPr>
          <a:xfrm>
            <a:off x="4252912" y="1986220"/>
            <a:ext cx="3071813" cy="3812009"/>
          </a:xfrm>
          <a:prstGeom prst="rect">
            <a:avLst/>
          </a:prstGeom>
        </p:spPr>
      </p:pic>
    </p:spTree>
    <p:extLst>
      <p:ext uri="{BB962C8B-B14F-4D97-AF65-F5344CB8AC3E}">
        <p14:creationId xmlns:p14="http://schemas.microsoft.com/office/powerpoint/2010/main" val="23202911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491570" y="1585592"/>
            <a:ext cx="8576663" cy="144278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latin typeface="Cambria" panose="02040503050406030204" pitchFamily="18" charset="0"/>
                <a:ea typeface="Calibri" panose="020F0502020204030204" pitchFamily="34" charset="0"/>
                <a:cs typeface="Times New Roman" panose="02020603050405020304" pitchFamily="18" charset="0"/>
              </a:rPr>
              <a:t>2</a:t>
            </a:r>
            <a:r>
              <a:rPr lang="es-ES" sz="2000" dirty="0">
                <a:effectLst/>
                <a:latin typeface="Cambria" panose="02040503050406030204" pitchFamily="18" charset="0"/>
                <a:ea typeface="Calibri" panose="020F0502020204030204" pitchFamily="34" charset="0"/>
                <a:cs typeface="Times New Roman" panose="02020603050405020304" pitchFamily="18" charset="0"/>
              </a:rPr>
              <a:t>.	</a:t>
            </a:r>
            <a:r>
              <a:rPr lang="es-ES" sz="2000" dirty="0">
                <a:latin typeface="Cambria" panose="02040503050406030204" pitchFamily="18" charset="0"/>
                <a:ea typeface="Calibri" panose="020F0502020204030204" pitchFamily="34" charset="0"/>
                <a:cs typeface="Times New Roman" panose="02020603050405020304" pitchFamily="18" charset="0"/>
              </a:rPr>
              <a:t>Vista principal index.html</a:t>
            </a:r>
            <a:endParaRPr lang="es-ES" sz="20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pic>
        <p:nvPicPr>
          <p:cNvPr id="7" name="Imagen 6" descr="Interfaz de usuario gráfica&#10;&#10;El contenido generado por IA puede ser incorrecto.">
            <a:extLst>
              <a:ext uri="{FF2B5EF4-FFF2-40B4-BE49-F238E27FC236}">
                <a16:creationId xmlns:a16="http://schemas.microsoft.com/office/drawing/2014/main" id="{BBE076D4-5782-F837-8883-BB754A14983C}"/>
              </a:ext>
            </a:extLst>
          </p:cNvPr>
          <p:cNvPicPr>
            <a:picLocks noChangeAspect="1"/>
          </p:cNvPicPr>
          <p:nvPr/>
        </p:nvPicPr>
        <p:blipFill>
          <a:blip r:embed="rId2"/>
          <a:stretch>
            <a:fillRect/>
          </a:stretch>
        </p:blipFill>
        <p:spPr>
          <a:xfrm>
            <a:off x="1219199" y="2655390"/>
            <a:ext cx="6652591" cy="3556547"/>
          </a:xfrm>
          <a:prstGeom prst="rect">
            <a:avLst/>
          </a:prstGeom>
          <a:ln w="762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738357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559BE94F-2D0C-0AD9-F01E-B29BFE134216}"/>
              </a:ext>
            </a:extLst>
          </p:cNvPr>
          <p:cNvSpPr>
            <a:spLocks noGrp="1"/>
          </p:cNvSpPr>
          <p:nvPr>
            <p:ph idx="1"/>
          </p:nvPr>
        </p:nvSpPr>
        <p:spPr>
          <a:xfrm>
            <a:off x="581192" y="1956149"/>
            <a:ext cx="2820914" cy="923925"/>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3.	Vista Realizar Nueva Transacción</a:t>
            </a:r>
            <a:r>
              <a:rPr lang="es-ES" sz="2000" dirty="0">
                <a:latin typeface="Cambria" panose="02040503050406030204" pitchFamily="18" charset="0"/>
                <a:ea typeface="Calibri" panose="020F0502020204030204" pitchFamily="34" charset="0"/>
                <a:cs typeface="Times New Roman" panose="02020603050405020304" pitchFamily="18" charset="0"/>
              </a:rPr>
              <a:t>.</a:t>
            </a:r>
            <a:endParaRPr lang="es-ES" sz="2000" dirty="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3" name="Imagen 2" descr="Interfaz de usuario gráfica, Aplicación, Teams&#10;&#10;Descripción generada automáticamente con confianza media">
            <a:extLst>
              <a:ext uri="{FF2B5EF4-FFF2-40B4-BE49-F238E27FC236}">
                <a16:creationId xmlns:a16="http://schemas.microsoft.com/office/drawing/2014/main" id="{8B9C4104-6C6F-D89A-AC06-EA01D0FE0CE0}"/>
              </a:ext>
            </a:extLst>
          </p:cNvPr>
          <p:cNvPicPr>
            <a:picLocks noChangeAspect="1"/>
          </p:cNvPicPr>
          <p:nvPr/>
        </p:nvPicPr>
        <p:blipFill>
          <a:blip r:embed="rId2"/>
          <a:stretch>
            <a:fillRect/>
          </a:stretch>
        </p:blipFill>
        <p:spPr>
          <a:xfrm>
            <a:off x="3775993" y="1367477"/>
            <a:ext cx="5416941" cy="1719728"/>
          </a:xfrm>
          <a:prstGeom prst="rect">
            <a:avLst/>
          </a:prstGeom>
          <a:ln w="88900" cap="sq" cmpd="thickThin">
            <a:solidFill>
              <a:srgbClr val="000000"/>
            </a:solidFill>
            <a:prstDash val="solid"/>
            <a:miter lim="800000"/>
          </a:ln>
          <a:effectLst>
            <a:innerShdw blurRad="76200">
              <a:srgbClr val="000000"/>
            </a:innerShdw>
          </a:effectLst>
        </p:spPr>
      </p:pic>
      <p:pic>
        <p:nvPicPr>
          <p:cNvPr id="11" name="Imagen 10">
            <a:extLst>
              <a:ext uri="{FF2B5EF4-FFF2-40B4-BE49-F238E27FC236}">
                <a16:creationId xmlns:a16="http://schemas.microsoft.com/office/drawing/2014/main" id="{163A4A16-810E-8A54-4D51-8DBB93224D63}"/>
              </a:ext>
            </a:extLst>
          </p:cNvPr>
          <p:cNvPicPr>
            <a:picLocks noChangeAspect="1"/>
          </p:cNvPicPr>
          <p:nvPr/>
        </p:nvPicPr>
        <p:blipFill>
          <a:blip r:embed="rId3"/>
          <a:stretch>
            <a:fillRect/>
          </a:stretch>
        </p:blipFill>
        <p:spPr>
          <a:xfrm>
            <a:off x="581192" y="3391459"/>
            <a:ext cx="6002256" cy="3194980"/>
          </a:xfrm>
          <a:prstGeom prst="rect">
            <a:avLst/>
          </a:prstGeom>
          <a:ln w="88900" cap="sq" cmpd="thickThin">
            <a:solidFill>
              <a:srgbClr val="000000"/>
            </a:solidFill>
            <a:prstDash val="solid"/>
            <a:miter lim="800000"/>
          </a:ln>
          <a:effectLst>
            <a:innerShdw blurRad="76200">
              <a:srgbClr val="000000"/>
            </a:innerShdw>
          </a:effectLst>
        </p:spPr>
      </p:pic>
      <p:sp>
        <p:nvSpPr>
          <p:cNvPr id="9" name="Marcador de contenido 2">
            <a:extLst>
              <a:ext uri="{FF2B5EF4-FFF2-40B4-BE49-F238E27FC236}">
                <a16:creationId xmlns:a16="http://schemas.microsoft.com/office/drawing/2014/main" id="{D6CBCAED-37BE-A548-8334-B58967D309D8}"/>
              </a:ext>
            </a:extLst>
          </p:cNvPr>
          <p:cNvSpPr txBox="1">
            <a:spLocks/>
          </p:cNvSpPr>
          <p:nvPr/>
        </p:nvSpPr>
        <p:spPr>
          <a:xfrm>
            <a:off x="6774211" y="4403547"/>
            <a:ext cx="2418723" cy="133834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42900" indent="-342900" algn="just">
              <a:lnSpc>
                <a:spcPct val="107000"/>
              </a:lnSpc>
              <a:spcBef>
                <a:spcPts val="0"/>
              </a:spcBef>
              <a:spcAft>
                <a:spcPts val="0"/>
              </a:spcAft>
              <a:buFont typeface="Symbol" panose="05050102010706020507" pitchFamily="18" charset="2"/>
              <a:buChar char=""/>
            </a:pPr>
            <a:r>
              <a:rPr lang="es-ES" sz="2000" dirty="0">
                <a:latin typeface="Cambria" panose="02040503050406030204" pitchFamily="18" charset="0"/>
                <a:ea typeface="Calibri" panose="020F0502020204030204" pitchFamily="34" charset="0"/>
                <a:cs typeface="Times New Roman" panose="02020603050405020304" pitchFamily="18" charset="0"/>
              </a:rPr>
              <a:t>Confirmación de la transacción realizada.</a:t>
            </a:r>
          </a:p>
        </p:txBody>
      </p:sp>
    </p:spTree>
    <p:extLst>
      <p:ext uri="{BB962C8B-B14F-4D97-AF65-F5344CB8AC3E}">
        <p14:creationId xmlns:p14="http://schemas.microsoft.com/office/powerpoint/2010/main" val="5048716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MOVIL</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559BE94F-2D0C-0AD9-F01E-B29BFE134216}"/>
              </a:ext>
            </a:extLst>
          </p:cNvPr>
          <p:cNvSpPr>
            <a:spLocks noGrp="1"/>
          </p:cNvSpPr>
          <p:nvPr>
            <p:ph idx="1"/>
          </p:nvPr>
        </p:nvSpPr>
        <p:spPr>
          <a:xfrm>
            <a:off x="487063" y="1843266"/>
            <a:ext cx="5053126" cy="579602"/>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Confirmación de la transacción realizada.</a:t>
            </a:r>
          </a:p>
        </p:txBody>
      </p:sp>
      <p:pic>
        <p:nvPicPr>
          <p:cNvPr id="12" name="Imagen 11">
            <a:extLst>
              <a:ext uri="{FF2B5EF4-FFF2-40B4-BE49-F238E27FC236}">
                <a16:creationId xmlns:a16="http://schemas.microsoft.com/office/drawing/2014/main" id="{E285F480-7948-B97A-4FBE-6FE99F5835EB}"/>
              </a:ext>
            </a:extLst>
          </p:cNvPr>
          <p:cNvPicPr>
            <a:picLocks noChangeAspect="1"/>
          </p:cNvPicPr>
          <p:nvPr/>
        </p:nvPicPr>
        <p:blipFill>
          <a:blip r:embed="rId2"/>
          <a:stretch>
            <a:fillRect/>
          </a:stretch>
        </p:blipFill>
        <p:spPr>
          <a:xfrm>
            <a:off x="1759339" y="2746603"/>
            <a:ext cx="6446212" cy="337706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5985522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559BE94F-2D0C-0AD9-F01E-B29BFE134216}"/>
              </a:ext>
            </a:extLst>
          </p:cNvPr>
          <p:cNvSpPr>
            <a:spLocks noGrp="1"/>
          </p:cNvSpPr>
          <p:nvPr>
            <p:ph idx="1"/>
          </p:nvPr>
        </p:nvSpPr>
        <p:spPr>
          <a:xfrm>
            <a:off x="477398" y="1867247"/>
            <a:ext cx="8451972" cy="433401"/>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1.	Creación proyecto cliente móvil. </a:t>
            </a:r>
          </a:p>
        </p:txBody>
      </p:sp>
      <p:pic>
        <p:nvPicPr>
          <p:cNvPr id="4" name="Imagen 3">
            <a:extLst>
              <a:ext uri="{FF2B5EF4-FFF2-40B4-BE49-F238E27FC236}">
                <a16:creationId xmlns:a16="http://schemas.microsoft.com/office/drawing/2014/main" id="{BD6314B6-FC3A-EFB4-96AA-A8BA51504C80}"/>
              </a:ext>
            </a:extLst>
          </p:cNvPr>
          <p:cNvPicPr>
            <a:picLocks noChangeAspect="1"/>
          </p:cNvPicPr>
          <p:nvPr/>
        </p:nvPicPr>
        <p:blipFill>
          <a:blip r:embed="rId2"/>
          <a:stretch>
            <a:fillRect/>
          </a:stretch>
        </p:blipFill>
        <p:spPr>
          <a:xfrm>
            <a:off x="2282425" y="2389313"/>
            <a:ext cx="5400040" cy="530225"/>
          </a:xfrm>
          <a:prstGeom prst="rect">
            <a:avLst/>
          </a:prstGeom>
        </p:spPr>
      </p:pic>
      <p:pic>
        <p:nvPicPr>
          <p:cNvPr id="7" name="Imagen 6" descr="Interfaz de usuario gráfica, Aplicación&#10;&#10;Descripción generada automáticamente">
            <a:extLst>
              <a:ext uri="{FF2B5EF4-FFF2-40B4-BE49-F238E27FC236}">
                <a16:creationId xmlns:a16="http://schemas.microsoft.com/office/drawing/2014/main" id="{C282C153-9AC7-291A-103F-7F586099392F}"/>
              </a:ext>
            </a:extLst>
          </p:cNvPr>
          <p:cNvPicPr>
            <a:picLocks noChangeAspect="1"/>
          </p:cNvPicPr>
          <p:nvPr/>
        </p:nvPicPr>
        <p:blipFill>
          <a:blip r:embed="rId3"/>
          <a:stretch>
            <a:fillRect/>
          </a:stretch>
        </p:blipFill>
        <p:spPr>
          <a:xfrm>
            <a:off x="241315" y="3008203"/>
            <a:ext cx="4714875" cy="1381086"/>
          </a:xfrm>
          <a:prstGeom prst="rect">
            <a:avLst/>
          </a:prstGeom>
        </p:spPr>
      </p:pic>
      <p:pic>
        <p:nvPicPr>
          <p:cNvPr id="9" name="Imagen 8" descr="Captura de pantalla de un celular&#10;&#10;Descripción generada automáticamente">
            <a:extLst>
              <a:ext uri="{FF2B5EF4-FFF2-40B4-BE49-F238E27FC236}">
                <a16:creationId xmlns:a16="http://schemas.microsoft.com/office/drawing/2014/main" id="{C7C5FAB0-BA9F-55AE-DB29-83177A3657DA}"/>
              </a:ext>
            </a:extLst>
          </p:cNvPr>
          <p:cNvPicPr>
            <a:picLocks noChangeAspect="1"/>
          </p:cNvPicPr>
          <p:nvPr/>
        </p:nvPicPr>
        <p:blipFill>
          <a:blip r:embed="rId4"/>
          <a:stretch>
            <a:fillRect/>
          </a:stretch>
        </p:blipFill>
        <p:spPr>
          <a:xfrm>
            <a:off x="3872230" y="4131310"/>
            <a:ext cx="5400040" cy="2602865"/>
          </a:xfrm>
          <a:prstGeom prst="rect">
            <a:avLst/>
          </a:prstGeom>
        </p:spPr>
      </p:pic>
    </p:spTree>
    <p:extLst>
      <p:ext uri="{BB962C8B-B14F-4D97-AF65-F5344CB8AC3E}">
        <p14:creationId xmlns:p14="http://schemas.microsoft.com/office/powerpoint/2010/main" val="2789604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559BE94F-2D0C-0AD9-F01E-B29BFE134216}"/>
              </a:ext>
            </a:extLst>
          </p:cNvPr>
          <p:cNvSpPr>
            <a:spLocks noGrp="1"/>
          </p:cNvSpPr>
          <p:nvPr>
            <p:ph idx="1"/>
          </p:nvPr>
        </p:nvSpPr>
        <p:spPr>
          <a:xfrm>
            <a:off x="581192" y="1911212"/>
            <a:ext cx="8451972" cy="1013800"/>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latin typeface="Cambria" panose="02040503050406030204" pitchFamily="18" charset="0"/>
                <a:ea typeface="Calibri" panose="020F0502020204030204" pitchFamily="34" charset="0"/>
                <a:cs typeface="Times New Roman" panose="02020603050405020304" pitchFamily="18" charset="0"/>
              </a:rPr>
              <a:t>2</a:t>
            </a:r>
            <a:r>
              <a:rPr lang="es-ES" sz="2000" dirty="0">
                <a:effectLst/>
                <a:latin typeface="Cambria" panose="02040503050406030204" pitchFamily="18" charset="0"/>
                <a:ea typeface="Calibri" panose="020F0502020204030204" pitchFamily="34" charset="0"/>
                <a:cs typeface="Times New Roman" panose="02020603050405020304" pitchFamily="18" charset="0"/>
              </a:rPr>
              <a:t>.	MVC, clases en diferentes paquetes</a:t>
            </a:r>
          </a:p>
        </p:txBody>
      </p:sp>
      <p:pic>
        <p:nvPicPr>
          <p:cNvPr id="3" name="Imagen 2" descr="Interfaz de usuario gráfica, Texto&#10;&#10;Descripción generada automáticamente">
            <a:extLst>
              <a:ext uri="{FF2B5EF4-FFF2-40B4-BE49-F238E27FC236}">
                <a16:creationId xmlns:a16="http://schemas.microsoft.com/office/drawing/2014/main" id="{50478F29-34EC-59AA-7B16-69C927D26ED2}"/>
              </a:ext>
            </a:extLst>
          </p:cNvPr>
          <p:cNvPicPr>
            <a:picLocks noChangeAspect="1"/>
          </p:cNvPicPr>
          <p:nvPr/>
        </p:nvPicPr>
        <p:blipFill>
          <a:blip r:embed="rId2"/>
          <a:stretch>
            <a:fillRect/>
          </a:stretch>
        </p:blipFill>
        <p:spPr>
          <a:xfrm>
            <a:off x="904957" y="3201128"/>
            <a:ext cx="3790950" cy="2171700"/>
          </a:xfrm>
          <a:prstGeom prst="rect">
            <a:avLst/>
          </a:prstGeom>
        </p:spPr>
      </p:pic>
      <p:pic>
        <p:nvPicPr>
          <p:cNvPr id="8" name="Imagen 7" descr="Interfaz de usuario gráfica&#10;&#10;Descripción generada automáticamente con confianza media">
            <a:extLst>
              <a:ext uri="{FF2B5EF4-FFF2-40B4-BE49-F238E27FC236}">
                <a16:creationId xmlns:a16="http://schemas.microsoft.com/office/drawing/2014/main" id="{63485D15-1D9F-8369-0DEE-20F539E5CF40}"/>
              </a:ext>
            </a:extLst>
          </p:cNvPr>
          <p:cNvPicPr>
            <a:picLocks noChangeAspect="1"/>
          </p:cNvPicPr>
          <p:nvPr/>
        </p:nvPicPr>
        <p:blipFill>
          <a:blip r:embed="rId3"/>
          <a:stretch>
            <a:fillRect/>
          </a:stretch>
        </p:blipFill>
        <p:spPr>
          <a:xfrm>
            <a:off x="5043487" y="2915487"/>
            <a:ext cx="3133725" cy="581025"/>
          </a:xfrm>
          <a:prstGeom prst="rect">
            <a:avLst/>
          </a:prstGeom>
        </p:spPr>
      </p:pic>
      <p:pic>
        <p:nvPicPr>
          <p:cNvPr id="9" name="Imagen 8">
            <a:extLst>
              <a:ext uri="{FF2B5EF4-FFF2-40B4-BE49-F238E27FC236}">
                <a16:creationId xmlns:a16="http://schemas.microsoft.com/office/drawing/2014/main" id="{C7094555-217C-B36C-897F-637365B76106}"/>
              </a:ext>
            </a:extLst>
          </p:cNvPr>
          <p:cNvPicPr>
            <a:picLocks noChangeAspect="1"/>
          </p:cNvPicPr>
          <p:nvPr/>
        </p:nvPicPr>
        <p:blipFill>
          <a:blip r:embed="rId4"/>
          <a:stretch>
            <a:fillRect/>
          </a:stretch>
        </p:blipFill>
        <p:spPr>
          <a:xfrm>
            <a:off x="5031579" y="3666694"/>
            <a:ext cx="1909763" cy="525185"/>
          </a:xfrm>
          <a:prstGeom prst="rect">
            <a:avLst/>
          </a:prstGeom>
        </p:spPr>
      </p:pic>
      <p:pic>
        <p:nvPicPr>
          <p:cNvPr id="10" name="Imagen 9">
            <a:extLst>
              <a:ext uri="{FF2B5EF4-FFF2-40B4-BE49-F238E27FC236}">
                <a16:creationId xmlns:a16="http://schemas.microsoft.com/office/drawing/2014/main" id="{FF8E3F3C-9F73-AB0B-EBD4-03A0A34CC11D}"/>
              </a:ext>
            </a:extLst>
          </p:cNvPr>
          <p:cNvPicPr>
            <a:picLocks noChangeAspect="1"/>
          </p:cNvPicPr>
          <p:nvPr/>
        </p:nvPicPr>
        <p:blipFill>
          <a:blip r:embed="rId5"/>
          <a:stretch>
            <a:fillRect/>
          </a:stretch>
        </p:blipFill>
        <p:spPr>
          <a:xfrm>
            <a:off x="5043487" y="4500787"/>
            <a:ext cx="2466106" cy="536423"/>
          </a:xfrm>
          <a:prstGeom prst="rect">
            <a:avLst/>
          </a:prstGeom>
        </p:spPr>
      </p:pic>
      <p:pic>
        <p:nvPicPr>
          <p:cNvPr id="11" name="Imagen 10" descr="Interfaz de usuario gráfica, Texto&#10;&#10;Descripción generada automáticamente">
            <a:extLst>
              <a:ext uri="{FF2B5EF4-FFF2-40B4-BE49-F238E27FC236}">
                <a16:creationId xmlns:a16="http://schemas.microsoft.com/office/drawing/2014/main" id="{31B59A67-36C8-1728-081C-7FE6B1F9CA81}"/>
              </a:ext>
            </a:extLst>
          </p:cNvPr>
          <p:cNvPicPr>
            <a:picLocks noChangeAspect="1"/>
          </p:cNvPicPr>
          <p:nvPr/>
        </p:nvPicPr>
        <p:blipFill>
          <a:blip r:embed="rId6"/>
          <a:stretch>
            <a:fillRect/>
          </a:stretch>
        </p:blipFill>
        <p:spPr>
          <a:xfrm>
            <a:off x="5043052" y="5336593"/>
            <a:ext cx="1524000" cy="600075"/>
          </a:xfrm>
          <a:prstGeom prst="rect">
            <a:avLst/>
          </a:prstGeom>
        </p:spPr>
      </p:pic>
    </p:spTree>
    <p:extLst>
      <p:ext uri="{BB962C8B-B14F-4D97-AF65-F5344CB8AC3E}">
        <p14:creationId xmlns:p14="http://schemas.microsoft.com/office/powerpoint/2010/main" val="22479662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
        <p:nvSpPr>
          <p:cNvPr id="6" name="Marcador de contenido 2">
            <a:extLst>
              <a:ext uri="{FF2B5EF4-FFF2-40B4-BE49-F238E27FC236}">
                <a16:creationId xmlns:a16="http://schemas.microsoft.com/office/drawing/2014/main" id="{559BE94F-2D0C-0AD9-F01E-B29BFE134216}"/>
              </a:ext>
            </a:extLst>
          </p:cNvPr>
          <p:cNvSpPr>
            <a:spLocks noGrp="1"/>
          </p:cNvSpPr>
          <p:nvPr>
            <p:ph idx="1"/>
          </p:nvPr>
        </p:nvSpPr>
        <p:spPr>
          <a:xfrm>
            <a:off x="484186" y="1807860"/>
            <a:ext cx="8451972" cy="581771"/>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3.	</a:t>
            </a:r>
            <a:r>
              <a:rPr lang="es-ES" sz="2000" dirty="0">
                <a:latin typeface="Cambria" panose="02040503050406030204" pitchFamily="18" charset="0"/>
                <a:ea typeface="Calibri" panose="020F0502020204030204" pitchFamily="34" charset="0"/>
                <a:cs typeface="Times New Roman" panose="02020603050405020304" pitchFamily="18" charset="0"/>
              </a:rPr>
              <a:t>Ventanas o pantallas en ejecución aplicativo móvil</a:t>
            </a:r>
            <a:endParaRPr lang="es-ES" sz="2000" dirty="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4" name="Imagen 3" descr="Interfaz de usuario gráfica, Aplicación&#10;&#10;El contenido generado por IA puede ser incorrecto.">
            <a:extLst>
              <a:ext uri="{FF2B5EF4-FFF2-40B4-BE49-F238E27FC236}">
                <a16:creationId xmlns:a16="http://schemas.microsoft.com/office/drawing/2014/main" id="{A6278E0F-972C-4D86-D44F-919821C7D7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61339" y="2547527"/>
            <a:ext cx="1804136" cy="4009720"/>
          </a:xfrm>
          <a:prstGeom prst="rect">
            <a:avLst/>
          </a:prstGeom>
          <a:noFill/>
          <a:ln w="76200" cmpd="thickThin">
            <a:solidFill>
              <a:schemeClr val="tx1"/>
            </a:solidFill>
            <a:miter lim="800000"/>
          </a:ln>
        </p:spPr>
      </p:pic>
      <p:pic>
        <p:nvPicPr>
          <p:cNvPr id="8" name="Imagen 7" descr="Interfaz de usuario gráfica, Texto, Aplicación, Chat o mensaje de texto&#10;&#10;El contenido generado por IA puede ser incorrecto.">
            <a:extLst>
              <a:ext uri="{FF2B5EF4-FFF2-40B4-BE49-F238E27FC236}">
                <a16:creationId xmlns:a16="http://schemas.microsoft.com/office/drawing/2014/main" id="{7F8C2681-12DA-631F-0410-D6421E2F1C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6820" y="2438438"/>
            <a:ext cx="1853464" cy="4118809"/>
          </a:xfrm>
          <a:prstGeom prst="rect">
            <a:avLst/>
          </a:prstGeom>
          <a:ln w="76200" cmpd="thickThin">
            <a:solidFill>
              <a:schemeClr val="tx1"/>
            </a:solidFill>
            <a:miter lim="800000"/>
          </a:ln>
        </p:spPr>
      </p:pic>
    </p:spTree>
    <p:extLst>
      <p:ext uri="{BB962C8B-B14F-4D97-AF65-F5344CB8AC3E}">
        <p14:creationId xmlns:p14="http://schemas.microsoft.com/office/powerpoint/2010/main" val="27562674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Conclusiones</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875853" y="2244479"/>
            <a:ext cx="8213184" cy="4084997"/>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SOAP (Simple </a:t>
            </a:r>
            <a:r>
              <a:rPr lang="es-ES" sz="2000" dirty="0" err="1">
                <a:effectLst/>
                <a:latin typeface="Cambria" panose="02040503050406030204" pitchFamily="18" charset="0"/>
                <a:ea typeface="Calibri" panose="020F0502020204030204" pitchFamily="34" charset="0"/>
                <a:cs typeface="Times New Roman" panose="02020603050405020304" pitchFamily="18" charset="0"/>
              </a:rPr>
              <a:t>Object</a:t>
            </a:r>
            <a:r>
              <a:rPr lang="es-ES" sz="2000" dirty="0">
                <a:effectLst/>
                <a:latin typeface="Cambria" panose="02040503050406030204" pitchFamily="18" charset="0"/>
                <a:ea typeface="Calibri" panose="020F0502020204030204" pitchFamily="34" charset="0"/>
                <a:cs typeface="Times New Roman" panose="02020603050405020304" pitchFamily="18" charset="0"/>
              </a:rPr>
              <a:t> Access </a:t>
            </a:r>
            <a:r>
              <a:rPr lang="es-ES" sz="2000" dirty="0" err="1">
                <a:effectLst/>
                <a:latin typeface="Cambria" panose="02040503050406030204" pitchFamily="18" charset="0"/>
                <a:ea typeface="Calibri" panose="020F0502020204030204" pitchFamily="34" charset="0"/>
                <a:cs typeface="Times New Roman" panose="02020603050405020304" pitchFamily="18" charset="0"/>
              </a:rPr>
              <a:t>Protocol</a:t>
            </a:r>
            <a:r>
              <a:rPr lang="es-ES" sz="2000" dirty="0">
                <a:effectLst/>
                <a:latin typeface="Cambria" panose="02040503050406030204" pitchFamily="18" charset="0"/>
                <a:ea typeface="Calibri" panose="020F0502020204030204" pitchFamily="34" charset="0"/>
                <a:cs typeface="Times New Roman" panose="02020603050405020304" pitchFamily="18" charset="0"/>
              </a:rPr>
              <a:t>) es un protocolo estandarizado que define cómo los mensajes deben ser enviados y recibidos. Es más estricto y pesado que REST, pero proporciona robustez y seguridad adicional.</a:t>
            </a:r>
          </a:p>
          <a:p>
            <a:pPr marL="342900" marR="0" lvl="0" indent="-342900" algn="just">
              <a:lnSpc>
                <a:spcPct val="107000"/>
              </a:lnSpc>
              <a:spcBef>
                <a:spcPts val="0"/>
              </a:spcBef>
              <a:spcAft>
                <a:spcPts val="0"/>
              </a:spcAft>
              <a:buFont typeface="Symbol" panose="05050102010706020507" pitchFamily="18" charset="2"/>
              <a:buChar char=""/>
            </a:pPr>
            <a:endParaRPr lang="es-ES" sz="2000" dirty="0">
              <a:effectLst/>
              <a:latin typeface="Cambria" panose="020405030504060302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Java ofrece una amplia gama de herramientas y </a:t>
            </a:r>
            <a:r>
              <a:rPr lang="es-ES" sz="2000" dirty="0" err="1">
                <a:effectLst/>
                <a:latin typeface="Cambria" panose="02040503050406030204" pitchFamily="18" charset="0"/>
                <a:ea typeface="Calibri" panose="020F0502020204030204" pitchFamily="34" charset="0"/>
                <a:cs typeface="Times New Roman" panose="02020603050405020304" pitchFamily="18" charset="0"/>
              </a:rPr>
              <a:t>frameworks</a:t>
            </a:r>
            <a:r>
              <a:rPr lang="es-ES" sz="2000" dirty="0">
                <a:effectLst/>
                <a:latin typeface="Cambria" panose="02040503050406030204" pitchFamily="18" charset="0"/>
                <a:ea typeface="Calibri" panose="020F0502020204030204" pitchFamily="34" charset="0"/>
                <a:cs typeface="Times New Roman" panose="02020603050405020304" pitchFamily="18" charset="0"/>
              </a:rPr>
              <a:t> para trabajar con SOAP, como JAX-WS (Java API </a:t>
            </a:r>
            <a:r>
              <a:rPr lang="es-ES" sz="2000" dirty="0" err="1">
                <a:effectLst/>
                <a:latin typeface="Cambria" panose="02040503050406030204" pitchFamily="18" charset="0"/>
                <a:ea typeface="Calibri" panose="020F0502020204030204" pitchFamily="34" charset="0"/>
                <a:cs typeface="Times New Roman" panose="02020603050405020304" pitchFamily="18" charset="0"/>
              </a:rPr>
              <a:t>for</a:t>
            </a:r>
            <a:r>
              <a:rPr lang="es-ES" sz="2000" dirty="0">
                <a:effectLst/>
                <a:latin typeface="Cambria" panose="02040503050406030204" pitchFamily="18" charset="0"/>
                <a:ea typeface="Calibri" panose="020F0502020204030204" pitchFamily="34" charset="0"/>
                <a:cs typeface="Times New Roman" panose="02020603050405020304" pitchFamily="18" charset="0"/>
              </a:rPr>
              <a:t> XML Web </a:t>
            </a:r>
            <a:r>
              <a:rPr lang="es-ES" sz="2000" dirty="0" err="1">
                <a:effectLst/>
                <a:latin typeface="Cambria" panose="02040503050406030204" pitchFamily="18" charset="0"/>
                <a:ea typeface="Calibri" panose="020F0502020204030204" pitchFamily="34" charset="0"/>
                <a:cs typeface="Times New Roman" panose="02020603050405020304" pitchFamily="18" charset="0"/>
              </a:rPr>
              <a:t>Services</a:t>
            </a:r>
            <a:r>
              <a:rPr lang="es-ES" sz="2000" dirty="0">
                <a:effectLst/>
                <a:latin typeface="Cambria" panose="02040503050406030204" pitchFamily="18" charset="0"/>
                <a:ea typeface="Calibri" panose="020F0502020204030204" pitchFamily="34" charset="0"/>
                <a:cs typeface="Times New Roman" panose="02020603050405020304" pitchFamily="18" charset="0"/>
              </a:rPr>
              <a:t>) y Apache CXF, que simplifican la creación y consumo de servicios SOAP.</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Tree>
    <p:extLst>
      <p:ext uri="{BB962C8B-B14F-4D97-AF65-F5344CB8AC3E}">
        <p14:creationId xmlns:p14="http://schemas.microsoft.com/office/powerpoint/2010/main" val="28919916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DBC33A-CD42-4FC7-A6A8-7EDA27FD2683}"/>
              </a:ext>
            </a:extLst>
          </p:cNvPr>
          <p:cNvSpPr>
            <a:spLocks noGrp="1"/>
          </p:cNvSpPr>
          <p:nvPr>
            <p:ph type="title"/>
          </p:nvPr>
        </p:nvSpPr>
        <p:spPr/>
        <p:txBody>
          <a:bodyPr/>
          <a:lstStyle/>
          <a:p>
            <a:r>
              <a:rPr lang="es-ES" dirty="0"/>
              <a:t>Recomendaciones</a:t>
            </a:r>
          </a:p>
        </p:txBody>
      </p:sp>
      <p:sp>
        <p:nvSpPr>
          <p:cNvPr id="3" name="Marcador de contenido 2">
            <a:extLst>
              <a:ext uri="{FF2B5EF4-FFF2-40B4-BE49-F238E27FC236}">
                <a16:creationId xmlns:a16="http://schemas.microsoft.com/office/drawing/2014/main" id="{D80960AD-F226-4240-9557-9B1A56633CDB}"/>
              </a:ext>
            </a:extLst>
          </p:cNvPr>
          <p:cNvSpPr>
            <a:spLocks noGrp="1"/>
          </p:cNvSpPr>
          <p:nvPr>
            <p:ph idx="1"/>
          </p:nvPr>
        </p:nvSpPr>
        <p:spPr>
          <a:xfrm>
            <a:off x="867499" y="2633265"/>
            <a:ext cx="7987844" cy="3118234"/>
          </a:xfrm>
        </p:spPr>
        <p:txBody>
          <a:bodyPr>
            <a:normAutofit/>
          </a:bodyPr>
          <a:lstStyle/>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Utilizar las capacidades integradas de Apache NetBeans para desarrollar y consumir servicios SOAP con JAX-WS. NetBeans proporciona asistentes y plantillas que facilitan la generación de servicios y clientes SOAP.</a:t>
            </a:r>
          </a:p>
          <a:p>
            <a:pPr marL="342900" marR="0" lvl="0" indent="-342900" algn="just">
              <a:lnSpc>
                <a:spcPct val="107000"/>
              </a:lnSpc>
              <a:spcBef>
                <a:spcPts val="0"/>
              </a:spcBef>
              <a:spcAft>
                <a:spcPts val="0"/>
              </a:spcAft>
              <a:buFont typeface="Symbol" panose="05050102010706020507" pitchFamily="18" charset="2"/>
              <a:buChar char=""/>
            </a:pPr>
            <a:endParaRPr lang="es-ES" sz="2000" dirty="0">
              <a:effectLst/>
              <a:latin typeface="Cambria" panose="020405030504060302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s-ES" sz="2000" dirty="0">
                <a:effectLst/>
                <a:latin typeface="Cambria" panose="02040503050406030204" pitchFamily="18" charset="0"/>
                <a:ea typeface="Calibri" panose="020F0502020204030204" pitchFamily="34" charset="0"/>
                <a:cs typeface="Times New Roman" panose="02020603050405020304" pitchFamily="18" charset="0"/>
              </a:rPr>
              <a:t>Desplegar los servicios SOAP en servidores de aplicaciones como Apache Tomcat o </a:t>
            </a:r>
            <a:r>
              <a:rPr lang="es-ES" sz="2000" dirty="0" err="1">
                <a:effectLst/>
                <a:latin typeface="Cambria" panose="02040503050406030204" pitchFamily="18" charset="0"/>
                <a:ea typeface="Calibri" panose="020F0502020204030204" pitchFamily="34" charset="0"/>
                <a:cs typeface="Times New Roman" panose="02020603050405020304" pitchFamily="18" charset="0"/>
              </a:rPr>
              <a:t>GlassFish</a:t>
            </a:r>
            <a:r>
              <a:rPr lang="es-ES" sz="2000" dirty="0">
                <a:effectLst/>
                <a:latin typeface="Cambria" panose="02040503050406030204" pitchFamily="18" charset="0"/>
                <a:ea typeface="Calibri" panose="020F0502020204030204" pitchFamily="34" charset="0"/>
                <a:cs typeface="Times New Roman" panose="02020603050405020304" pitchFamily="18" charset="0"/>
              </a:rPr>
              <a:t>, que son compatibles y están bien integrados con NetBeans.</a:t>
            </a:r>
          </a:p>
        </p:txBody>
      </p:sp>
      <p:sp>
        <p:nvSpPr>
          <p:cNvPr id="5" name="Rectángulo 4">
            <a:extLst>
              <a:ext uri="{FF2B5EF4-FFF2-40B4-BE49-F238E27FC236}">
                <a16:creationId xmlns:a16="http://schemas.microsoft.com/office/drawing/2014/main" id="{054452AF-173F-4A3B-AAAA-2E1E26784C6F}"/>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p>
        </p:txBody>
      </p:sp>
    </p:spTree>
    <p:extLst>
      <p:ext uri="{BB962C8B-B14F-4D97-AF65-F5344CB8AC3E}">
        <p14:creationId xmlns:p14="http://schemas.microsoft.com/office/powerpoint/2010/main" val="1795761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290989-CA87-4621-A0C3-233A33CC6B1C}"/>
              </a:ext>
            </a:extLst>
          </p:cNvPr>
          <p:cNvSpPr>
            <a:spLocks noGrp="1"/>
          </p:cNvSpPr>
          <p:nvPr>
            <p:ph type="title"/>
          </p:nvPr>
        </p:nvSpPr>
        <p:spPr/>
        <p:txBody>
          <a:bodyPr/>
          <a:lstStyle/>
          <a:p>
            <a:r>
              <a:rPr lang="es-ES" dirty="0"/>
              <a:t>Bibliografía</a:t>
            </a:r>
          </a:p>
        </p:txBody>
      </p:sp>
      <p:sp>
        <p:nvSpPr>
          <p:cNvPr id="3" name="Marcador de contenido 2">
            <a:extLst>
              <a:ext uri="{FF2B5EF4-FFF2-40B4-BE49-F238E27FC236}">
                <a16:creationId xmlns:a16="http://schemas.microsoft.com/office/drawing/2014/main" id="{DB0FD96C-3240-4673-A01D-AB9F82CF6BCE}"/>
              </a:ext>
            </a:extLst>
          </p:cNvPr>
          <p:cNvSpPr>
            <a:spLocks noGrp="1"/>
          </p:cNvSpPr>
          <p:nvPr>
            <p:ph idx="1"/>
          </p:nvPr>
        </p:nvSpPr>
        <p:spPr>
          <a:xfrm>
            <a:off x="820271" y="2180496"/>
            <a:ext cx="7866529" cy="3678303"/>
          </a:xfrm>
        </p:spPr>
        <p:txBody>
          <a:bodyPr>
            <a:normAutofit/>
          </a:bodyPr>
          <a:lstStyle/>
          <a:p>
            <a:pPr marL="243840" marR="0" indent="-243840" algn="just">
              <a:lnSpc>
                <a:spcPct val="107000"/>
              </a:lnSpc>
              <a:spcBef>
                <a:spcPts val="0"/>
              </a:spcBef>
              <a:spcAft>
                <a:spcPts val="0"/>
              </a:spcAft>
              <a:tabLst>
                <a:tab pos="243840" algn="l"/>
              </a:tabLst>
            </a:pPr>
            <a:r>
              <a:rPr lang="es-EC" sz="2000" dirty="0">
                <a:effectLst/>
                <a:latin typeface="Cambria" panose="02040503050406030204" pitchFamily="18" charset="0"/>
                <a:ea typeface="Calibri" panose="020F0502020204030204" pitchFamily="34" charset="0"/>
                <a:cs typeface="Times New Roman" panose="02020603050405020304" pitchFamily="18" charset="0"/>
              </a:rPr>
              <a:t>[1]	«Desarrollo y servicios Web.,» 26 SEP 2019. [En línea]. </a:t>
            </a:r>
            <a:r>
              <a:rPr lang="es-EC" sz="2000" dirty="0" err="1">
                <a:effectLst/>
                <a:latin typeface="Cambria" panose="02040503050406030204" pitchFamily="18" charset="0"/>
                <a:ea typeface="Calibri" panose="020F0502020204030204" pitchFamily="34" charset="0"/>
                <a:cs typeface="Times New Roman" panose="02020603050405020304" pitchFamily="18" charset="0"/>
              </a:rPr>
              <a:t>Available</a:t>
            </a:r>
            <a:r>
              <a:rPr lang="es-EC" sz="2000" dirty="0">
                <a:effectLst/>
                <a:latin typeface="Cambria" panose="02040503050406030204" pitchFamily="18" charset="0"/>
                <a:ea typeface="Calibri" panose="020F0502020204030204" pitchFamily="34" charset="0"/>
                <a:cs typeface="Times New Roman" panose="02020603050405020304" pitchFamily="18" charset="0"/>
              </a:rPr>
              <a:t>: http://www.eumed.net/tesis-doctorales/2007/cavl/Desarrollo%20y%20servicios%20Web.htm. .</a:t>
            </a:r>
          </a:p>
          <a:p>
            <a:pPr marL="0" marR="0" indent="0" algn="just">
              <a:lnSpc>
                <a:spcPct val="107000"/>
              </a:lnSpc>
              <a:spcBef>
                <a:spcPts val="0"/>
              </a:spcBef>
              <a:spcAft>
                <a:spcPts val="0"/>
              </a:spcAft>
              <a:buNone/>
              <a:tabLst>
                <a:tab pos="243840" algn="l"/>
              </a:tabLst>
            </a:pPr>
            <a:endParaRPr lang="en-US" sz="2000" dirty="0">
              <a:effectLst/>
              <a:latin typeface="Cambria" panose="020405030504060302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s-EC" sz="2000" dirty="0">
                <a:effectLst/>
                <a:latin typeface="Cambria" panose="02040503050406030204" pitchFamily="18" charset="0"/>
                <a:ea typeface="Calibri" panose="020F0502020204030204" pitchFamily="34" charset="0"/>
                <a:cs typeface="Times New Roman" panose="02020603050405020304" pitchFamily="18" charset="0"/>
              </a:rPr>
              <a:t>[2] 	M. </a:t>
            </a:r>
            <a:r>
              <a:rPr lang="es-EC" sz="2000" dirty="0" err="1">
                <a:effectLst/>
                <a:latin typeface="Cambria" panose="02040503050406030204" pitchFamily="18" charset="0"/>
                <a:ea typeface="Calibri" panose="020F0502020204030204" pitchFamily="34" charset="0"/>
                <a:cs typeface="Times New Roman" panose="02020603050405020304" pitchFamily="18" charset="0"/>
              </a:rPr>
              <a:t>Arl</a:t>
            </a:r>
            <a:r>
              <a:rPr lang="es-EC" sz="2000" dirty="0">
                <a:effectLst/>
                <a:latin typeface="Cambria" panose="02040503050406030204" pitchFamily="18" charset="0"/>
                <a:ea typeface="Calibri" panose="020F0502020204030204" pitchFamily="34" charset="0"/>
                <a:cs typeface="Times New Roman" panose="02020603050405020304" pitchFamily="18" charset="0"/>
              </a:rPr>
              <a:t> y Rodríguez, “SOA vs. SOAP y REST”, Adictos al trabajo, 2014. . </a:t>
            </a:r>
            <a:endParaRPr lang="en-US" sz="20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1C9745E7-07CB-4EAD-AB25-DF4CD32FFD3F}"/>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DESARROLLO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MODELO CONCEPTUAL DE LA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CREAR BASE DE DATOS</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SERVIDOR SOAP</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rPr>
              <a:t>CREACIÓN DEL PROYECTO BPM</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CONSOLA</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ESCRITORIO</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CREACIÓN DEL PROYECTO – CLIENTE WEB</a:t>
            </a:r>
          </a:p>
          <a:p>
            <a:pPr marL="763200" lvl="1" indent="-306000"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CREACIÓN DEL PROYECTO – CLIENTE MOVIL</a:t>
            </a:r>
            <a:endPar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p>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BIBLIOGRAFÍA</a:t>
            </a:r>
          </a:p>
        </p:txBody>
      </p:sp>
    </p:spTree>
    <p:extLst>
      <p:ext uri="{BB962C8B-B14F-4D97-AF65-F5344CB8AC3E}">
        <p14:creationId xmlns:p14="http://schemas.microsoft.com/office/powerpoint/2010/main" val="3514226432"/>
      </p:ext>
    </p:extLst>
  </p:cSld>
  <p:clrMapOvr>
    <a:masterClrMapping/>
  </p:clrMapOvr>
</p:sld>
</file>

<file path=ppt/theme/theme1.xml><?xml version="1.0" encoding="utf-8"?>
<a:theme xmlns:a="http://schemas.openxmlformats.org/drawingml/2006/main" name="Dividen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docProps/app.xml><?xml version="1.0" encoding="utf-8"?>
<Properties xmlns="http://schemas.openxmlformats.org/officeDocument/2006/extended-properties" xmlns:vt="http://schemas.openxmlformats.org/officeDocument/2006/docPropsVTypes">
  <TotalTime>547</TotalTime>
  <Words>4263</Words>
  <Application>Microsoft Office PowerPoint</Application>
  <PresentationFormat>Panorámica</PresentationFormat>
  <Paragraphs>909</Paragraphs>
  <Slides>54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54</vt:i4>
      </vt:variant>
    </vt:vector>
  </HeadingPairs>
  <TitlesOfParts>
    <vt:vector size="60" baseType="lpstr">
      <vt:lpstr>Cambria</vt:lpstr>
      <vt:lpstr>Georgia</vt:lpstr>
      <vt:lpstr>Gill Sans MT</vt:lpstr>
      <vt:lpstr>Symbol</vt:lpstr>
      <vt:lpstr>Wingdings 2</vt:lpstr>
      <vt:lpstr>Dividendo</vt:lpstr>
      <vt:lpstr>MANUAL Técnico de Implementación Orquestación de Procesos Bancarios con BPMN</vt:lpstr>
      <vt:lpstr>Presentación de PowerPoint</vt:lpstr>
      <vt:lpstr>DESARROLLO</vt:lpstr>
      <vt:lpstr>DESARROLLO</vt:lpstr>
      <vt:lpstr>DESARROLLO</vt:lpstr>
      <vt:lpstr>DESARROLLO</vt:lpstr>
      <vt:lpstr>DESARROLLO</vt:lpstr>
      <vt:lpstr>DESARROLLO</vt:lpstr>
      <vt:lpstr>DESARROLLO</vt:lpstr>
      <vt:lpstr>CONEXIÓN A BASE DE DATOS</vt:lpstr>
      <vt:lpstr>CONEXIÓN A BASE DE DATOS</vt:lpstr>
      <vt:lpstr>PRUEBA DE CONEXIÓN A BASE DE DATOS</vt:lpstr>
      <vt:lpstr>CODIFICACIÓN DE CLASES</vt:lpstr>
      <vt:lpstr>CODIFICACIÓN DE CLASES</vt:lpstr>
      <vt:lpstr>CREACIÓN DEL SERVICIO WEB</vt:lpstr>
      <vt:lpstr>CREACIÓN DEL SERVICIO WEB</vt:lpstr>
      <vt:lpstr>Despliegue de la aplicación</vt:lpstr>
      <vt:lpstr>CREACIÓN DEL PROYECTO BPM</vt:lpstr>
      <vt:lpstr>CREACIÓN DEL PROYECTO BPM</vt:lpstr>
      <vt:lpstr>CREACIÓN DEL PROYECTO BPM</vt:lpstr>
      <vt:lpstr>CREACIÓN DEL PROYECTO BPM</vt:lpstr>
      <vt:lpstr>CREACIÓN DEL PROYECTO BPM</vt:lpstr>
      <vt:lpstr>CREACIÓN DEL PROYECTO BPM</vt:lpstr>
      <vt:lpstr>CREACIÓN DEL PROYECTO BPM</vt:lpstr>
      <vt:lpstr>CREACIÓN DEL PROYECTO BPM</vt:lpstr>
      <vt:lpstr>CREACIÓN DEL PROYECTO BPM</vt:lpstr>
      <vt:lpstr>CREACIÓN DEL PROYECTO BPM</vt:lpstr>
      <vt:lpstr>CREACIÓN DEL PROYECTO BPM</vt:lpstr>
      <vt:lpstr>CREACIÓN DEL PROYECTO CONSOLA</vt:lpstr>
      <vt:lpstr>Creación Web Service Client</vt:lpstr>
      <vt:lpstr>ESTRUCTURA MVC </vt:lpstr>
      <vt:lpstr>CONEXIÓN A BASE DE DATOS</vt:lpstr>
      <vt:lpstr>CODIFICACIÓN DE CLASES</vt:lpstr>
      <vt:lpstr>CREACIÓN DEL CONTROLADOR y la VISTA</vt:lpstr>
      <vt:lpstr>EJECUCIÓN</vt:lpstr>
      <vt:lpstr>EJECUCIÓN</vt:lpstr>
      <vt:lpstr>CREACIÓN DEL PROYECTO CLIENTE ESCRITORIO</vt:lpstr>
      <vt:lpstr>DESARROLLO</vt:lpstr>
      <vt:lpstr>CREACIÓN DE LA CAPA DE SERVICIO</vt:lpstr>
      <vt:lpstr>CREACIÓN DE LA CAPA DE PRUEBAS</vt:lpstr>
      <vt:lpstr>CREACIÓN DEL CONTROLADOR y la vista</vt:lpstr>
      <vt:lpstr>EJECUCIÓN</vt:lpstr>
      <vt:lpstr>EJECUCIÓN</vt:lpstr>
      <vt:lpstr>DESARROLLO</vt:lpstr>
      <vt:lpstr>DESARROLLO</vt:lpstr>
      <vt:lpstr>DESARROLLO</vt:lpstr>
      <vt:lpstr>DESARROLLO</vt:lpstr>
      <vt:lpstr>DESARROLLO</vt:lpstr>
      <vt:lpstr>DESARROLLO</vt:lpstr>
      <vt:lpstr>DESARROLLO</vt:lpstr>
      <vt:lpstr>DESARROLLO</vt:lpstr>
      <vt:lpstr>Conclusiones</vt:lpstr>
      <vt:lpstr>Recomendaciones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Aplicación web con MVC implementado en JAVA Caso Practico Saltos “MONSTER”</dc:title>
  <dc:creator>dell</dc:creator>
  <cp:lastModifiedBy>Micaela Salcedo</cp:lastModifiedBy>
  <cp:revision>205</cp:revision>
  <dcterms:created xsi:type="dcterms:W3CDTF">2020-08-13T07:15:02Z</dcterms:created>
  <dcterms:modified xsi:type="dcterms:W3CDTF">2026-07-19T22:31:22Z</dcterms:modified>
</cp:coreProperties>
</file>