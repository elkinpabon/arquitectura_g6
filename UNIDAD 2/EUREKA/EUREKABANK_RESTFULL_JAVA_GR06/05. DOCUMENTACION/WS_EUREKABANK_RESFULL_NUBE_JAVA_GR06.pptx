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23"/>
  </p:notesMasterIdLst>
  <p:sldIdLst>
    <p:sldId id="256" r:id="rId3"/>
    <p:sldId id="330" r:id="rId4"/>
    <p:sldId id="331" r:id="rId5"/>
    <p:sldId id="332" r:id="rId6"/>
    <p:sldId id="333" r:id="rId7"/>
    <p:sldId id="334" r:id="rId8"/>
    <p:sldId id="335" r:id="rId9"/>
    <p:sldId id="336" r:id="rId10"/>
    <p:sldId id="338" r:id="rId11"/>
    <p:sldId id="339" r:id="rId12"/>
    <p:sldId id="340" r:id="rId13"/>
    <p:sldId id="341" r:id="rId14"/>
    <p:sldId id="342" r:id="rId15"/>
    <p:sldId id="343" r:id="rId16"/>
    <p:sldId id="344" r:id="rId17"/>
    <p:sldId id="345" r:id="rId18"/>
    <p:sldId id="352" r:id="rId19"/>
    <p:sldId id="353" r:id="rId20"/>
    <p:sldId id="351" r:id="rId21"/>
    <p:sldId id="337" r:id="rId22"/>
  </p:sldIdLst>
  <p:sldSz cx="12192000" cy="6858000"/>
  <p:notesSz cx="6858000" cy="9144000"/>
  <p:embeddedFontLst>
    <p:embeddedFont>
      <p:font typeface="Calibri" panose="020F0502020204030204" pitchFamily="34" charset="0"/>
      <p:regular r:id="rId24"/>
      <p:bold r:id="rId25"/>
      <p:italic r:id="rId26"/>
      <p:boldItalic r:id="rId27"/>
    </p:embeddedFont>
    <p:embeddedFont>
      <p:font typeface="Cambria" panose="02040503050406030204" pitchFamily="18" charset="0"/>
      <p:regular r:id="rId28"/>
      <p:bold r:id="rId29"/>
      <p:italic r:id="rId30"/>
      <p:boldItalic r:id="rId31"/>
    </p:embeddedFont>
    <p:embeddedFont>
      <p:font typeface="Gill Sans" panose="020B0604020202020204" charset="0"/>
      <p:regular r:id="rId32"/>
      <p:bold r:id="rId33"/>
    </p:embeddedFont>
    <p:embeddedFont>
      <p:font typeface="Gill Sans MT" panose="020B0502020104020203" pitchFamily="34" charset="0"/>
      <p:regular r:id="rId34"/>
      <p:bold r:id="rId35"/>
      <p:italic r:id="rId36"/>
      <p:boldItalic r:id="rId37"/>
    </p:embeddedFont>
    <p:embeddedFont>
      <p:font typeface="Noto Sans Symbols" panose="020B0604020202020204" charset="0"/>
      <p:regular r:id="rId38"/>
      <p:bold r:id="rId39"/>
    </p:embeddedFont>
    <p:embeddedFont>
      <p:font typeface="Wingdings 2" panose="05020102010507070707" pitchFamily="18" charset="2"/>
      <p:regular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2" roundtripDataSignature="AMtx7mjR6CRC/UuTuz6mIGHhfesxpGtYd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2" d="100"/>
          <a:sy n="42" d="100"/>
        </p:scale>
        <p:origin x="60" y="5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19.xml"/><Relationship Id="rId34" Type="http://schemas.openxmlformats.org/officeDocument/2006/relationships/font" Target="fonts/font11.fntdata"/><Relationship Id="rId84"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82" Type="http://customschemas.google.com/relationships/presentationmetadata" Target="meta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8.fntdata"/><Relationship Id="rId86"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8" Type="http://schemas.openxmlformats.org/officeDocument/2006/relationships/slide" Target="slides/slide6.xml"/><Relationship Id="rId85"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20" Type="http://schemas.openxmlformats.org/officeDocument/2006/relationships/slide" Target="slides/slide18.xml"/><Relationship Id="rId8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39352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251879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129332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758019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769809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926708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716636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92446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771808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236770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099044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970779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321838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926288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629165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077312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600786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8"/>
        <p:cNvGrpSpPr/>
        <p:nvPr/>
      </p:nvGrpSpPr>
      <p:grpSpPr>
        <a:xfrm>
          <a:off x="0" y="0"/>
          <a:ext cx="0" cy="0"/>
          <a:chOff x="0" y="0"/>
          <a:chExt cx="0" cy="0"/>
        </a:xfrm>
      </p:grpSpPr>
      <p:sp>
        <p:nvSpPr>
          <p:cNvPr id="19" name="Google Shape;19;p39"/>
          <p:cNvSpPr/>
          <p:nvPr/>
        </p:nvSpPr>
        <p:spPr>
          <a:xfrm>
            <a:off x="446534" y="3085765"/>
            <a:ext cx="11262866" cy="3304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9"/>
          <p:cNvSpPr txBox="1">
            <a:spLocks noGrp="1"/>
          </p:cNvSpPr>
          <p:nvPr>
            <p:ph type="ctrTitle"/>
          </p:nvPr>
        </p:nvSpPr>
        <p:spPr>
          <a:xfrm>
            <a:off x="581191" y="1020431"/>
            <a:ext cx="10993549" cy="1475013"/>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39"/>
          <p:cNvSpPr txBox="1">
            <a:spLocks noGrp="1"/>
          </p:cNvSpPr>
          <p:nvPr>
            <p:ph type="subTitle" idx="1"/>
          </p:nvPr>
        </p:nvSpPr>
        <p:spPr>
          <a:xfrm>
            <a:off x="581194" y="2495445"/>
            <a:ext cx="10993546" cy="590321"/>
          </a:xfrm>
          <a:prstGeom prst="rect">
            <a:avLst/>
          </a:prstGeom>
          <a:noFill/>
          <a:ln>
            <a:noFill/>
          </a:ln>
        </p:spPr>
        <p:txBody>
          <a:bodyPr spcFirstLastPara="1" wrap="square" lIns="91425" tIns="45700" rIns="91425" bIns="45700" anchor="t" anchorCtr="0">
            <a:normAutofit/>
          </a:bodyPr>
          <a:lstStyle>
            <a:lvl1pPr lvl="0" algn="l">
              <a:lnSpc>
                <a:spcPct val="100000"/>
              </a:lnSpc>
              <a:spcBef>
                <a:spcPts val="320"/>
              </a:spcBef>
              <a:spcAft>
                <a:spcPts val="0"/>
              </a:spcAft>
              <a:buSzPts val="1472"/>
              <a:buNone/>
              <a:defRPr sz="1600" cap="none">
                <a:solidFill>
                  <a:schemeClr val="accent2"/>
                </a:solidFill>
              </a:defRPr>
            </a:lvl1pPr>
            <a:lvl2pPr lvl="1" algn="ctr">
              <a:lnSpc>
                <a:spcPct val="100000"/>
              </a:lnSpc>
              <a:spcBef>
                <a:spcPts val="600"/>
              </a:spcBef>
              <a:spcAft>
                <a:spcPts val="0"/>
              </a:spcAft>
              <a:buSzPts val="1472"/>
              <a:buNone/>
              <a:defRPr>
                <a:solidFill>
                  <a:srgbClr val="888888"/>
                </a:solidFill>
              </a:defRPr>
            </a:lvl2pPr>
            <a:lvl3pPr lvl="2" algn="ctr">
              <a:lnSpc>
                <a:spcPct val="100000"/>
              </a:lnSpc>
              <a:spcBef>
                <a:spcPts val="600"/>
              </a:spcBef>
              <a:spcAft>
                <a:spcPts val="0"/>
              </a:spcAft>
              <a:buSzPts val="1288"/>
              <a:buNone/>
              <a:defRPr>
                <a:solidFill>
                  <a:srgbClr val="888888"/>
                </a:solidFill>
              </a:defRPr>
            </a:lvl3pPr>
            <a:lvl4pPr lvl="3" algn="ctr">
              <a:lnSpc>
                <a:spcPct val="100000"/>
              </a:lnSpc>
              <a:spcBef>
                <a:spcPts val="600"/>
              </a:spcBef>
              <a:spcAft>
                <a:spcPts val="0"/>
              </a:spcAft>
              <a:buSzPts val="1104"/>
              <a:buNone/>
              <a:defRPr>
                <a:solidFill>
                  <a:srgbClr val="888888"/>
                </a:solidFill>
              </a:defRPr>
            </a:lvl4pPr>
            <a:lvl5pPr lvl="4" algn="ctr">
              <a:lnSpc>
                <a:spcPct val="100000"/>
              </a:lnSpc>
              <a:spcBef>
                <a:spcPts val="600"/>
              </a:spcBef>
              <a:spcAft>
                <a:spcPts val="0"/>
              </a:spcAft>
              <a:buSzPts val="1104"/>
              <a:buNone/>
              <a:defRPr>
                <a:solidFill>
                  <a:srgbClr val="888888"/>
                </a:solidFill>
              </a:defRPr>
            </a:lvl5pPr>
            <a:lvl6pPr lvl="5" algn="ctr">
              <a:lnSpc>
                <a:spcPct val="100000"/>
              </a:lnSpc>
              <a:spcBef>
                <a:spcPts val="600"/>
              </a:spcBef>
              <a:spcAft>
                <a:spcPts val="0"/>
              </a:spcAft>
              <a:buSzPts val="1104"/>
              <a:buNone/>
              <a:defRPr>
                <a:solidFill>
                  <a:srgbClr val="888888"/>
                </a:solidFill>
              </a:defRPr>
            </a:lvl6pPr>
            <a:lvl7pPr lvl="6" algn="ctr">
              <a:lnSpc>
                <a:spcPct val="100000"/>
              </a:lnSpc>
              <a:spcBef>
                <a:spcPts val="600"/>
              </a:spcBef>
              <a:spcAft>
                <a:spcPts val="0"/>
              </a:spcAft>
              <a:buSzPts val="1104"/>
              <a:buNone/>
              <a:defRPr>
                <a:solidFill>
                  <a:srgbClr val="888888"/>
                </a:solidFill>
              </a:defRPr>
            </a:lvl7pPr>
            <a:lvl8pPr lvl="7" algn="ctr">
              <a:lnSpc>
                <a:spcPct val="100000"/>
              </a:lnSpc>
              <a:spcBef>
                <a:spcPts val="600"/>
              </a:spcBef>
              <a:spcAft>
                <a:spcPts val="0"/>
              </a:spcAft>
              <a:buSzPts val="1104"/>
              <a:buNone/>
              <a:defRPr>
                <a:solidFill>
                  <a:srgbClr val="888888"/>
                </a:solidFill>
              </a:defRPr>
            </a:lvl8pPr>
            <a:lvl9pPr lvl="8" algn="ctr">
              <a:lnSpc>
                <a:spcPct val="100000"/>
              </a:lnSpc>
              <a:spcBef>
                <a:spcPts val="600"/>
              </a:spcBef>
              <a:spcAft>
                <a:spcPts val="600"/>
              </a:spcAft>
              <a:buSzPts val="1104"/>
              <a:buNone/>
              <a:defRPr>
                <a:solidFill>
                  <a:srgbClr val="888888"/>
                </a:solidFill>
              </a:defRPr>
            </a:lvl9pPr>
          </a:lstStyle>
          <a:p>
            <a:endParaRPr/>
          </a:p>
        </p:txBody>
      </p:sp>
      <p:sp>
        <p:nvSpPr>
          <p:cNvPr id="22" name="Google Shape;22;p39"/>
          <p:cNvSpPr txBox="1">
            <a:spLocks noGrp="1"/>
          </p:cNvSpPr>
          <p:nvPr>
            <p:ph type="dt" idx="10"/>
          </p:nvPr>
        </p:nvSpPr>
        <p:spPr>
          <a:xfrm>
            <a:off x="7605951" y="5956137"/>
            <a:ext cx="28448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9"/>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9"/>
          <p:cNvSpPr txBox="1">
            <a:spLocks noGrp="1"/>
          </p:cNvSpPr>
          <p:nvPr>
            <p:ph type="sldNum" idx="12"/>
          </p:nvPr>
        </p:nvSpPr>
        <p:spPr>
          <a:xfrm>
            <a:off x="10558300" y="5956137"/>
            <a:ext cx="101644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32"/>
        <p:cNvGrpSpPr/>
        <p:nvPr/>
      </p:nvGrpSpPr>
      <p:grpSpPr>
        <a:xfrm>
          <a:off x="0" y="0"/>
          <a:ext cx="0" cy="0"/>
          <a:chOff x="0" y="0"/>
          <a:chExt cx="0" cy="0"/>
        </a:xfrm>
      </p:grpSpPr>
      <p:sp>
        <p:nvSpPr>
          <p:cNvPr id="33" name="Google Shape;33;p41"/>
          <p:cNvSpPr/>
          <p:nvPr/>
        </p:nvSpPr>
        <p:spPr>
          <a:xfrm>
            <a:off x="447817" y="5141974"/>
            <a:ext cx="11290860"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41"/>
          <p:cNvSpPr txBox="1">
            <a:spLocks noGrp="1"/>
          </p:cNvSpPr>
          <p:nvPr>
            <p:ph type="title"/>
          </p:nvPr>
        </p:nvSpPr>
        <p:spPr>
          <a:xfrm>
            <a:off x="581193" y="3043910"/>
            <a:ext cx="11029615" cy="1497507"/>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b="0" cap="none">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41"/>
          <p:cNvSpPr txBox="1">
            <a:spLocks noGrp="1"/>
          </p:cNvSpPr>
          <p:nvPr>
            <p:ph type="body" idx="1"/>
          </p:nvPr>
        </p:nvSpPr>
        <p:spPr>
          <a:xfrm>
            <a:off x="581192" y="4541417"/>
            <a:ext cx="11029615" cy="600556"/>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1656"/>
              <a:buNone/>
              <a:defRPr sz="1800" cap="none">
                <a:solidFill>
                  <a:schemeClr val="accent2"/>
                </a:solidFill>
              </a:defRPr>
            </a:lvl1pPr>
            <a:lvl2pPr marL="914400" lvl="1" indent="-228600" algn="l">
              <a:lnSpc>
                <a:spcPct val="100000"/>
              </a:lnSpc>
              <a:spcBef>
                <a:spcPts val="600"/>
              </a:spcBef>
              <a:spcAft>
                <a:spcPts val="0"/>
              </a:spcAft>
              <a:buSzPts val="1656"/>
              <a:buNone/>
              <a:defRPr sz="1800">
                <a:solidFill>
                  <a:srgbClr val="888888"/>
                </a:solidFill>
              </a:defRPr>
            </a:lvl2pPr>
            <a:lvl3pPr marL="1371600" lvl="2" indent="-228600" algn="l">
              <a:lnSpc>
                <a:spcPct val="100000"/>
              </a:lnSpc>
              <a:spcBef>
                <a:spcPts val="600"/>
              </a:spcBef>
              <a:spcAft>
                <a:spcPts val="0"/>
              </a:spcAft>
              <a:buSzPts val="1472"/>
              <a:buNone/>
              <a:defRPr sz="1600">
                <a:solidFill>
                  <a:srgbClr val="888888"/>
                </a:solidFill>
              </a:defRPr>
            </a:lvl3pPr>
            <a:lvl4pPr marL="1828800" lvl="3" indent="-228600" algn="l">
              <a:lnSpc>
                <a:spcPct val="100000"/>
              </a:lnSpc>
              <a:spcBef>
                <a:spcPts val="600"/>
              </a:spcBef>
              <a:spcAft>
                <a:spcPts val="0"/>
              </a:spcAft>
              <a:buSzPts val="1288"/>
              <a:buNone/>
              <a:defRPr sz="1400">
                <a:solidFill>
                  <a:srgbClr val="888888"/>
                </a:solidFill>
              </a:defRPr>
            </a:lvl4pPr>
            <a:lvl5pPr marL="2286000" lvl="4" indent="-228600" algn="l">
              <a:lnSpc>
                <a:spcPct val="100000"/>
              </a:lnSpc>
              <a:spcBef>
                <a:spcPts val="600"/>
              </a:spcBef>
              <a:spcAft>
                <a:spcPts val="0"/>
              </a:spcAft>
              <a:buSzPts val="1288"/>
              <a:buNone/>
              <a:defRPr sz="1400">
                <a:solidFill>
                  <a:srgbClr val="888888"/>
                </a:solidFill>
              </a:defRPr>
            </a:lvl5pPr>
            <a:lvl6pPr marL="2743200" lvl="5" indent="-228600" algn="l">
              <a:lnSpc>
                <a:spcPct val="100000"/>
              </a:lnSpc>
              <a:spcBef>
                <a:spcPts val="600"/>
              </a:spcBef>
              <a:spcAft>
                <a:spcPts val="0"/>
              </a:spcAft>
              <a:buSzPts val="1288"/>
              <a:buNone/>
              <a:defRPr sz="1400">
                <a:solidFill>
                  <a:srgbClr val="888888"/>
                </a:solidFill>
              </a:defRPr>
            </a:lvl6pPr>
            <a:lvl7pPr marL="3200400" lvl="6" indent="-228600" algn="l">
              <a:lnSpc>
                <a:spcPct val="100000"/>
              </a:lnSpc>
              <a:spcBef>
                <a:spcPts val="600"/>
              </a:spcBef>
              <a:spcAft>
                <a:spcPts val="0"/>
              </a:spcAft>
              <a:buSzPts val="1288"/>
              <a:buNone/>
              <a:defRPr sz="1400">
                <a:solidFill>
                  <a:srgbClr val="888888"/>
                </a:solidFill>
              </a:defRPr>
            </a:lvl7pPr>
            <a:lvl8pPr marL="3657600" lvl="7" indent="-228600" algn="l">
              <a:lnSpc>
                <a:spcPct val="100000"/>
              </a:lnSpc>
              <a:spcBef>
                <a:spcPts val="600"/>
              </a:spcBef>
              <a:spcAft>
                <a:spcPts val="0"/>
              </a:spcAft>
              <a:buSzPts val="1288"/>
              <a:buNone/>
              <a:defRPr sz="1400">
                <a:solidFill>
                  <a:srgbClr val="888888"/>
                </a:solidFill>
              </a:defRPr>
            </a:lvl8pPr>
            <a:lvl9pPr marL="4114800" lvl="8" indent="-228600" algn="l">
              <a:lnSpc>
                <a:spcPct val="100000"/>
              </a:lnSpc>
              <a:spcBef>
                <a:spcPts val="600"/>
              </a:spcBef>
              <a:spcAft>
                <a:spcPts val="600"/>
              </a:spcAft>
              <a:buSzPts val="1288"/>
              <a:buNone/>
              <a:defRPr sz="1400">
                <a:solidFill>
                  <a:srgbClr val="888888"/>
                </a:solidFill>
              </a:defRPr>
            </a:lvl9pPr>
          </a:lstStyle>
          <a:p>
            <a:endParaRPr/>
          </a:p>
        </p:txBody>
      </p:sp>
      <p:sp>
        <p:nvSpPr>
          <p:cNvPr id="36" name="Google Shape;36;p41"/>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41"/>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41"/>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9"/>
        <p:cNvGrpSpPr/>
        <p:nvPr/>
      </p:nvGrpSpPr>
      <p:grpSpPr>
        <a:xfrm>
          <a:off x="0" y="0"/>
          <a:ext cx="0" cy="0"/>
          <a:chOff x="0" y="0"/>
          <a:chExt cx="0" cy="0"/>
        </a:xfrm>
      </p:grpSpPr>
      <p:sp>
        <p:nvSpPr>
          <p:cNvPr id="40" name="Google Shape;40;p42"/>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42"/>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42"/>
          <p:cNvSpPr txBox="1">
            <a:spLocks noGrp="1"/>
          </p:cNvSpPr>
          <p:nvPr>
            <p:ph type="body" idx="1"/>
          </p:nvPr>
        </p:nvSpPr>
        <p:spPr>
          <a:xfrm>
            <a:off x="581193" y="2228003"/>
            <a:ext cx="5422390"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3" name="Google Shape;43;p42"/>
          <p:cNvSpPr txBox="1">
            <a:spLocks noGrp="1"/>
          </p:cNvSpPr>
          <p:nvPr>
            <p:ph type="body" idx="2"/>
          </p:nvPr>
        </p:nvSpPr>
        <p:spPr>
          <a:xfrm>
            <a:off x="6188417" y="2228003"/>
            <a:ext cx="5422392"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4" name="Google Shape;44;p42"/>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42"/>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42"/>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7"/>
        <p:cNvGrpSpPr/>
        <p:nvPr/>
      </p:nvGrpSpPr>
      <p:grpSpPr>
        <a:xfrm>
          <a:off x="0" y="0"/>
          <a:ext cx="0" cy="0"/>
          <a:chOff x="0" y="0"/>
          <a:chExt cx="0" cy="0"/>
        </a:xfrm>
      </p:grpSpPr>
      <p:sp>
        <p:nvSpPr>
          <p:cNvPr id="48" name="Google Shape;48;p43"/>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 name="Google Shape;49;p43"/>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43"/>
          <p:cNvSpPr txBox="1">
            <a:spLocks noGrp="1"/>
          </p:cNvSpPr>
          <p:nvPr>
            <p:ph type="body" idx="1"/>
          </p:nvPr>
        </p:nvSpPr>
        <p:spPr>
          <a:xfrm>
            <a:off x="887219" y="2250892"/>
            <a:ext cx="5087075" cy="536005"/>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51" name="Google Shape;51;p43"/>
          <p:cNvSpPr txBox="1">
            <a:spLocks noGrp="1"/>
          </p:cNvSpPr>
          <p:nvPr>
            <p:ph type="body" idx="2"/>
          </p:nvPr>
        </p:nvSpPr>
        <p:spPr>
          <a:xfrm>
            <a:off x="581194"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52" name="Google Shape;52;p43"/>
          <p:cNvSpPr txBox="1">
            <a:spLocks noGrp="1"/>
          </p:cNvSpPr>
          <p:nvPr>
            <p:ph type="body" idx="3"/>
          </p:nvPr>
        </p:nvSpPr>
        <p:spPr>
          <a:xfrm>
            <a:off x="6523735" y="2250892"/>
            <a:ext cx="5087073" cy="553373"/>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53" name="Google Shape;53;p43"/>
          <p:cNvSpPr txBox="1">
            <a:spLocks noGrp="1"/>
          </p:cNvSpPr>
          <p:nvPr>
            <p:ph type="body" idx="4"/>
          </p:nvPr>
        </p:nvSpPr>
        <p:spPr>
          <a:xfrm>
            <a:off x="6217709"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54" name="Google Shape;54;p43"/>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43"/>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43"/>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7"/>
        <p:cNvGrpSpPr/>
        <p:nvPr/>
      </p:nvGrpSpPr>
      <p:grpSpPr>
        <a:xfrm>
          <a:off x="0" y="0"/>
          <a:ext cx="0" cy="0"/>
          <a:chOff x="0" y="0"/>
          <a:chExt cx="0" cy="0"/>
        </a:xfrm>
      </p:grpSpPr>
      <p:sp>
        <p:nvSpPr>
          <p:cNvPr id="58" name="Google Shape;58;p44"/>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44"/>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44"/>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61" name="Google Shape;61;p44"/>
          <p:cNvSpPr/>
          <p:nvPr/>
        </p:nvSpPr>
        <p:spPr>
          <a:xfrm>
            <a:off x="440683"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 name="Google Shape;62;p44"/>
          <p:cNvSpPr txBox="1">
            <a:spLocks noGrp="1"/>
          </p:cNvSpPr>
          <p:nvPr>
            <p:ph type="title"/>
          </p:nvPr>
        </p:nvSpPr>
        <p:spPr>
          <a:xfrm>
            <a:off x="575894"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63"/>
        <p:cNvGrpSpPr/>
        <p:nvPr/>
      </p:nvGrpSpPr>
      <p:grpSpPr>
        <a:xfrm>
          <a:off x="0" y="0"/>
          <a:ext cx="0" cy="0"/>
          <a:chOff x="0" y="0"/>
          <a:chExt cx="0" cy="0"/>
        </a:xfrm>
      </p:grpSpPr>
      <p:sp>
        <p:nvSpPr>
          <p:cNvPr id="64" name="Google Shape;64;p45"/>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45"/>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45"/>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67"/>
        <p:cNvGrpSpPr/>
        <p:nvPr/>
      </p:nvGrpSpPr>
      <p:grpSpPr>
        <a:xfrm>
          <a:off x="0" y="0"/>
          <a:ext cx="0" cy="0"/>
          <a:chOff x="0" y="0"/>
          <a:chExt cx="0" cy="0"/>
        </a:xfrm>
      </p:grpSpPr>
      <p:sp>
        <p:nvSpPr>
          <p:cNvPr id="68" name="Google Shape;68;p46"/>
          <p:cNvSpPr/>
          <p:nvPr/>
        </p:nvSpPr>
        <p:spPr>
          <a:xfrm>
            <a:off x="447817" y="5141973"/>
            <a:ext cx="11298200" cy="1274702"/>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 name="Google Shape;69;p46"/>
          <p:cNvSpPr txBox="1">
            <a:spLocks noGrp="1"/>
          </p:cNvSpPr>
          <p:nvPr>
            <p:ph type="title"/>
          </p:nvPr>
        </p:nvSpPr>
        <p:spPr>
          <a:xfrm>
            <a:off x="581192" y="5262296"/>
            <a:ext cx="4909445" cy="689514"/>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2D58AC"/>
              </a:buClr>
              <a:buSzPts val="2000"/>
              <a:buFont typeface="Gill Sans"/>
              <a:buNone/>
              <a:defRPr sz="2000" b="0">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46"/>
          <p:cNvSpPr txBox="1">
            <a:spLocks noGrp="1"/>
          </p:cNvSpPr>
          <p:nvPr>
            <p:ph type="body" idx="1"/>
          </p:nvPr>
        </p:nvSpPr>
        <p:spPr>
          <a:xfrm>
            <a:off x="447816" y="601200"/>
            <a:ext cx="11292840" cy="4204800"/>
          </a:xfrm>
          <a:prstGeom prst="rect">
            <a:avLst/>
          </a:prstGeom>
          <a:noFill/>
          <a:ln>
            <a:noFill/>
          </a:ln>
        </p:spPr>
        <p:txBody>
          <a:bodyPr spcFirstLastPara="1" wrap="square" lIns="91425" tIns="45700" rIns="91425" bIns="45700" anchor="ctr" anchorCtr="0">
            <a:normAutofit/>
          </a:bodyPr>
          <a:lstStyle>
            <a:lvl1pPr marL="457200" lvl="0" indent="-345440" algn="l">
              <a:lnSpc>
                <a:spcPct val="100000"/>
              </a:lnSpc>
              <a:spcBef>
                <a:spcPts val="400"/>
              </a:spcBef>
              <a:spcAft>
                <a:spcPts val="0"/>
              </a:spcAft>
              <a:buSzPts val="1840"/>
              <a:buChar char="◼"/>
              <a:defRPr sz="2000">
                <a:solidFill>
                  <a:schemeClr val="dk2"/>
                </a:solidFill>
              </a:defRPr>
            </a:lvl1pPr>
            <a:lvl2pPr marL="914400" lvl="1" indent="-333756" algn="l">
              <a:lnSpc>
                <a:spcPct val="100000"/>
              </a:lnSpc>
              <a:spcBef>
                <a:spcPts val="600"/>
              </a:spcBef>
              <a:spcAft>
                <a:spcPts val="0"/>
              </a:spcAft>
              <a:buSzPts val="1656"/>
              <a:buChar char="◼"/>
              <a:defRPr sz="1800">
                <a:solidFill>
                  <a:schemeClr val="dk2"/>
                </a:solidFill>
              </a:defRPr>
            </a:lvl2pPr>
            <a:lvl3pPr marL="1371600" lvl="2" indent="-322072" algn="l">
              <a:lnSpc>
                <a:spcPct val="100000"/>
              </a:lnSpc>
              <a:spcBef>
                <a:spcPts val="600"/>
              </a:spcBef>
              <a:spcAft>
                <a:spcPts val="0"/>
              </a:spcAft>
              <a:buSzPts val="1472"/>
              <a:buChar char="◼"/>
              <a:defRPr sz="1600">
                <a:solidFill>
                  <a:schemeClr val="dk2"/>
                </a:solidFill>
              </a:defRPr>
            </a:lvl3pPr>
            <a:lvl4pPr marL="1828800" lvl="3" indent="-310388" algn="l">
              <a:lnSpc>
                <a:spcPct val="100000"/>
              </a:lnSpc>
              <a:spcBef>
                <a:spcPts val="600"/>
              </a:spcBef>
              <a:spcAft>
                <a:spcPts val="0"/>
              </a:spcAft>
              <a:buSzPts val="1288"/>
              <a:buChar char="◼"/>
              <a:defRPr sz="1400">
                <a:solidFill>
                  <a:schemeClr val="dk2"/>
                </a:solidFill>
              </a:defRPr>
            </a:lvl4pPr>
            <a:lvl5pPr marL="2286000" lvl="4" indent="-310388" algn="l">
              <a:lnSpc>
                <a:spcPct val="100000"/>
              </a:lnSpc>
              <a:spcBef>
                <a:spcPts val="600"/>
              </a:spcBef>
              <a:spcAft>
                <a:spcPts val="0"/>
              </a:spcAft>
              <a:buSzPts val="1288"/>
              <a:buChar char="◼"/>
              <a:defRPr sz="1400">
                <a:solidFill>
                  <a:schemeClr val="dk2"/>
                </a:solidFill>
              </a:defRPr>
            </a:lvl5pPr>
            <a:lvl6pPr marL="2743200" lvl="5" indent="-310388" algn="l">
              <a:lnSpc>
                <a:spcPct val="100000"/>
              </a:lnSpc>
              <a:spcBef>
                <a:spcPts val="600"/>
              </a:spcBef>
              <a:spcAft>
                <a:spcPts val="0"/>
              </a:spcAft>
              <a:buSzPts val="1288"/>
              <a:buChar char="◼"/>
              <a:defRPr sz="1400">
                <a:solidFill>
                  <a:schemeClr val="dk2"/>
                </a:solidFill>
              </a:defRPr>
            </a:lvl6pPr>
            <a:lvl7pPr marL="3200400" lvl="6" indent="-310388" algn="l">
              <a:lnSpc>
                <a:spcPct val="100000"/>
              </a:lnSpc>
              <a:spcBef>
                <a:spcPts val="600"/>
              </a:spcBef>
              <a:spcAft>
                <a:spcPts val="0"/>
              </a:spcAft>
              <a:buSzPts val="1288"/>
              <a:buChar char="◼"/>
              <a:defRPr sz="1400">
                <a:solidFill>
                  <a:schemeClr val="dk2"/>
                </a:solidFill>
              </a:defRPr>
            </a:lvl7pPr>
            <a:lvl8pPr marL="3657600" lvl="7" indent="-310388" algn="l">
              <a:lnSpc>
                <a:spcPct val="100000"/>
              </a:lnSpc>
              <a:spcBef>
                <a:spcPts val="600"/>
              </a:spcBef>
              <a:spcAft>
                <a:spcPts val="0"/>
              </a:spcAft>
              <a:buSzPts val="1288"/>
              <a:buChar char="◼"/>
              <a:defRPr sz="1400">
                <a:solidFill>
                  <a:schemeClr val="dk2"/>
                </a:solidFill>
              </a:defRPr>
            </a:lvl8pPr>
            <a:lvl9pPr marL="4114800" lvl="8" indent="-310388" algn="l">
              <a:lnSpc>
                <a:spcPct val="100000"/>
              </a:lnSpc>
              <a:spcBef>
                <a:spcPts val="600"/>
              </a:spcBef>
              <a:spcAft>
                <a:spcPts val="600"/>
              </a:spcAft>
              <a:buSzPts val="1288"/>
              <a:buChar char="◼"/>
              <a:defRPr sz="1400">
                <a:solidFill>
                  <a:schemeClr val="dk2"/>
                </a:solidFill>
              </a:defRPr>
            </a:lvl9pPr>
          </a:lstStyle>
          <a:p>
            <a:endParaRPr/>
          </a:p>
        </p:txBody>
      </p:sp>
      <p:sp>
        <p:nvSpPr>
          <p:cNvPr id="71" name="Google Shape;71;p46"/>
          <p:cNvSpPr txBox="1">
            <a:spLocks noGrp="1"/>
          </p:cNvSpPr>
          <p:nvPr>
            <p:ph type="body" idx="2"/>
          </p:nvPr>
        </p:nvSpPr>
        <p:spPr>
          <a:xfrm>
            <a:off x="5740823" y="5262296"/>
            <a:ext cx="5869987" cy="689515"/>
          </a:xfrm>
          <a:prstGeom prst="rect">
            <a:avLst/>
          </a:prstGeom>
          <a:noFill/>
          <a:ln>
            <a:noFill/>
          </a:ln>
        </p:spPr>
        <p:txBody>
          <a:bodyPr spcFirstLastPara="1" wrap="square" lIns="91425" tIns="45700" rIns="91425" bIns="45700" anchor="ctr" anchorCtr="0">
            <a:normAutofit/>
          </a:bodyPr>
          <a:lstStyle>
            <a:lvl1pPr marL="457200" lvl="0" indent="-228600" algn="r">
              <a:lnSpc>
                <a:spcPct val="100000"/>
              </a:lnSpc>
              <a:spcBef>
                <a:spcPts val="220"/>
              </a:spcBef>
              <a:spcAft>
                <a:spcPts val="0"/>
              </a:spcAft>
              <a:buSzPts val="1012"/>
              <a:buNone/>
              <a:defRPr sz="1100">
                <a:solidFill>
                  <a:schemeClr val="lt1"/>
                </a:solidFill>
              </a:defRPr>
            </a:lvl1pPr>
            <a:lvl2pPr marL="914400" lvl="1" indent="-228600" algn="l">
              <a:lnSpc>
                <a:spcPct val="100000"/>
              </a:lnSpc>
              <a:spcBef>
                <a:spcPts val="600"/>
              </a:spcBef>
              <a:spcAft>
                <a:spcPts val="0"/>
              </a:spcAft>
              <a:buSzPts val="1012"/>
              <a:buNone/>
              <a:defRPr sz="11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72" name="Google Shape;72;p46"/>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46"/>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46"/>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75"/>
        <p:cNvGrpSpPr/>
        <p:nvPr/>
      </p:nvGrpSpPr>
      <p:grpSpPr>
        <a:xfrm>
          <a:off x="0" y="0"/>
          <a:ext cx="0" cy="0"/>
          <a:chOff x="0" y="0"/>
          <a:chExt cx="0" cy="0"/>
        </a:xfrm>
      </p:grpSpPr>
      <p:sp>
        <p:nvSpPr>
          <p:cNvPr id="76" name="Google Shape;76;p47"/>
          <p:cNvSpPr txBox="1">
            <a:spLocks noGrp="1"/>
          </p:cNvSpPr>
          <p:nvPr>
            <p:ph type="title"/>
          </p:nvPr>
        </p:nvSpPr>
        <p:spPr>
          <a:xfrm>
            <a:off x="581193" y="4693389"/>
            <a:ext cx="11029616"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2400"/>
              <a:buFont typeface="Gill Sans"/>
              <a:buNone/>
              <a:defRPr sz="2400" b="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47"/>
          <p:cNvSpPr>
            <a:spLocks noGrp="1"/>
          </p:cNvSpPr>
          <p:nvPr>
            <p:ph type="pic" idx="2"/>
          </p:nvPr>
        </p:nvSpPr>
        <p:spPr>
          <a:xfrm>
            <a:off x="447817" y="599725"/>
            <a:ext cx="11290859" cy="3557252"/>
          </a:xfrm>
          <a:prstGeom prst="rect">
            <a:avLst/>
          </a:prstGeom>
          <a:noFill/>
          <a:ln>
            <a:noFill/>
          </a:ln>
        </p:spPr>
      </p:sp>
      <p:sp>
        <p:nvSpPr>
          <p:cNvPr id="78" name="Google Shape;78;p47"/>
          <p:cNvSpPr txBox="1">
            <a:spLocks noGrp="1"/>
          </p:cNvSpPr>
          <p:nvPr>
            <p:ph type="body" idx="1"/>
          </p:nvPr>
        </p:nvSpPr>
        <p:spPr>
          <a:xfrm>
            <a:off x="581192" y="5260127"/>
            <a:ext cx="11029617" cy="598671"/>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240"/>
              </a:spcBef>
              <a:spcAft>
                <a:spcPts val="0"/>
              </a:spcAft>
              <a:buSzPts val="1104"/>
              <a:buNone/>
              <a:defRPr sz="1200"/>
            </a:lvl1pPr>
            <a:lvl2pPr marL="914400" lvl="1" indent="-228600" algn="l">
              <a:lnSpc>
                <a:spcPct val="100000"/>
              </a:lnSpc>
              <a:spcBef>
                <a:spcPts val="600"/>
              </a:spcBef>
              <a:spcAft>
                <a:spcPts val="0"/>
              </a:spcAft>
              <a:buSzPts val="1104"/>
              <a:buNone/>
              <a:defRPr sz="12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79" name="Google Shape;79;p47"/>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47"/>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47"/>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82"/>
        <p:cNvGrpSpPr/>
        <p:nvPr/>
      </p:nvGrpSpPr>
      <p:grpSpPr>
        <a:xfrm>
          <a:off x="0" y="0"/>
          <a:ext cx="0" cy="0"/>
          <a:chOff x="0" y="0"/>
          <a:chExt cx="0" cy="0"/>
        </a:xfrm>
      </p:grpSpPr>
      <p:sp>
        <p:nvSpPr>
          <p:cNvPr id="83" name="Google Shape;83;p48"/>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 name="Google Shape;84;p48"/>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48"/>
          <p:cNvSpPr txBox="1">
            <a:spLocks noGrp="1"/>
          </p:cNvSpPr>
          <p:nvPr>
            <p:ph type="body" idx="1"/>
          </p:nvPr>
        </p:nvSpPr>
        <p:spPr>
          <a:xfrm rot="5400000">
            <a:off x="4334603" y="-1417408"/>
            <a:ext cx="3522794" cy="11029616"/>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22072" algn="l">
              <a:lnSpc>
                <a:spcPct val="100000"/>
              </a:lnSpc>
              <a:spcBef>
                <a:spcPts val="600"/>
              </a:spcBef>
              <a:spcAft>
                <a:spcPts val="0"/>
              </a:spcAft>
              <a:buSzPts val="1472"/>
              <a:buChar char="◼"/>
              <a:defRPr/>
            </a:lvl2pPr>
            <a:lvl3pPr marL="1371600" lvl="2" indent="-310388" algn="l">
              <a:lnSpc>
                <a:spcPct val="100000"/>
              </a:lnSpc>
              <a:spcBef>
                <a:spcPts val="600"/>
              </a:spcBef>
              <a:spcAft>
                <a:spcPts val="0"/>
              </a:spcAft>
              <a:buSzPts val="1288"/>
              <a:buChar char="◼"/>
              <a:defRPr/>
            </a:lvl3pPr>
            <a:lvl4pPr marL="1828800" lvl="3" indent="-298703" algn="l">
              <a:lnSpc>
                <a:spcPct val="100000"/>
              </a:lnSpc>
              <a:spcBef>
                <a:spcPts val="600"/>
              </a:spcBef>
              <a:spcAft>
                <a:spcPts val="0"/>
              </a:spcAft>
              <a:buSzPts val="1104"/>
              <a:buChar char="◼"/>
              <a:defRPr/>
            </a:lvl4pPr>
            <a:lvl5pPr marL="2286000" lvl="4" indent="-298704" algn="l">
              <a:lnSpc>
                <a:spcPct val="100000"/>
              </a:lnSpc>
              <a:spcBef>
                <a:spcPts val="600"/>
              </a:spcBef>
              <a:spcAft>
                <a:spcPts val="0"/>
              </a:spcAft>
              <a:buSzPts val="1104"/>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86" name="Google Shape;86;p48"/>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48"/>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48"/>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89"/>
        <p:cNvGrpSpPr/>
        <p:nvPr/>
      </p:nvGrpSpPr>
      <p:grpSpPr>
        <a:xfrm>
          <a:off x="0" y="0"/>
          <a:ext cx="0" cy="0"/>
          <a:chOff x="0" y="0"/>
          <a:chExt cx="0" cy="0"/>
        </a:xfrm>
      </p:grpSpPr>
      <p:sp>
        <p:nvSpPr>
          <p:cNvPr id="90" name="Google Shape;90;p49"/>
          <p:cNvSpPr/>
          <p:nvPr/>
        </p:nvSpPr>
        <p:spPr>
          <a:xfrm>
            <a:off x="8839201" y="599725"/>
            <a:ext cx="2906817" cy="581695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49"/>
          <p:cNvSpPr txBox="1">
            <a:spLocks noGrp="1"/>
          </p:cNvSpPr>
          <p:nvPr>
            <p:ph type="title"/>
          </p:nvPr>
        </p:nvSpPr>
        <p:spPr>
          <a:xfrm rot="5400000">
            <a:off x="7249746" y="2265181"/>
            <a:ext cx="5183073" cy="200416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49"/>
          <p:cNvSpPr txBox="1">
            <a:spLocks noGrp="1"/>
          </p:cNvSpPr>
          <p:nvPr>
            <p:ph type="body" idx="1"/>
          </p:nvPr>
        </p:nvSpPr>
        <p:spPr>
          <a:xfrm rot="5400000">
            <a:off x="2131526" y="-680877"/>
            <a:ext cx="5183073" cy="789627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93" name="Google Shape;93;p49"/>
          <p:cNvSpPr txBox="1">
            <a:spLocks noGrp="1"/>
          </p:cNvSpPr>
          <p:nvPr>
            <p:ph type="dt" idx="10"/>
          </p:nvPr>
        </p:nvSpPr>
        <p:spPr>
          <a:xfrm>
            <a:off x="8993673" y="5956137"/>
            <a:ext cx="1328141"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49"/>
          <p:cNvSpPr txBox="1">
            <a:spLocks noGrp="1"/>
          </p:cNvSpPr>
          <p:nvPr>
            <p:ph type="ftr" idx="11"/>
          </p:nvPr>
        </p:nvSpPr>
        <p:spPr>
          <a:xfrm>
            <a:off x="774923" y="5951811"/>
            <a:ext cx="789627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49"/>
          <p:cNvSpPr txBox="1">
            <a:spLocks noGrp="1"/>
          </p:cNvSpPr>
          <p:nvPr>
            <p:ph type="sldNum" idx="12"/>
          </p:nvPr>
        </p:nvSpPr>
        <p:spPr>
          <a:xfrm>
            <a:off x="10446615" y="5956137"/>
            <a:ext cx="116419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6/10/2026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28644478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27374822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6/10/2026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350431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6/10/2026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35330376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6/10/2026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36282622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dirty="0"/>
              <a:pPr/>
              <a:t>6/10/2026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s-ES"/>
              <a:t>Haga clic para modificar el estilo de título del patrón</a:t>
            </a:r>
            <a:endParaRPr lang="en-US" dirty="0"/>
          </a:p>
        </p:txBody>
      </p:sp>
    </p:spTree>
    <p:extLst>
      <p:ext uri="{BB962C8B-B14F-4D97-AF65-F5344CB8AC3E}">
        <p14:creationId xmlns:p14="http://schemas.microsoft.com/office/powerpoint/2010/main" val="35859741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6/10/2026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12072359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6/10/2026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42209327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dirty="0"/>
              <a:t>Haga clic en el icono para agregar una imagen</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6/10/2026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6162631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29422626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6/10/2026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39722984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8"/>
          <p:cNvSpPr txBox="1">
            <a:spLocks noGrp="1"/>
          </p:cNvSpPr>
          <p:nvPr>
            <p:ph type="title"/>
          </p:nvPr>
        </p:nvSpPr>
        <p:spPr>
          <a:xfrm>
            <a:off x="581192" y="705124"/>
            <a:ext cx="11029616" cy="1189554"/>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chemeClr val="lt1"/>
              </a:buClr>
              <a:buSzPts val="2800"/>
              <a:buFont typeface="Gill Sans"/>
              <a:buNone/>
              <a:defRPr sz="2800" b="0" i="0" u="none" strike="noStrike" cap="none">
                <a:solidFill>
                  <a:schemeClr val="lt1"/>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9pPr>
          </a:lstStyle>
          <a:p>
            <a:endParaRPr/>
          </a:p>
        </p:txBody>
      </p:sp>
      <p:sp>
        <p:nvSpPr>
          <p:cNvPr id="11" name="Google Shape;11;p38"/>
          <p:cNvSpPr txBox="1">
            <a:spLocks noGrp="1"/>
          </p:cNvSpPr>
          <p:nvPr>
            <p:ph type="body" idx="1"/>
          </p:nvPr>
        </p:nvSpPr>
        <p:spPr>
          <a:xfrm>
            <a:off x="581192" y="2336003"/>
            <a:ext cx="11029616" cy="3522794"/>
          </a:xfrm>
          <a:prstGeom prst="rect">
            <a:avLst/>
          </a:prstGeom>
          <a:noFill/>
          <a:ln>
            <a:noFill/>
          </a:ln>
        </p:spPr>
        <p:txBody>
          <a:bodyPr spcFirstLastPara="1" wrap="square" lIns="91425" tIns="45700" rIns="91425" bIns="45700" anchor="ctr" anchorCtr="0">
            <a:normAutofit/>
          </a:bodyPr>
          <a:lstStyle>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22072" algn="l" rtl="0">
              <a:lnSpc>
                <a:spcPct val="100000"/>
              </a:lnSpc>
              <a:spcBef>
                <a:spcPts val="600"/>
              </a:spcBef>
              <a:spcAft>
                <a:spcPts val="0"/>
              </a:spcAft>
              <a:buClr>
                <a:schemeClr val="accent2"/>
              </a:buClr>
              <a:buSzPts val="1472"/>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10388" algn="l" rtl="0">
              <a:lnSpc>
                <a:spcPct val="100000"/>
              </a:lnSpc>
              <a:spcBef>
                <a:spcPts val="600"/>
              </a:spcBef>
              <a:spcAft>
                <a:spcPts val="0"/>
              </a:spcAft>
              <a:buClr>
                <a:schemeClr val="accent2"/>
              </a:buClr>
              <a:buSzPts val="1288"/>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298703"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298703"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298703" algn="l" rtl="0">
              <a:lnSpc>
                <a:spcPct val="100000"/>
              </a:lnSpc>
              <a:spcBef>
                <a:spcPts val="600"/>
              </a:spcBef>
              <a:spcAft>
                <a:spcPts val="60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9pPr>
          </a:lstStyle>
          <a:p>
            <a:endParaRPr/>
          </a:p>
        </p:txBody>
      </p:sp>
      <p:sp>
        <p:nvSpPr>
          <p:cNvPr id="12" name="Google Shape;12;p38"/>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3" name="Google Shape;13;p38"/>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4" name="Google Shape;14;p38"/>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15" name="Google Shape;15;p38"/>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38"/>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38"/>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6/10/2026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‹Nº›</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C"/>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C"/>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C"/>
          </a:p>
        </p:txBody>
      </p:sp>
    </p:spTree>
    <p:extLst>
      <p:ext uri="{BB962C8B-B14F-4D97-AF65-F5344CB8AC3E}">
        <p14:creationId xmlns:p14="http://schemas.microsoft.com/office/powerpoint/2010/main" val="41183708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
          <p:cNvSpPr txBox="1">
            <a:spLocks noGrp="1"/>
          </p:cNvSpPr>
          <p:nvPr>
            <p:ph type="ctrTitle"/>
          </p:nvPr>
        </p:nvSpPr>
        <p:spPr>
          <a:xfrm>
            <a:off x="517945" y="3608618"/>
            <a:ext cx="10993549" cy="1540782"/>
          </a:xfrm>
          <a:prstGeom prst="rect">
            <a:avLst/>
          </a:prstGeom>
          <a:noFill/>
          <a:ln>
            <a:noFill/>
          </a:ln>
        </p:spPr>
        <p:txBody>
          <a:bodyPr spcFirstLastPara="1" wrap="square" lIns="91425" tIns="45700" rIns="91425" bIns="45700" anchor="b" anchorCtr="0">
            <a:normAutofit fontScale="90000"/>
          </a:bodyPr>
          <a:lstStyle/>
          <a:p>
            <a:pPr algn="ctr">
              <a:buClr>
                <a:schemeClr val="lt1"/>
              </a:buClr>
            </a:pPr>
            <a:r>
              <a:rPr lang="es-EC" dirty="0">
                <a:solidFill>
                  <a:schemeClr val="lt1"/>
                </a:solidFill>
              </a:rPr>
              <a:t>WEB SERVICE RESTful CON JAVA
EN LA NUBE (AWS)</a:t>
            </a:r>
            <a:br>
              <a:rPr lang="es-EC" dirty="0"/>
            </a:br>
            <a:endParaRPr dirty="0">
              <a:solidFill>
                <a:schemeClr val="lt1"/>
              </a:solidFill>
            </a:endParaRPr>
          </a:p>
        </p:txBody>
      </p:sp>
      <p:sp>
        <p:nvSpPr>
          <p:cNvPr id="101" name="Google Shape;101;p1"/>
          <p:cNvSpPr txBox="1">
            <a:spLocks noGrp="1"/>
          </p:cNvSpPr>
          <p:nvPr>
            <p:ph type="subTitle" idx="1"/>
          </p:nvPr>
        </p:nvSpPr>
        <p:spPr>
          <a:xfrm>
            <a:off x="599226" y="5149400"/>
            <a:ext cx="4734774" cy="1235358"/>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72"/>
              <a:buNone/>
            </a:pPr>
            <a:r>
              <a:rPr lang="es-ES" b="1" dirty="0">
                <a:solidFill>
                  <a:schemeClr val="lt1"/>
                </a:solidFill>
              </a:rPr>
              <a:t>INTEGRANTES: 	Josué Marín</a:t>
            </a:r>
          </a:p>
          <a:p>
            <a:pPr marL="0" lvl="0" indent="0" algn="l" rtl="0">
              <a:lnSpc>
                <a:spcPct val="100000"/>
              </a:lnSpc>
              <a:spcBef>
                <a:spcPts val="0"/>
              </a:spcBef>
              <a:spcAft>
                <a:spcPts val="0"/>
              </a:spcAft>
              <a:buSzPts val="1472"/>
              <a:buNone/>
            </a:pPr>
            <a:r>
              <a:rPr lang="es-ES" b="1" dirty="0">
                <a:solidFill>
                  <a:schemeClr val="lt1"/>
                </a:solidFill>
              </a:rPr>
              <a:t>		</a:t>
            </a:r>
            <a:r>
              <a:rPr lang="es-ES" b="1" dirty="0" err="1">
                <a:solidFill>
                  <a:schemeClr val="lt1"/>
                </a:solidFill>
              </a:rPr>
              <a:t>Elkín</a:t>
            </a:r>
            <a:r>
              <a:rPr lang="es-ES" b="1" dirty="0">
                <a:solidFill>
                  <a:schemeClr val="lt1"/>
                </a:solidFill>
              </a:rPr>
              <a:t> Pabón</a:t>
            </a:r>
          </a:p>
          <a:p>
            <a:pPr marL="0" lvl="0" indent="0" algn="l" rtl="0">
              <a:lnSpc>
                <a:spcPct val="100000"/>
              </a:lnSpc>
              <a:spcBef>
                <a:spcPts val="0"/>
              </a:spcBef>
              <a:spcAft>
                <a:spcPts val="0"/>
              </a:spcAft>
              <a:buSzPts val="1472"/>
              <a:buNone/>
            </a:pPr>
            <a:r>
              <a:rPr lang="es-ES" b="1" dirty="0">
                <a:solidFill>
                  <a:schemeClr val="lt1"/>
                </a:solidFill>
              </a:rPr>
              <a:t>		Micaela Salcedo</a:t>
            </a:r>
            <a:endParaRPr dirty="0">
              <a:solidFill>
                <a:schemeClr val="lt1"/>
              </a:solidFill>
            </a:endParaRPr>
          </a:p>
        </p:txBody>
      </p:sp>
      <p:pic>
        <p:nvPicPr>
          <p:cNvPr id="102" name="Google Shape;102;p1" descr="Resultado de imagen para espe"/>
          <p:cNvPicPr preferRelativeResize="0"/>
          <p:nvPr/>
        </p:nvPicPr>
        <p:blipFill rotWithShape="1">
          <a:blip r:embed="rId3">
            <a:alphaModFix/>
          </a:blip>
          <a:srcRect/>
          <a:stretch/>
        </p:blipFill>
        <p:spPr>
          <a:xfrm>
            <a:off x="319597" y="716302"/>
            <a:ext cx="11647502" cy="2193925"/>
          </a:xfrm>
          <a:prstGeom prst="rect">
            <a:avLst/>
          </a:prstGeom>
          <a:noFill/>
          <a:ln>
            <a:noFill/>
          </a:ln>
        </p:spPr>
      </p:pic>
      <p:sp>
        <p:nvSpPr>
          <p:cNvPr id="103" name="Google Shape;103;p1"/>
          <p:cNvSpPr txBox="1"/>
          <p:nvPr/>
        </p:nvSpPr>
        <p:spPr>
          <a:xfrm>
            <a:off x="7874425" y="5149400"/>
            <a:ext cx="3718500" cy="1324800"/>
          </a:xfrm>
          <a:prstGeom prst="rect">
            <a:avLst/>
          </a:prstGeom>
          <a:noFill/>
          <a:ln>
            <a:noFill/>
          </a:ln>
        </p:spPr>
        <p:txBody>
          <a:bodyPr spcFirstLastPara="1" wrap="square" lIns="91425" tIns="45700" rIns="91425" bIns="45700" anchor="t" anchorCtr="0">
            <a:noAutofit/>
          </a:bodyPr>
          <a:lstStyle/>
          <a:p>
            <a:r>
              <a:rPr lang="es-ES" sz="1600" b="1" i="0" u="none" strike="noStrike" cap="none" dirty="0">
                <a:solidFill>
                  <a:schemeClr val="lt1"/>
                </a:solidFill>
                <a:latin typeface="Gill Sans"/>
                <a:ea typeface="Gill Sans"/>
                <a:cs typeface="Gill Sans"/>
                <a:sym typeface="Gill Sans"/>
              </a:rPr>
              <a:t>NRC:	</a:t>
            </a:r>
            <a:r>
              <a:rPr lang="es-EC" sz="1600">
                <a:solidFill>
                  <a:schemeClr val="lt1"/>
                </a:solidFill>
                <a:latin typeface="Gill Sans"/>
              </a:rPr>
              <a:t>30742</a:t>
            </a:r>
            <a:endParaRPr lang="es-EC" sz="1600" dirty="0">
              <a:solidFill>
                <a:schemeClr val="lt1"/>
              </a:solidFill>
              <a:latin typeface="Gill Sans"/>
            </a:endParaRPr>
          </a:p>
          <a:p>
            <a:pPr marL="0" marR="0" lvl="0" indent="0" algn="l" rtl="0">
              <a:lnSpc>
                <a:spcPct val="100000"/>
              </a:lnSpc>
              <a:spcBef>
                <a:spcPts val="920"/>
              </a:spcBef>
              <a:spcAft>
                <a:spcPts val="0"/>
              </a:spcAft>
              <a:buClr>
                <a:schemeClr val="accent2"/>
              </a:buClr>
              <a:buSzPts val="1472"/>
              <a:buFont typeface="Noto Sans Symbols"/>
              <a:buNone/>
            </a:pPr>
            <a:r>
              <a:rPr lang="es-ES" sz="1600" b="1" i="0" u="none" strike="noStrike" cap="none" dirty="0">
                <a:solidFill>
                  <a:schemeClr val="lt1"/>
                </a:solidFill>
                <a:latin typeface="Gill Sans"/>
                <a:ea typeface="Gill Sans"/>
                <a:cs typeface="Gill Sans"/>
                <a:sym typeface="Gill Sans"/>
              </a:rPr>
              <a:t>FECHA: </a:t>
            </a:r>
            <a:r>
              <a:rPr lang="es-ES" sz="1600" b="1" dirty="0">
                <a:solidFill>
                  <a:schemeClr val="lt1"/>
                </a:solidFill>
                <a:latin typeface="Gill Sans"/>
                <a:ea typeface="Gill Sans"/>
                <a:cs typeface="Gill Sans"/>
                <a:sym typeface="Gill Sans"/>
              </a:rPr>
              <a:t>09</a:t>
            </a:r>
            <a:r>
              <a:rPr lang="es-ES" sz="1600" b="1" i="0" u="none" strike="noStrike" cap="none" dirty="0">
                <a:solidFill>
                  <a:schemeClr val="lt1"/>
                </a:solidFill>
                <a:latin typeface="Gill Sans"/>
                <a:ea typeface="Gill Sans"/>
                <a:cs typeface="Gill Sans"/>
                <a:sym typeface="Gill Sans"/>
              </a:rPr>
              <a:t>/6/2026</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920"/>
              </a:spcBef>
              <a:spcAft>
                <a:spcPts val="0"/>
              </a:spcAft>
              <a:buClr>
                <a:schemeClr val="accent2"/>
              </a:buClr>
              <a:buSzPts val="1472"/>
              <a:buFont typeface="Noto Sans Symbols"/>
              <a:buNone/>
            </a:pPr>
            <a:r>
              <a:rPr lang="es-ES" sz="1600" b="1" i="0" u="none" strike="noStrike" cap="none" dirty="0">
                <a:solidFill>
                  <a:schemeClr val="lt1"/>
                </a:solidFill>
                <a:latin typeface="Gill Sans"/>
                <a:ea typeface="Gill Sans"/>
                <a:cs typeface="Gill Sans"/>
                <a:sym typeface="Gill Sans"/>
              </a:rPr>
              <a:t>TUTOR:	</a:t>
            </a:r>
            <a:r>
              <a:rPr lang="es-ES" sz="1600" b="0" i="0" u="none" strike="noStrike" cap="none" dirty="0">
                <a:solidFill>
                  <a:schemeClr val="lt1"/>
                </a:solidFill>
                <a:latin typeface="Gill Sans"/>
                <a:ea typeface="Gill Sans"/>
                <a:cs typeface="Gill Sans"/>
                <a:sym typeface="Gill Sans"/>
              </a:rPr>
              <a:t>ING. MAURICIO CAMPAÑA</a:t>
            </a:r>
            <a:endParaRPr sz="1600" b="1" i="0" u="none" strike="noStrike" cap="none" dirty="0">
              <a:solidFill>
                <a:schemeClr val="lt1"/>
              </a:solidFill>
              <a:latin typeface="Gill Sans"/>
              <a:ea typeface="Gill Sans"/>
              <a:cs typeface="Gill Sans"/>
              <a:sym typeface="Gill Sans"/>
            </a:endParaRPr>
          </a:p>
        </p:txBody>
      </p:sp>
      <p:sp>
        <p:nvSpPr>
          <p:cNvPr id="104" name="Google Shape;104;p1"/>
          <p:cNvSpPr txBox="1"/>
          <p:nvPr/>
        </p:nvSpPr>
        <p:spPr>
          <a:xfrm>
            <a:off x="11817675" y="6457890"/>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dk1"/>
                </a:solidFill>
                <a:latin typeface="Gill Sans"/>
                <a:ea typeface="Gill Sans"/>
                <a:cs typeface="Gill Sans"/>
                <a:sym typeface="Gill Sans"/>
              </a:rPr>
              <a:t>1</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F404549-B4DC-481C-926C-DED3EF1C5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14406"/>
            <a:ext cx="12192000" cy="624359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ill Sans MT" panose="020B0502020104020203"/>
              <a:ea typeface="+mn-ea"/>
              <a:cs typeface="+mn-cs"/>
            </a:endParaRPr>
          </a:p>
        </p:txBody>
      </p:sp>
      <p:sp>
        <p:nvSpPr>
          <p:cNvPr id="13" name="Rectangle 12">
            <a:extLst>
              <a:ext uri="{FF2B5EF4-FFF2-40B4-BE49-F238E27FC236}">
                <a16:creationId xmlns:a16="http://schemas.microsoft.com/office/drawing/2014/main" id="{1E8FD5CD-351E-4B06-8B78-BD5102D009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14407"/>
            <a:ext cx="3707477" cy="56117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pic>
        <p:nvPicPr>
          <p:cNvPr id="6" name="Picture 2" descr="Resultado de imagen para AGENDA PNG">
            <a:extLst>
              <a:ext uri="{FF2B5EF4-FFF2-40B4-BE49-F238E27FC236}">
                <a16:creationId xmlns:a16="http://schemas.microsoft.com/office/drawing/2014/main" id="{BEAB8E00-371D-4C0F-B6B7-9BEE622AFD7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791522" y="1935576"/>
            <a:ext cx="6489819" cy="3007477"/>
          </a:xfrm>
          <a:prstGeom prst="rect">
            <a:avLst/>
          </a:prstGeom>
          <a:noFill/>
          <a:extLst>
            <a:ext uri="{909E8E84-426E-40DD-AFC4-6F175D3DCCD1}">
              <a14:hiddenFill xmlns:a14="http://schemas.microsoft.com/office/drawing/2010/main">
                <a:solidFill>
                  <a:srgbClr val="FFFFFF"/>
                </a:solidFill>
              </a14:hiddenFill>
            </a:ext>
          </a:extLst>
        </p:spPr>
      </p:pic>
      <p:sp>
        <p:nvSpPr>
          <p:cNvPr id="9" name="CuadroTexto 8">
            <a:extLst>
              <a:ext uri="{FF2B5EF4-FFF2-40B4-BE49-F238E27FC236}">
                <a16:creationId xmlns:a16="http://schemas.microsoft.com/office/drawing/2014/main" id="{2A76E918-E1AF-47F5-B0A9-06C8BD2DAC04}"/>
              </a:ext>
            </a:extLst>
          </p:cNvPr>
          <p:cNvSpPr txBox="1"/>
          <p:nvPr/>
        </p:nvSpPr>
        <p:spPr>
          <a:xfrm>
            <a:off x="11817675" y="6474048"/>
            <a:ext cx="374325"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C" sz="2000" b="0" i="0" u="none" strike="noStrike" kern="1200" cap="none" spc="0" normalizeH="0" baseline="0" noProof="0" dirty="0">
                <a:ln>
                  <a:noFill/>
                </a:ln>
                <a:solidFill>
                  <a:prstClr val="black"/>
                </a:solidFill>
                <a:effectLst/>
                <a:uLnTx/>
                <a:uFillTx/>
                <a:latin typeface="Gill Sans MT" panose="020B0502020104020203"/>
                <a:ea typeface="+mn-ea"/>
                <a:cs typeface="+mn-cs"/>
              </a:rPr>
              <a:t>2</a:t>
            </a:r>
          </a:p>
        </p:txBody>
      </p:sp>
      <p:sp>
        <p:nvSpPr>
          <p:cNvPr id="4" name="Marcador de contenido 3">
            <a:extLst>
              <a:ext uri="{FF2B5EF4-FFF2-40B4-BE49-F238E27FC236}">
                <a16:creationId xmlns:a16="http://schemas.microsoft.com/office/drawing/2014/main" id="{4E5DAD8D-78EC-4876-B3A0-827FDB8F01B4}"/>
              </a:ext>
            </a:extLst>
          </p:cNvPr>
          <p:cNvSpPr>
            <a:spLocks noGrp="1"/>
          </p:cNvSpPr>
          <p:nvPr>
            <p:ph idx="1"/>
          </p:nvPr>
        </p:nvSpPr>
        <p:spPr/>
        <p:txBody>
          <a:bodyPr/>
          <a:lstStyle/>
          <a:p>
            <a:endParaRPr lang="es-EC"/>
          </a:p>
        </p:txBody>
      </p:sp>
      <p:sp>
        <p:nvSpPr>
          <p:cNvPr id="10" name="Google Shape;123;p3">
            <a:extLst>
              <a:ext uri="{FF2B5EF4-FFF2-40B4-BE49-F238E27FC236}">
                <a16:creationId xmlns:a16="http://schemas.microsoft.com/office/drawing/2014/main" id="{58CE1DDB-898D-4654-8416-337FF5545B71}"/>
              </a:ext>
            </a:extLst>
          </p:cNvPr>
          <p:cNvSpPr/>
          <p:nvPr/>
        </p:nvSpPr>
        <p:spPr>
          <a:xfrm>
            <a:off x="442377" y="667132"/>
            <a:ext cx="3707477" cy="5576461"/>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marR="0" lvl="0" indent="-361950" algn="l" rtl="0">
              <a:lnSpc>
                <a:spcPct val="100000"/>
              </a:lnSpc>
              <a:spcBef>
                <a:spcPts val="0"/>
              </a:spcBef>
              <a:spcAft>
                <a:spcPts val="0"/>
              </a:spcAft>
              <a:buClr>
                <a:srgbClr val="FFFF00"/>
              </a:buClr>
              <a:buSzPts val="2100"/>
              <a:buFont typeface="Noto Sans Symbols"/>
              <a:buChar char="◼"/>
            </a:pPr>
            <a:r>
              <a:rPr lang="es-ES" sz="2100" b="1" i="0" u="none" strike="noStrike" cap="none" dirty="0">
                <a:solidFill>
                  <a:schemeClr val="bg1"/>
                </a:solidFill>
                <a:latin typeface="Calibri"/>
                <a:ea typeface="Calibri"/>
                <a:cs typeface="Calibri"/>
                <a:sym typeface="Calibri"/>
              </a:rPr>
              <a:t>INTRODUCCIÓN</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OBJETIVO</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MARCO TEÓRICO</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Calibri"/>
              <a:buChar char="◼"/>
            </a:pPr>
            <a:r>
              <a:rPr lang="es-ES" sz="2100" b="1" i="0" u="none" strike="noStrike" cap="none" dirty="0">
                <a:solidFill>
                  <a:schemeClr val="lt1"/>
                </a:solidFill>
                <a:latin typeface="Calibri"/>
                <a:ea typeface="Calibri"/>
                <a:cs typeface="Calibri"/>
                <a:sym typeface="Calibri"/>
              </a:rPr>
              <a:t>DESARROLLO</a:t>
            </a:r>
            <a:endParaRPr dirty="0"/>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CONCLUSIONES</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RECOMENDACIONES</a:t>
            </a:r>
            <a:endParaRPr sz="1400" b="0" i="0" u="none" strike="noStrike" cap="none" dirty="0">
              <a:solidFill>
                <a:schemeClr val="dk1"/>
              </a:solidFill>
              <a:latin typeface="Arial"/>
              <a:ea typeface="Arial"/>
              <a:cs typeface="Arial"/>
              <a:sym typeface="Aria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BIBLIOGRAFÍA </a:t>
            </a:r>
            <a:endParaRPr sz="2100" b="1" i="0" u="none" strike="noStrike" cap="none" dirty="0">
              <a:solidFill>
                <a:srgbClr val="FFFF00"/>
              </a:solidFill>
              <a:latin typeface="Calibri"/>
              <a:ea typeface="Calibri"/>
              <a:cs typeface="Calibri"/>
              <a:sym typeface="Calibri"/>
            </a:endParaRPr>
          </a:p>
        </p:txBody>
      </p:sp>
    </p:spTree>
    <p:extLst>
      <p:ext uri="{BB962C8B-B14F-4D97-AF65-F5344CB8AC3E}">
        <p14:creationId xmlns:p14="http://schemas.microsoft.com/office/powerpoint/2010/main" val="749377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115" name="Google Shape;115;p3" descr="Imagen que contiene electrónica, circuito&#10;&#10;Descripción generada automáticamente"/>
          <p:cNvPicPr preferRelativeResize="0"/>
          <p:nvPr/>
        </p:nvPicPr>
        <p:blipFill rotWithShape="1">
          <a:blip r:embed="rId3">
            <a:alphaModFix amt="35000"/>
          </a:blip>
          <a:srcRect t="15730"/>
          <a:stretch/>
        </p:blipFill>
        <p:spPr>
          <a:xfrm>
            <a:off x="20" y="10"/>
            <a:ext cx="12191980" cy="6857990"/>
          </a:xfrm>
          <a:prstGeom prst="rect">
            <a:avLst/>
          </a:prstGeom>
          <a:noFill/>
          <a:ln>
            <a:noFill/>
          </a:ln>
        </p:spPr>
      </p:pic>
      <p:sp>
        <p:nvSpPr>
          <p:cNvPr id="116" name="Google Shape;116;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INTRODUCCIÓN</a:t>
            </a:r>
            <a:endParaRPr/>
          </a:p>
        </p:txBody>
      </p:sp>
      <p:grpSp>
        <p:nvGrpSpPr>
          <p:cNvPr id="118" name="Google Shape;118;p3"/>
          <p:cNvGrpSpPr/>
          <p:nvPr/>
        </p:nvGrpSpPr>
        <p:grpSpPr>
          <a:xfrm>
            <a:off x="446534" y="453643"/>
            <a:ext cx="11298933" cy="98554"/>
            <a:chOff x="446534" y="453643"/>
            <a:chExt cx="11298933" cy="98554"/>
          </a:xfrm>
        </p:grpSpPr>
        <p:sp>
          <p:nvSpPr>
            <p:cNvPr id="119" name="Google Shape;119;p3"/>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3"/>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2" name="Google Shape;122;p3"/>
          <p:cNvSpPr txBox="1">
            <a:spLocks noGrp="1"/>
          </p:cNvSpPr>
          <p:nvPr>
            <p:ph type="body" idx="1"/>
          </p:nvPr>
        </p:nvSpPr>
        <p:spPr>
          <a:xfrm>
            <a:off x="397408" y="1865915"/>
            <a:ext cx="8620500" cy="4788103"/>
          </a:xfrm>
          <a:prstGeom prst="rect">
            <a:avLst/>
          </a:prstGeom>
          <a:noFill/>
          <a:ln>
            <a:noFill/>
          </a:ln>
        </p:spPr>
        <p:txBody>
          <a:bodyPr spcFirstLastPara="1" wrap="square" lIns="91425" tIns="45700" rIns="91425" bIns="45700" anchor="ctr" anchorCtr="0">
            <a:normAutofit fontScale="62500" lnSpcReduction="20000"/>
          </a:bodyPr>
          <a:lstStyle/>
          <a:p>
            <a:pPr marL="274320">
              <a:lnSpc>
                <a:spcPct val="115000"/>
              </a:lnSpc>
            </a:pPr>
            <a:r>
              <a:rPr lang="es-EC" sz="1800" dirty="0">
                <a:effectLst/>
                <a:latin typeface="Times New Roman" panose="02020603050405020304" pitchFamily="18" charset="0"/>
                <a:ea typeface="Times New Roman" panose="02020603050405020304" pitchFamily="18" charset="0"/>
                <a:cs typeface="Times New Roman" panose="02020603050405020304" pitchFamily="18" charset="0"/>
              </a:rPr>
              <a:t>En la actualidad, las organizaciones y empresas dependen de sistemas informáticos capaces de intercambiar información de manera rápida, segura y eficiente entre diferentes plataformas tecnológicas. Debido al crecimiento de las aplicaciones distribuidas y al uso de múltiples dispositivos conectados a internet, surge la necesidad de implementar mecanismos de comunicación estandarizados que permitan integrar sistemas desarrollados en distintos lenguajes de programación y ejecutados sobre diferentes entornos operativos. Dentro de este contexto, los servicios web representan una de las soluciones más utilizadas para lograr interoperabilidad entre aplicaciones.</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274320">
              <a:lnSpc>
                <a:spcPct val="115000"/>
              </a:lnSpc>
            </a:pPr>
            <a:r>
              <a:rPr lang="es-EC" sz="1800" dirty="0">
                <a:effectLst/>
                <a:latin typeface="Times New Roman" panose="02020603050405020304" pitchFamily="18" charset="0"/>
                <a:ea typeface="Times New Roman" panose="02020603050405020304" pitchFamily="18" charset="0"/>
                <a:cs typeface="Times New Roman" panose="02020603050405020304" pitchFamily="18" charset="0"/>
              </a:rPr>
              <a:t>Los servicios web permiten que diferentes sistemas puedan comunicarse entre sí mediante protocolos estándar de red, facilitando el intercambio de datos y funcionalidades a través de internet o redes locales. Gracias a esto, una aplicación puede consumir información o ejecutar procesos que se encuentran alojados en otro servidor sin necesidad de conocer detalles internos de su implementación. Este enfoque favorece la reutilización de componentes, la modularidad del software y la integración entre aplicaciones heterogéneas.</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274320">
              <a:lnSpc>
                <a:spcPct val="115000"/>
              </a:lnSpc>
            </a:pPr>
            <a:r>
              <a:rPr lang="es-EC" sz="1800" dirty="0">
                <a:effectLst/>
                <a:latin typeface="Times New Roman" panose="02020603050405020304" pitchFamily="18" charset="0"/>
                <a:ea typeface="Times New Roman" panose="02020603050405020304" pitchFamily="18" charset="0"/>
                <a:cs typeface="Times New Roman" panose="02020603050405020304" pitchFamily="18" charset="0"/>
              </a:rPr>
              <a:t>Entre las distintas arquitecturas utilizadas para el desarrollo de servicios web, </a:t>
            </a:r>
            <a:r>
              <a:rPr lang="es-EC" sz="1800" dirty="0" err="1">
                <a:effectLst/>
                <a:latin typeface="Times New Roman" panose="02020603050405020304" pitchFamily="18" charset="0"/>
                <a:ea typeface="Times New Roman" panose="02020603050405020304" pitchFamily="18" charset="0"/>
                <a:cs typeface="Times New Roman" panose="02020603050405020304" pitchFamily="18" charset="0"/>
              </a:rPr>
              <a:t>RESTful</a:t>
            </a:r>
            <a:r>
              <a:rPr lang="es-EC" sz="1800" dirty="0">
                <a:effectLst/>
                <a:latin typeface="Times New Roman" panose="02020603050405020304" pitchFamily="18" charset="0"/>
                <a:ea typeface="Times New Roman" panose="02020603050405020304" pitchFamily="18" charset="0"/>
                <a:cs typeface="Times New Roman" panose="02020603050405020304" pitchFamily="18" charset="0"/>
              </a:rPr>
              <a:t> se ha convertido en una de las más utilizadas debido a su simplicidad, flexibilidad y compatibilidad con tecnologías modernas. REST (</a:t>
            </a:r>
            <a:r>
              <a:rPr lang="es-EC" sz="1800" dirty="0" err="1">
                <a:effectLst/>
                <a:latin typeface="Times New Roman" panose="02020603050405020304" pitchFamily="18" charset="0"/>
                <a:ea typeface="Times New Roman" panose="02020603050405020304" pitchFamily="18" charset="0"/>
                <a:cs typeface="Times New Roman" panose="02020603050405020304" pitchFamily="18" charset="0"/>
              </a:rPr>
              <a:t>Representational</a:t>
            </a:r>
            <a:r>
              <a:rPr lang="es-EC"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s-EC" sz="1800" dirty="0" err="1">
                <a:effectLst/>
                <a:latin typeface="Times New Roman" panose="02020603050405020304" pitchFamily="18" charset="0"/>
                <a:ea typeface="Times New Roman" panose="02020603050405020304" pitchFamily="18" charset="0"/>
                <a:cs typeface="Times New Roman" panose="02020603050405020304" pitchFamily="18" charset="0"/>
              </a:rPr>
              <a:t>State</a:t>
            </a:r>
            <a:r>
              <a:rPr lang="es-EC" sz="1800" dirty="0">
                <a:effectLst/>
                <a:latin typeface="Times New Roman" panose="02020603050405020304" pitchFamily="18" charset="0"/>
                <a:ea typeface="Times New Roman" panose="02020603050405020304" pitchFamily="18" charset="0"/>
                <a:cs typeface="Times New Roman" panose="02020603050405020304" pitchFamily="18" charset="0"/>
              </a:rPr>
              <a:t> Transfer) es un estilo de arquitectura basado en el protocolo HTTP que organiza las funcionalidades del sistema mediante recursos accesibles a través de </a:t>
            </a:r>
            <a:r>
              <a:rPr lang="es-EC" sz="1800" dirty="0" err="1">
                <a:effectLst/>
                <a:latin typeface="Times New Roman" panose="02020603050405020304" pitchFamily="18" charset="0"/>
                <a:ea typeface="Times New Roman" panose="02020603050405020304" pitchFamily="18" charset="0"/>
                <a:cs typeface="Times New Roman" panose="02020603050405020304" pitchFamily="18" charset="0"/>
              </a:rPr>
              <a:t>URLs</a:t>
            </a:r>
            <a:r>
              <a:rPr lang="es-EC" sz="1800" dirty="0">
                <a:effectLst/>
                <a:latin typeface="Times New Roman" panose="02020603050405020304" pitchFamily="18" charset="0"/>
                <a:ea typeface="Times New Roman" panose="02020603050405020304" pitchFamily="18" charset="0"/>
                <a:cs typeface="Times New Roman" panose="02020603050405020304" pitchFamily="18" charset="0"/>
              </a:rPr>
              <a:t>. A diferencia de arquitecturas tradicionales como SOAP, </a:t>
            </a:r>
            <a:r>
              <a:rPr lang="es-EC" sz="1800" dirty="0" err="1">
                <a:effectLst/>
                <a:latin typeface="Times New Roman" panose="02020603050405020304" pitchFamily="18" charset="0"/>
                <a:ea typeface="Times New Roman" panose="02020603050405020304" pitchFamily="18" charset="0"/>
                <a:cs typeface="Times New Roman" panose="02020603050405020304" pitchFamily="18" charset="0"/>
              </a:rPr>
              <a:t>RESTful</a:t>
            </a:r>
            <a:r>
              <a:rPr lang="es-EC" sz="1800" dirty="0">
                <a:effectLst/>
                <a:latin typeface="Times New Roman" panose="02020603050405020304" pitchFamily="18" charset="0"/>
                <a:ea typeface="Times New Roman" panose="02020603050405020304" pitchFamily="18" charset="0"/>
                <a:cs typeface="Times New Roman" panose="02020603050405020304" pitchFamily="18" charset="0"/>
              </a:rPr>
              <a:t> utiliza operaciones HTTP como GET, POST, PUT y DELETE para realizar operaciones sobre los recursos, permitiendo un intercambio de información más ligero y eficiente, generalmente en formato JSON.</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274320">
              <a:lnSpc>
                <a:spcPct val="115000"/>
              </a:lnSpc>
            </a:pPr>
            <a:r>
              <a:rPr lang="es-EC" sz="1800" dirty="0">
                <a:effectLst/>
                <a:latin typeface="Times New Roman" panose="02020603050405020304" pitchFamily="18" charset="0"/>
                <a:ea typeface="Times New Roman" panose="02020603050405020304" pitchFamily="18" charset="0"/>
                <a:cs typeface="Times New Roman" panose="02020603050405020304" pitchFamily="18" charset="0"/>
              </a:rPr>
              <a:t>La arquitectura </a:t>
            </a:r>
            <a:r>
              <a:rPr lang="es-EC" sz="1800" dirty="0" err="1">
                <a:effectLst/>
                <a:latin typeface="Times New Roman" panose="02020603050405020304" pitchFamily="18" charset="0"/>
                <a:ea typeface="Times New Roman" panose="02020603050405020304" pitchFamily="18" charset="0"/>
                <a:cs typeface="Times New Roman" panose="02020603050405020304" pitchFamily="18" charset="0"/>
              </a:rPr>
              <a:t>RESTful</a:t>
            </a:r>
            <a:r>
              <a:rPr lang="es-EC" sz="1800" dirty="0">
                <a:effectLst/>
                <a:latin typeface="Times New Roman" panose="02020603050405020304" pitchFamily="18" charset="0"/>
                <a:ea typeface="Times New Roman" panose="02020603050405020304" pitchFamily="18" charset="0"/>
                <a:cs typeface="Times New Roman" panose="02020603050405020304" pitchFamily="18" charset="0"/>
              </a:rPr>
              <a:t> se caracteriza por ser escalable, sencilla de implementar y fácil de consumir desde diferentes tipos de clientes, tales como aplicaciones web, aplicaciones móviles, clientes de escritorio o aplicaciones de consola. Debido a estas ventajas, actualmente es ampliamente utilizada en el desarrollo de </a:t>
            </a:r>
            <a:r>
              <a:rPr lang="es-EC" sz="1800" dirty="0" err="1">
                <a:effectLst/>
                <a:latin typeface="Times New Roman" panose="02020603050405020304" pitchFamily="18" charset="0"/>
                <a:ea typeface="Times New Roman" panose="02020603050405020304" pitchFamily="18" charset="0"/>
                <a:cs typeface="Times New Roman" panose="02020603050405020304" pitchFamily="18" charset="0"/>
              </a:rPr>
              <a:t>APIs</a:t>
            </a:r>
            <a:r>
              <a:rPr lang="es-EC" sz="1800" dirty="0">
                <a:effectLst/>
                <a:latin typeface="Times New Roman" panose="02020603050405020304" pitchFamily="18" charset="0"/>
                <a:ea typeface="Times New Roman" panose="02020603050405020304" pitchFamily="18" charset="0"/>
                <a:cs typeface="Times New Roman" panose="02020603050405020304" pitchFamily="18" charset="0"/>
              </a:rPr>
              <a:t> modernas y sistemas distribuidos. Además, </a:t>
            </a:r>
            <a:r>
              <a:rPr lang="es-EC" sz="1800" dirty="0" err="1">
                <a:effectLst/>
                <a:latin typeface="Times New Roman" panose="02020603050405020304" pitchFamily="18" charset="0"/>
                <a:ea typeface="Times New Roman" panose="02020603050405020304" pitchFamily="18" charset="0"/>
                <a:cs typeface="Times New Roman" panose="02020603050405020304" pitchFamily="18" charset="0"/>
              </a:rPr>
              <a:t>RESTful</a:t>
            </a:r>
            <a:r>
              <a:rPr lang="es-EC" sz="1800" dirty="0">
                <a:effectLst/>
                <a:latin typeface="Times New Roman" panose="02020603050405020304" pitchFamily="18" charset="0"/>
                <a:ea typeface="Times New Roman" panose="02020603050405020304" pitchFamily="18" charset="0"/>
                <a:cs typeface="Times New Roman" panose="02020603050405020304" pitchFamily="18" charset="0"/>
              </a:rPr>
              <a:t> facilita la separación entre el cliente y el servidor, permitiendo que ambos evolucionen de forma independiente mientras mantengan el mismo contrato de comunicación basado en </a:t>
            </a:r>
            <a:r>
              <a:rPr lang="es-EC" sz="1800" dirty="0" err="1">
                <a:effectLst/>
                <a:latin typeface="Times New Roman" panose="02020603050405020304" pitchFamily="18" charset="0"/>
                <a:ea typeface="Times New Roman" panose="02020603050405020304" pitchFamily="18" charset="0"/>
                <a:cs typeface="Times New Roman" panose="02020603050405020304" pitchFamily="18" charset="0"/>
              </a:rPr>
              <a:t>endpoints</a:t>
            </a:r>
            <a:r>
              <a:rPr lang="es-EC" sz="1800" dirty="0">
                <a:effectLst/>
                <a:latin typeface="Times New Roman" panose="02020603050405020304" pitchFamily="18" charset="0"/>
                <a:ea typeface="Times New Roman" panose="02020603050405020304" pitchFamily="18" charset="0"/>
                <a:cs typeface="Times New Roman" panose="02020603050405020304" pitchFamily="18" charset="0"/>
              </a:rPr>
              <a:t> y respuestas estructuradas.</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274320">
              <a:lnSpc>
                <a:spcPct val="115000"/>
              </a:lnSpc>
              <a:spcAft>
                <a:spcPts val="1000"/>
              </a:spcAft>
            </a:pPr>
            <a:r>
              <a:rPr lang="es-EC" sz="1800" dirty="0">
                <a:effectLst/>
                <a:latin typeface="Times New Roman" panose="02020603050405020304" pitchFamily="18" charset="0"/>
                <a:ea typeface="Times New Roman" panose="02020603050405020304" pitchFamily="18" charset="0"/>
                <a:cs typeface="Times New Roman" panose="02020603050405020304" pitchFamily="18" charset="0"/>
              </a:rPr>
              <a:t>En el presente proyecto se desarrolla un servicio web </a:t>
            </a:r>
            <a:r>
              <a:rPr lang="es-EC" sz="1800" dirty="0" err="1">
                <a:effectLst/>
                <a:latin typeface="Times New Roman" panose="02020603050405020304" pitchFamily="18" charset="0"/>
                <a:ea typeface="Times New Roman" panose="02020603050405020304" pitchFamily="18" charset="0"/>
                <a:cs typeface="Times New Roman" panose="02020603050405020304" pitchFamily="18" charset="0"/>
              </a:rPr>
              <a:t>RESTful</a:t>
            </a:r>
            <a:r>
              <a:rPr lang="es-EC" sz="1800" dirty="0">
                <a:effectLst/>
                <a:latin typeface="Times New Roman" panose="02020603050405020304" pitchFamily="18" charset="0"/>
                <a:ea typeface="Times New Roman" panose="02020603050405020304" pitchFamily="18" charset="0"/>
                <a:cs typeface="Times New Roman" panose="02020603050405020304" pitchFamily="18" charset="0"/>
              </a:rPr>
              <a:t> denominado, implementado utilizando Java y el </a:t>
            </a:r>
            <a:r>
              <a:rPr lang="es-EC" sz="1800" dirty="0" err="1">
                <a:effectLst/>
                <a:latin typeface="Times New Roman" panose="02020603050405020304" pitchFamily="18" charset="0"/>
                <a:ea typeface="Times New Roman" panose="02020603050405020304" pitchFamily="18" charset="0"/>
                <a:cs typeface="Times New Roman" panose="02020603050405020304" pitchFamily="18" charset="0"/>
              </a:rPr>
              <a:t>framework</a:t>
            </a:r>
            <a:r>
              <a:rPr lang="es-EC" sz="1800" dirty="0">
                <a:effectLst/>
                <a:latin typeface="Times New Roman" panose="02020603050405020304" pitchFamily="18" charset="0"/>
                <a:ea typeface="Times New Roman" panose="02020603050405020304" pitchFamily="18" charset="0"/>
                <a:cs typeface="Times New Roman" panose="02020603050405020304" pitchFamily="18" charset="0"/>
              </a:rPr>
              <a:t> Spring </a:t>
            </a:r>
            <a:r>
              <a:rPr lang="es-EC" sz="1800" dirty="0" err="1">
                <a:effectLst/>
                <a:latin typeface="Times New Roman" panose="02020603050405020304" pitchFamily="18" charset="0"/>
                <a:ea typeface="Times New Roman" panose="02020603050405020304" pitchFamily="18" charset="0"/>
                <a:cs typeface="Times New Roman" panose="02020603050405020304" pitchFamily="18" charset="0"/>
              </a:rPr>
              <a:t>Boot</a:t>
            </a:r>
            <a:r>
              <a:rPr lang="es-EC" sz="1800" dirty="0">
                <a:effectLst/>
                <a:latin typeface="Times New Roman" panose="02020603050405020304" pitchFamily="18" charset="0"/>
                <a:ea typeface="Times New Roman" panose="02020603050405020304" pitchFamily="18" charset="0"/>
                <a:cs typeface="Times New Roman" panose="02020603050405020304" pitchFamily="18" charset="0"/>
              </a:rPr>
              <a:t>. El objetivo principal del sistema es exponer operaciones relacionadas con conversiones de unidades de longitud, masa y temperatura, permitiendo que diferentes clientes consuman dichas funcionalidades mediante solicitudes HTTP. Spring </a:t>
            </a:r>
            <a:r>
              <a:rPr lang="es-EC" sz="1800" dirty="0" err="1">
                <a:effectLst/>
                <a:latin typeface="Times New Roman" panose="02020603050405020304" pitchFamily="18" charset="0"/>
                <a:ea typeface="Times New Roman" panose="02020603050405020304" pitchFamily="18" charset="0"/>
                <a:cs typeface="Times New Roman" panose="02020603050405020304" pitchFamily="18" charset="0"/>
              </a:rPr>
              <a:t>Boot</a:t>
            </a:r>
            <a:r>
              <a:rPr lang="es-EC" sz="1800" dirty="0">
                <a:effectLst/>
                <a:latin typeface="Times New Roman" panose="02020603050405020304" pitchFamily="18" charset="0"/>
                <a:ea typeface="Times New Roman" panose="02020603050405020304" pitchFamily="18" charset="0"/>
                <a:cs typeface="Times New Roman" panose="02020603050405020304" pitchFamily="18" charset="0"/>
              </a:rPr>
              <a:t> proporciona una estructura robusta para la creación de servicios web, simplificando la configuración y facilitando el desarrollo de aplicaciones empresariales basadas en Java.</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23" name="Google Shape;123;p3"/>
          <p:cNvSpPr/>
          <p:nvPr/>
        </p:nvSpPr>
        <p:spPr>
          <a:xfrm>
            <a:off x="9267468" y="-1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marR="0" lvl="0" indent="-361950" algn="l" rtl="0">
              <a:lnSpc>
                <a:spcPct val="100000"/>
              </a:lnSpc>
              <a:spcBef>
                <a:spcPts val="0"/>
              </a:spcBef>
              <a:spcAft>
                <a:spcPts val="0"/>
              </a:spcAft>
              <a:buClr>
                <a:srgbClr val="FFFF00"/>
              </a:buClr>
              <a:buSzPts val="2100"/>
              <a:buFont typeface="Noto Sans Symbols"/>
              <a:buChar char="◼"/>
            </a:pPr>
            <a:r>
              <a:rPr lang="es-ES" sz="2100" b="1" i="0" u="none" strike="noStrike" cap="none" dirty="0">
                <a:solidFill>
                  <a:srgbClr val="FFFF00"/>
                </a:solidFill>
                <a:latin typeface="Calibri"/>
                <a:ea typeface="Calibri"/>
                <a:cs typeface="Calibri"/>
                <a:sym typeface="Calibri"/>
              </a:rPr>
              <a:t>INTRODUCCIÓN</a:t>
            </a:r>
            <a:endParaRPr sz="2100" b="1" i="0" u="none" strike="noStrike" cap="none" dirty="0">
              <a:solidFill>
                <a:srgbClr val="FFFF00"/>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OBJETIVO</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MARCO TEÓRICO</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Calibri"/>
              <a:buChar char="◼"/>
            </a:pPr>
            <a:r>
              <a:rPr lang="es-ES" sz="2100" b="1" i="0" u="none" strike="noStrike" cap="none" dirty="0">
                <a:solidFill>
                  <a:schemeClr val="lt1"/>
                </a:solidFill>
                <a:latin typeface="Calibri"/>
                <a:ea typeface="Calibri"/>
                <a:cs typeface="Calibri"/>
                <a:sym typeface="Calibri"/>
              </a:rPr>
              <a:t>DESARROLLO</a:t>
            </a:r>
            <a:endParaRPr dirty="0"/>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CONCLUSIONES</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RECOMENDACIONES</a:t>
            </a:r>
            <a:endParaRPr sz="1400" b="0" i="0" u="none" strike="noStrike" cap="none" dirty="0">
              <a:solidFill>
                <a:schemeClr val="dk1"/>
              </a:solidFill>
              <a:latin typeface="Arial"/>
              <a:ea typeface="Arial"/>
              <a:cs typeface="Arial"/>
              <a:sym typeface="Aria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BIBLIOGRAFÍA </a:t>
            </a:r>
            <a:endParaRPr sz="2100" b="1" i="0" u="none" strike="noStrike" cap="none" dirty="0">
              <a:solidFill>
                <a:srgbClr val="FFFF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115" name="Google Shape;115;p3" descr="Imagen que contiene electrónica, circuito&#10;&#10;Descripción generada automáticamente"/>
          <p:cNvPicPr preferRelativeResize="0"/>
          <p:nvPr/>
        </p:nvPicPr>
        <p:blipFill rotWithShape="1">
          <a:blip r:embed="rId3">
            <a:alphaModFix amt="35000"/>
          </a:blip>
          <a:srcRect t="15730"/>
          <a:stretch/>
        </p:blipFill>
        <p:spPr>
          <a:xfrm>
            <a:off x="20" y="10"/>
            <a:ext cx="12191980" cy="6857990"/>
          </a:xfrm>
          <a:prstGeom prst="rect">
            <a:avLst/>
          </a:prstGeom>
          <a:noFill/>
          <a:ln>
            <a:noFill/>
          </a:ln>
        </p:spPr>
      </p:pic>
      <p:sp>
        <p:nvSpPr>
          <p:cNvPr id="116" name="Google Shape;116;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OBJETIVOS</a:t>
            </a:r>
          </a:p>
        </p:txBody>
      </p:sp>
      <p:grpSp>
        <p:nvGrpSpPr>
          <p:cNvPr id="118" name="Google Shape;118;p3"/>
          <p:cNvGrpSpPr/>
          <p:nvPr/>
        </p:nvGrpSpPr>
        <p:grpSpPr>
          <a:xfrm>
            <a:off x="446534" y="453643"/>
            <a:ext cx="11298933" cy="98554"/>
            <a:chOff x="446534" y="453643"/>
            <a:chExt cx="11298933" cy="98554"/>
          </a:xfrm>
        </p:grpSpPr>
        <p:sp>
          <p:nvSpPr>
            <p:cNvPr id="119" name="Google Shape;119;p3"/>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3"/>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2" name="Google Shape;122;p3"/>
          <p:cNvSpPr txBox="1">
            <a:spLocks noGrp="1"/>
          </p:cNvSpPr>
          <p:nvPr>
            <p:ph type="body" idx="1"/>
          </p:nvPr>
        </p:nvSpPr>
        <p:spPr>
          <a:xfrm>
            <a:off x="397408" y="1865915"/>
            <a:ext cx="8620500" cy="4788103"/>
          </a:xfrm>
          <a:prstGeom prst="rect">
            <a:avLst/>
          </a:prstGeom>
          <a:noFill/>
          <a:ln>
            <a:noFill/>
          </a:ln>
        </p:spPr>
        <p:txBody>
          <a:bodyPr spcFirstLastPara="1" wrap="square" lIns="91425" tIns="45700" rIns="91425" bIns="45700" anchor="ctr" anchorCtr="0">
            <a:normAutofit/>
          </a:bodyPr>
          <a:lstStyle/>
          <a:p>
            <a:pPr algn="just">
              <a:lnSpc>
                <a:spcPct val="115000"/>
              </a:lnSpc>
              <a:spcAft>
                <a:spcPts val="1000"/>
              </a:spcAft>
            </a:pPr>
            <a:r>
              <a:rPr lang="es-EC"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Desarrollar un servicio web </a:t>
            </a:r>
            <a:r>
              <a:rPr lang="es-EC" sz="1800" dirty="0" err="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RESTful</a:t>
            </a:r>
            <a:r>
              <a:rPr lang="es-EC"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en .NET denominado CONUNI, capaz de exponer operaciones de conversión de unidades de longitud, masa y temperatura, incorporando un mecanismo de autenticación basado en un archivo plano de credenciales y permitiendo su consumo desde clientes de consola, escritorio, web y móvil mediante protocolos HTTP y respuestas en formato JSON.</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342900" lvl="0" indent="-342900">
              <a:lnSpc>
                <a:spcPct val="115000"/>
              </a:lnSpc>
              <a:spcBef>
                <a:spcPts val="1000"/>
              </a:spcBef>
              <a:buFont typeface="+mj-lt"/>
              <a:buAutoNum type="arabicPeriod"/>
            </a:pPr>
            <a:r>
              <a:rPr lang="es-419"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Objetivo específico  </a:t>
            </a:r>
            <a:endParaRPr lang="es-EC"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marL="342900" lvl="0" indent="-342900">
              <a:lnSpc>
                <a:spcPct val="115000"/>
              </a:lnSpc>
              <a:buFont typeface="Symbol" panose="05050102010706020507" pitchFamily="18" charset="2"/>
              <a:buChar char=""/>
            </a:pPr>
            <a:r>
              <a:rPr lang="es-EC" sz="1800" dirty="0">
                <a:effectLst/>
                <a:latin typeface="Calibri" panose="020F0502020204030204" pitchFamily="34" charset="0"/>
                <a:ea typeface="MS Mincho" panose="02020609040205080304" pitchFamily="49" charset="-128"/>
                <a:cs typeface="Calibri" panose="020F0502020204030204" pitchFamily="34" charset="0"/>
              </a:rPr>
              <a:t>Implementar un servidor </a:t>
            </a:r>
            <a:r>
              <a:rPr lang="es-EC" sz="1800" dirty="0" err="1">
                <a:effectLst/>
                <a:latin typeface="Calibri" panose="020F0502020204030204" pitchFamily="34" charset="0"/>
                <a:ea typeface="MS Mincho" panose="02020609040205080304" pitchFamily="49" charset="-128"/>
                <a:cs typeface="Calibri" panose="020F0502020204030204" pitchFamily="34" charset="0"/>
              </a:rPr>
              <a:t>RESTful</a:t>
            </a:r>
            <a:r>
              <a:rPr lang="es-EC" sz="1800" dirty="0">
                <a:effectLst/>
                <a:latin typeface="Calibri" panose="020F0502020204030204" pitchFamily="34" charset="0"/>
                <a:ea typeface="MS Mincho" panose="02020609040205080304" pitchFamily="49" charset="-128"/>
                <a:cs typeface="Calibri" panose="020F0502020204030204" pitchFamily="34" charset="0"/>
              </a:rPr>
              <a:t> utilizando ASP.NET Core Web API para publicar </a:t>
            </a:r>
            <a:r>
              <a:rPr lang="es-EC" sz="1800" dirty="0" err="1">
                <a:effectLst/>
                <a:latin typeface="Calibri" panose="020F0502020204030204" pitchFamily="34" charset="0"/>
                <a:ea typeface="MS Mincho" panose="02020609040205080304" pitchFamily="49" charset="-128"/>
                <a:cs typeface="Calibri" panose="020F0502020204030204" pitchFamily="34" charset="0"/>
              </a:rPr>
              <a:t>endpoints</a:t>
            </a:r>
            <a:r>
              <a:rPr lang="es-EC" sz="1800" dirty="0">
                <a:effectLst/>
                <a:latin typeface="Calibri" panose="020F0502020204030204" pitchFamily="34" charset="0"/>
                <a:ea typeface="MS Mincho" panose="02020609040205080304" pitchFamily="49" charset="-128"/>
                <a:cs typeface="Calibri" panose="020F0502020204030204" pitchFamily="34" charset="0"/>
              </a:rPr>
              <a:t>.</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342900" lvl="0" indent="-342900">
              <a:lnSpc>
                <a:spcPct val="115000"/>
              </a:lnSpc>
              <a:buFont typeface="Symbol" panose="05050102010706020507" pitchFamily="18" charset="2"/>
              <a:buChar char=""/>
            </a:pPr>
            <a:r>
              <a:rPr lang="es-EC" sz="1800" dirty="0">
                <a:effectLst/>
                <a:latin typeface="Calibri" panose="020F0502020204030204" pitchFamily="34" charset="0"/>
                <a:ea typeface="MS Mincho" panose="02020609040205080304" pitchFamily="49" charset="-128"/>
                <a:cs typeface="Calibri" panose="020F0502020204030204" pitchFamily="34" charset="0"/>
              </a:rPr>
              <a:t>Consumir el servicio </a:t>
            </a:r>
            <a:r>
              <a:rPr lang="es-EC" sz="1800" dirty="0" err="1">
                <a:effectLst/>
                <a:latin typeface="Calibri" panose="020F0502020204030204" pitchFamily="34" charset="0"/>
                <a:ea typeface="MS Mincho" panose="02020609040205080304" pitchFamily="49" charset="-128"/>
                <a:cs typeface="Calibri" panose="020F0502020204030204" pitchFamily="34" charset="0"/>
              </a:rPr>
              <a:t>RESTful</a:t>
            </a:r>
            <a:r>
              <a:rPr lang="es-EC" sz="1800" dirty="0">
                <a:effectLst/>
                <a:latin typeface="Calibri" panose="020F0502020204030204" pitchFamily="34" charset="0"/>
                <a:ea typeface="MS Mincho" panose="02020609040205080304" pitchFamily="49" charset="-128"/>
                <a:cs typeface="Calibri" panose="020F0502020204030204" pitchFamily="34" charset="0"/>
              </a:rPr>
              <a:t> desde clientes de consola, escritorio, web y móvil utilizando solicitudes HTTP y respuestas en formato JSON.</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342900" lvl="0" indent="-342900">
              <a:lnSpc>
                <a:spcPct val="115000"/>
              </a:lnSpc>
              <a:buFont typeface="Symbol" panose="05050102010706020507" pitchFamily="18" charset="2"/>
              <a:buChar char=""/>
            </a:pPr>
            <a:r>
              <a:rPr lang="es-EC" sz="1800" dirty="0">
                <a:effectLst/>
                <a:latin typeface="Calibri" panose="020F0502020204030204" pitchFamily="34" charset="0"/>
                <a:ea typeface="MS Mincho" panose="02020609040205080304" pitchFamily="49" charset="-128"/>
                <a:cs typeface="Calibri" panose="020F0502020204030204" pitchFamily="34" charset="0"/>
              </a:rPr>
              <a:t>Aplicar una estructura organizada basada en controladores, modelos y servicios para mantener una adecuada separación de responsabilidades en el proyecto.</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0" indent="0" algn="just">
              <a:lnSpc>
                <a:spcPct val="115000"/>
              </a:lnSpc>
              <a:spcAft>
                <a:spcPts val="1000"/>
              </a:spcAft>
              <a:buNone/>
            </a:pP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23" name="Google Shape;123;p3"/>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marR="0" lvl="0" indent="-361950" algn="l" rtl="0">
              <a:lnSpc>
                <a:spcPct val="100000"/>
              </a:lnSpc>
              <a:spcBef>
                <a:spcPts val="0"/>
              </a:spcBef>
              <a:spcAft>
                <a:spcPts val="0"/>
              </a:spcAft>
              <a:buClr>
                <a:srgbClr val="FFFF00"/>
              </a:buClr>
              <a:buSzPts val="2100"/>
              <a:buFont typeface="Noto Sans Symbols"/>
              <a:buChar char="◼"/>
            </a:pPr>
            <a:r>
              <a:rPr lang="es-ES" sz="2100" b="1" i="0" u="none" strike="noStrike" cap="none" dirty="0">
                <a:solidFill>
                  <a:schemeClr val="bg1"/>
                </a:solidFill>
                <a:latin typeface="Calibri"/>
                <a:ea typeface="Calibri"/>
                <a:cs typeface="Calibri"/>
                <a:sym typeface="Calibri"/>
              </a:rPr>
              <a:t>INTRODUCCIÓN</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rgbClr val="FFFF00"/>
                </a:solidFill>
                <a:latin typeface="Calibri"/>
                <a:ea typeface="Calibri"/>
                <a:cs typeface="Calibri"/>
                <a:sym typeface="Calibri"/>
              </a:rPr>
              <a:t>OBJETIVO</a:t>
            </a:r>
            <a:endParaRPr sz="2100" b="1" i="0" u="none" strike="noStrike" cap="none" dirty="0">
              <a:solidFill>
                <a:srgbClr val="FFFF00"/>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MARCO TEÓRICO</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Calibri"/>
              <a:buChar char="◼"/>
            </a:pPr>
            <a:r>
              <a:rPr lang="es-ES" sz="2100" b="1" i="0" u="none" strike="noStrike" cap="none" dirty="0">
                <a:solidFill>
                  <a:schemeClr val="lt1"/>
                </a:solidFill>
                <a:latin typeface="Calibri"/>
                <a:ea typeface="Calibri"/>
                <a:cs typeface="Calibri"/>
                <a:sym typeface="Calibri"/>
              </a:rPr>
              <a:t>DESARROLLO</a:t>
            </a:r>
            <a:endParaRPr dirty="0"/>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CONCLUSIONES</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RECOMENDACIONES</a:t>
            </a:r>
            <a:endParaRPr sz="1400" b="0" i="0" u="none" strike="noStrike" cap="none" dirty="0">
              <a:solidFill>
                <a:schemeClr val="dk1"/>
              </a:solidFill>
              <a:latin typeface="Arial"/>
              <a:ea typeface="Arial"/>
              <a:cs typeface="Arial"/>
              <a:sym typeface="Aria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BIBLIOGRAFÍA </a:t>
            </a:r>
            <a:endParaRPr sz="2100" b="1" i="0" u="none" strike="noStrike" cap="none" dirty="0">
              <a:solidFill>
                <a:srgbClr val="FFFF00"/>
              </a:solidFill>
              <a:latin typeface="Calibri"/>
              <a:ea typeface="Calibri"/>
              <a:cs typeface="Calibri"/>
              <a:sym typeface="Calibri"/>
            </a:endParaRPr>
          </a:p>
        </p:txBody>
      </p:sp>
    </p:spTree>
    <p:extLst>
      <p:ext uri="{BB962C8B-B14F-4D97-AF65-F5344CB8AC3E}">
        <p14:creationId xmlns:p14="http://schemas.microsoft.com/office/powerpoint/2010/main" val="10355872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115" name="Google Shape;115;p3" descr="Imagen que contiene electrónica, circuito&#10;&#10;Descripción generada automáticamente"/>
          <p:cNvPicPr preferRelativeResize="0"/>
          <p:nvPr/>
        </p:nvPicPr>
        <p:blipFill rotWithShape="1">
          <a:blip r:embed="rId3">
            <a:alphaModFix amt="35000"/>
          </a:blip>
          <a:srcRect t="15730"/>
          <a:stretch/>
        </p:blipFill>
        <p:spPr>
          <a:xfrm>
            <a:off x="20" y="10"/>
            <a:ext cx="12191980" cy="6857990"/>
          </a:xfrm>
          <a:prstGeom prst="rect">
            <a:avLst/>
          </a:prstGeom>
          <a:noFill/>
          <a:ln>
            <a:noFill/>
          </a:ln>
        </p:spPr>
      </p:pic>
      <p:sp>
        <p:nvSpPr>
          <p:cNvPr id="116" name="Google Shape;116;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Marco teórico</a:t>
            </a:r>
            <a:endParaRPr dirty="0"/>
          </a:p>
        </p:txBody>
      </p:sp>
      <p:grpSp>
        <p:nvGrpSpPr>
          <p:cNvPr id="118" name="Google Shape;118;p3"/>
          <p:cNvGrpSpPr/>
          <p:nvPr/>
        </p:nvGrpSpPr>
        <p:grpSpPr>
          <a:xfrm>
            <a:off x="446534" y="453643"/>
            <a:ext cx="11298933" cy="98554"/>
            <a:chOff x="446534" y="453643"/>
            <a:chExt cx="11298933" cy="98554"/>
          </a:xfrm>
        </p:grpSpPr>
        <p:sp>
          <p:nvSpPr>
            <p:cNvPr id="119" name="Google Shape;119;p3"/>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3"/>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2" name="Google Shape;122;p3"/>
          <p:cNvSpPr txBox="1">
            <a:spLocks noGrp="1"/>
          </p:cNvSpPr>
          <p:nvPr>
            <p:ph type="body" idx="1"/>
          </p:nvPr>
        </p:nvSpPr>
        <p:spPr>
          <a:xfrm>
            <a:off x="397408" y="1865915"/>
            <a:ext cx="8620500" cy="4788103"/>
          </a:xfrm>
          <a:prstGeom prst="rect">
            <a:avLst/>
          </a:prstGeom>
          <a:noFill/>
          <a:ln>
            <a:noFill/>
          </a:ln>
        </p:spPr>
        <p:txBody>
          <a:bodyPr spcFirstLastPara="1" wrap="square" lIns="91425" tIns="45700" rIns="91425" bIns="45700" anchor="ctr" anchorCtr="0">
            <a:normAutofit/>
          </a:bodyPr>
          <a:lstStyle/>
          <a:p>
            <a:pPr marL="342900" lvl="0" indent="-342900">
              <a:lnSpc>
                <a:spcPct val="115000"/>
              </a:lnSpc>
              <a:spcBef>
                <a:spcPts val="1000"/>
              </a:spcBef>
              <a:buFont typeface="+mj-lt"/>
              <a:buAutoNum type="arabicPeriod"/>
            </a:pPr>
            <a:r>
              <a:rPr lang="es-EC"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Web </a:t>
            </a:r>
            <a:r>
              <a:rPr lang="es-EC" sz="1800" b="1" dirty="0" err="1">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Service</a:t>
            </a:r>
            <a:endParaRPr lang="es-EC"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marL="0" indent="0" algn="just">
              <a:lnSpc>
                <a:spcPct val="115000"/>
              </a:lnSpc>
              <a:spcAft>
                <a:spcPts val="1000"/>
              </a:spcAft>
              <a:buNone/>
            </a:pP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Un Web </a:t>
            </a:r>
            <a:r>
              <a:rPr lang="es-MX" sz="1800" dirty="0" err="1">
                <a:effectLst/>
                <a:latin typeface="Calibri" panose="020F0502020204030204" pitchFamily="34" charset="0"/>
                <a:ea typeface="Roboto Condensed Light" panose="02000000000000000000" pitchFamily="2" charset="0"/>
                <a:cs typeface="Times New Roman" panose="02020603050405020304" pitchFamily="18" charset="0"/>
              </a:rPr>
              <a:t>Service</a:t>
            </a: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 o servicio web, es un mecanismo de comunicación entre aplicaciones conectadas a una red. Su finalidad es permitir que diferentes sistemas puedan intercambiar información o consumir funcionalidades sin depender directamente del lenguaje de programación, sistema operativo o plataforma en la que fueron desarrollados.</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0" indent="0" algn="just">
              <a:lnSpc>
                <a:spcPct val="115000"/>
              </a:lnSpc>
              <a:spcAft>
                <a:spcPts val="1000"/>
              </a:spcAft>
              <a:buNone/>
            </a:pP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Los servicios web son ampliamente utilizados en aplicaciones distribuidas, ya que permiten que un sistema actúe como proveedor de funcionalidades y que otros sistemas funcionen como clientes consumidores. Por ejemplo, una aplicación móvil puede solicitar datos a un servidor, una aplicación web puede enviar información para ser procesada o un sistema de escritorio puede consumir operaciones publicadas en una API.</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23" name="Google Shape;123;p3"/>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marR="0" lvl="0" indent="-361950" algn="l" rtl="0">
              <a:lnSpc>
                <a:spcPct val="100000"/>
              </a:lnSpc>
              <a:spcBef>
                <a:spcPts val="0"/>
              </a:spcBef>
              <a:spcAft>
                <a:spcPts val="0"/>
              </a:spcAft>
              <a:buClr>
                <a:srgbClr val="FFFF00"/>
              </a:buClr>
              <a:buSzPts val="2100"/>
              <a:buFont typeface="Noto Sans Symbols"/>
              <a:buChar char="◼"/>
            </a:pPr>
            <a:r>
              <a:rPr lang="es-ES" sz="2100" b="1" i="0" u="none" strike="noStrike" cap="none" dirty="0">
                <a:solidFill>
                  <a:schemeClr val="bg1"/>
                </a:solidFill>
                <a:latin typeface="Calibri"/>
                <a:ea typeface="Calibri"/>
                <a:cs typeface="Calibri"/>
                <a:sym typeface="Calibri"/>
              </a:rPr>
              <a:t>INTRODUCCIÓN</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OBJETIVO</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rgbClr val="FFFF00"/>
                </a:solidFill>
                <a:latin typeface="Calibri"/>
                <a:ea typeface="Calibri"/>
                <a:cs typeface="Calibri"/>
                <a:sym typeface="Calibri"/>
              </a:rPr>
              <a:t>MARCO TEÓRICO</a:t>
            </a:r>
            <a:endParaRPr sz="2100" b="1" i="0" u="none" strike="noStrike" cap="none" dirty="0">
              <a:solidFill>
                <a:srgbClr val="FFFF00"/>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Calibri"/>
              <a:buChar char="◼"/>
            </a:pPr>
            <a:r>
              <a:rPr lang="es-ES" sz="2100" b="1" i="0" u="none" strike="noStrike" cap="none" dirty="0">
                <a:solidFill>
                  <a:schemeClr val="lt1"/>
                </a:solidFill>
                <a:latin typeface="Calibri"/>
                <a:ea typeface="Calibri"/>
                <a:cs typeface="Calibri"/>
                <a:sym typeface="Calibri"/>
              </a:rPr>
              <a:t>DESARROLLO</a:t>
            </a:r>
            <a:endParaRPr dirty="0"/>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CONCLUSIONES</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RECOMENDACIONES</a:t>
            </a:r>
            <a:endParaRPr sz="1400" b="0" i="0" u="none" strike="noStrike" cap="none" dirty="0">
              <a:solidFill>
                <a:schemeClr val="dk1"/>
              </a:solidFill>
              <a:latin typeface="Arial"/>
              <a:ea typeface="Arial"/>
              <a:cs typeface="Arial"/>
              <a:sym typeface="Aria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BIBLIOGRAFÍA </a:t>
            </a:r>
            <a:endParaRPr sz="2100" b="1" i="0" u="none" strike="noStrike" cap="none" dirty="0">
              <a:solidFill>
                <a:srgbClr val="FFFF00"/>
              </a:solidFill>
              <a:latin typeface="Calibri"/>
              <a:ea typeface="Calibri"/>
              <a:cs typeface="Calibri"/>
              <a:sym typeface="Calibri"/>
            </a:endParaRPr>
          </a:p>
        </p:txBody>
      </p:sp>
    </p:spTree>
    <p:extLst>
      <p:ext uri="{BB962C8B-B14F-4D97-AF65-F5344CB8AC3E}">
        <p14:creationId xmlns:p14="http://schemas.microsoft.com/office/powerpoint/2010/main" val="373072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115" name="Google Shape;115;p3" descr="Imagen que contiene electrónica, circuito&#10;&#10;Descripción generada automáticamente"/>
          <p:cNvPicPr preferRelativeResize="0"/>
          <p:nvPr/>
        </p:nvPicPr>
        <p:blipFill rotWithShape="1">
          <a:blip r:embed="rId3">
            <a:alphaModFix amt="35000"/>
          </a:blip>
          <a:srcRect t="15730"/>
          <a:stretch/>
        </p:blipFill>
        <p:spPr>
          <a:xfrm>
            <a:off x="20" y="10"/>
            <a:ext cx="12191980" cy="6857990"/>
          </a:xfrm>
          <a:prstGeom prst="rect">
            <a:avLst/>
          </a:prstGeom>
          <a:noFill/>
          <a:ln>
            <a:noFill/>
          </a:ln>
        </p:spPr>
      </p:pic>
      <p:sp>
        <p:nvSpPr>
          <p:cNvPr id="116" name="Google Shape;116;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Marco teórico</a:t>
            </a:r>
            <a:endParaRPr dirty="0"/>
          </a:p>
        </p:txBody>
      </p:sp>
      <p:grpSp>
        <p:nvGrpSpPr>
          <p:cNvPr id="118" name="Google Shape;118;p3"/>
          <p:cNvGrpSpPr/>
          <p:nvPr/>
        </p:nvGrpSpPr>
        <p:grpSpPr>
          <a:xfrm>
            <a:off x="446534" y="453643"/>
            <a:ext cx="11298933" cy="98554"/>
            <a:chOff x="446534" y="453643"/>
            <a:chExt cx="11298933" cy="98554"/>
          </a:xfrm>
        </p:grpSpPr>
        <p:sp>
          <p:nvSpPr>
            <p:cNvPr id="119" name="Google Shape;119;p3"/>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3"/>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2" name="Google Shape;122;p3"/>
          <p:cNvSpPr txBox="1">
            <a:spLocks noGrp="1"/>
          </p:cNvSpPr>
          <p:nvPr>
            <p:ph type="body" idx="1"/>
          </p:nvPr>
        </p:nvSpPr>
        <p:spPr>
          <a:xfrm>
            <a:off x="397408" y="1865915"/>
            <a:ext cx="8620500" cy="4788103"/>
          </a:xfrm>
          <a:prstGeom prst="rect">
            <a:avLst/>
          </a:prstGeom>
          <a:noFill/>
          <a:ln>
            <a:noFill/>
          </a:ln>
        </p:spPr>
        <p:txBody>
          <a:bodyPr spcFirstLastPara="1" wrap="square" lIns="91425" tIns="45700" rIns="91425" bIns="45700" anchor="ctr" anchorCtr="0">
            <a:normAutofit fontScale="85000" lnSpcReduction="10000"/>
          </a:bodyPr>
          <a:lstStyle/>
          <a:p>
            <a:pPr marL="342900" lvl="0" indent="-342900">
              <a:lnSpc>
                <a:spcPct val="115000"/>
              </a:lnSpc>
              <a:spcBef>
                <a:spcPts val="1000"/>
              </a:spcBef>
              <a:buFont typeface="+mj-lt"/>
              <a:buAutoNum type="arabicPeriod"/>
            </a:pPr>
            <a:r>
              <a:rPr lang="es-EC"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REST</a:t>
            </a:r>
          </a:p>
          <a:p>
            <a:pPr algn="just">
              <a:lnSpc>
                <a:spcPct val="115000"/>
              </a:lnSpc>
              <a:spcAft>
                <a:spcPts val="1000"/>
              </a:spcAft>
            </a:pP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REST, cuyas siglas significan </a:t>
            </a:r>
            <a:r>
              <a:rPr lang="es-MX" sz="1800" dirty="0" err="1">
                <a:effectLst/>
                <a:latin typeface="Calibri" panose="020F0502020204030204" pitchFamily="34" charset="0"/>
                <a:ea typeface="Roboto Condensed Light" panose="02000000000000000000" pitchFamily="2" charset="0"/>
                <a:cs typeface="Times New Roman" panose="02020603050405020304" pitchFamily="18" charset="0"/>
              </a:rPr>
              <a:t>Representational</a:t>
            </a: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 </a:t>
            </a:r>
            <a:r>
              <a:rPr lang="es-MX" sz="1800" dirty="0" err="1">
                <a:effectLst/>
                <a:latin typeface="Calibri" panose="020F0502020204030204" pitchFamily="34" charset="0"/>
                <a:ea typeface="Roboto Condensed Light" panose="02000000000000000000" pitchFamily="2" charset="0"/>
                <a:cs typeface="Times New Roman" panose="02020603050405020304" pitchFamily="18" charset="0"/>
              </a:rPr>
              <a:t>State</a:t>
            </a: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 Transfer, es un estilo de arquitectura utilizado para diseñar servicios web basados en recursos. En una arquitectura </a:t>
            </a:r>
            <a:r>
              <a:rPr lang="es-MX" sz="1800" dirty="0" err="1">
                <a:effectLst/>
                <a:latin typeface="Calibri" panose="020F0502020204030204" pitchFamily="34" charset="0"/>
                <a:ea typeface="Roboto Condensed Light" panose="02000000000000000000" pitchFamily="2" charset="0"/>
                <a:cs typeface="Times New Roman" panose="02020603050405020304" pitchFamily="18" charset="0"/>
              </a:rPr>
              <a:t>RESTful</a:t>
            </a: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 cada recurso se identifica mediante una URL y se accede a él utilizando métodos del protocolo HTTP.</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800" dirty="0">
                <a:effectLst/>
                <a:latin typeface="Calibri" panose="020F0502020204030204" pitchFamily="34" charset="0"/>
                <a:ea typeface="MS Mincho" panose="02020609040205080304" pitchFamily="49" charset="-128"/>
                <a:cs typeface="Times New Roman" panose="02020603050405020304" pitchFamily="18" charset="0"/>
              </a:rPr>
              <a:t>Los métodos HTTP más utilizados son:</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342900" lvl="0" indent="-342900">
              <a:lnSpc>
                <a:spcPct val="115000"/>
              </a:lnSpc>
              <a:buFont typeface="Symbol" panose="05050102010706020507" pitchFamily="18" charset="2"/>
              <a:buChar char=""/>
            </a:pPr>
            <a:r>
              <a:rPr lang="en-US" sz="1800" dirty="0">
                <a:effectLst/>
                <a:latin typeface="Calibri" panose="020F0502020204030204" pitchFamily="34" charset="0"/>
                <a:ea typeface="MS Mincho" panose="02020609040205080304" pitchFamily="49" charset="-128"/>
                <a:cs typeface="Times New Roman" panose="02020603050405020304" pitchFamily="18" charset="0"/>
              </a:rPr>
              <a:t>GET - </a:t>
            </a:r>
            <a:r>
              <a:rPr lang="en-US" sz="1800" dirty="0" err="1">
                <a:effectLst/>
                <a:latin typeface="Calibri" panose="020F0502020204030204" pitchFamily="34" charset="0"/>
                <a:ea typeface="MS Mincho" panose="02020609040205080304" pitchFamily="49" charset="-128"/>
                <a:cs typeface="Times New Roman" panose="02020603050405020304" pitchFamily="18" charset="0"/>
              </a:rPr>
              <a:t>Consultar</a:t>
            </a:r>
            <a:r>
              <a:rPr lang="en-US" sz="1800" dirty="0">
                <a:effectLst/>
                <a:latin typeface="Calibri" panose="020F0502020204030204" pitchFamily="34" charset="0"/>
                <a:ea typeface="MS Mincho" panose="02020609040205080304" pitchFamily="49" charset="-128"/>
                <a:cs typeface="Times New Roman" panose="02020603050405020304" pitchFamily="18" charset="0"/>
              </a:rPr>
              <a:t> </a:t>
            </a:r>
            <a:r>
              <a:rPr lang="en-US" sz="1800" dirty="0" err="1">
                <a:effectLst/>
                <a:latin typeface="Calibri" panose="020F0502020204030204" pitchFamily="34" charset="0"/>
                <a:ea typeface="MS Mincho" panose="02020609040205080304" pitchFamily="49" charset="-128"/>
                <a:cs typeface="Times New Roman" panose="02020603050405020304" pitchFamily="18" charset="0"/>
              </a:rPr>
              <a:t>información</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342900" lvl="0" indent="-342900">
              <a:lnSpc>
                <a:spcPct val="115000"/>
              </a:lnSpc>
              <a:buFont typeface="Symbol" panose="05050102010706020507" pitchFamily="18" charset="2"/>
              <a:buChar char=""/>
            </a:pPr>
            <a:r>
              <a:rPr lang="en-US" sz="1800" dirty="0">
                <a:effectLst/>
                <a:latin typeface="Calibri" panose="020F0502020204030204" pitchFamily="34" charset="0"/>
                <a:ea typeface="MS Mincho" panose="02020609040205080304" pitchFamily="49" charset="-128"/>
                <a:cs typeface="Times New Roman" panose="02020603050405020304" pitchFamily="18" charset="0"/>
              </a:rPr>
              <a:t>POST - </a:t>
            </a:r>
            <a:r>
              <a:rPr lang="en-US" sz="1800" dirty="0" err="1">
                <a:effectLst/>
                <a:latin typeface="Calibri" panose="020F0502020204030204" pitchFamily="34" charset="0"/>
                <a:ea typeface="MS Mincho" panose="02020609040205080304" pitchFamily="49" charset="-128"/>
                <a:cs typeface="Times New Roman" panose="02020603050405020304" pitchFamily="18" charset="0"/>
              </a:rPr>
              <a:t>Enviar</a:t>
            </a:r>
            <a:r>
              <a:rPr lang="en-US" sz="1800" dirty="0">
                <a:effectLst/>
                <a:latin typeface="Calibri" panose="020F0502020204030204" pitchFamily="34" charset="0"/>
                <a:ea typeface="MS Mincho" panose="02020609040205080304" pitchFamily="49" charset="-128"/>
                <a:cs typeface="Times New Roman" panose="02020603050405020304" pitchFamily="18" charset="0"/>
              </a:rPr>
              <a:t> o registrar </a:t>
            </a:r>
            <a:r>
              <a:rPr lang="en-US" sz="1800" dirty="0" err="1">
                <a:effectLst/>
                <a:latin typeface="Calibri" panose="020F0502020204030204" pitchFamily="34" charset="0"/>
                <a:ea typeface="MS Mincho" panose="02020609040205080304" pitchFamily="49" charset="-128"/>
                <a:cs typeface="Times New Roman" panose="02020603050405020304" pitchFamily="18" charset="0"/>
              </a:rPr>
              <a:t>información</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342900" lvl="0" indent="-342900">
              <a:lnSpc>
                <a:spcPct val="115000"/>
              </a:lnSpc>
              <a:buFont typeface="Symbol" panose="05050102010706020507" pitchFamily="18" charset="2"/>
              <a:buChar char=""/>
            </a:pPr>
            <a:r>
              <a:rPr lang="en-US" sz="1800" dirty="0">
                <a:effectLst/>
                <a:latin typeface="Calibri" panose="020F0502020204030204" pitchFamily="34" charset="0"/>
                <a:ea typeface="MS Mincho" panose="02020609040205080304" pitchFamily="49" charset="-128"/>
                <a:cs typeface="Times New Roman" panose="02020603050405020304" pitchFamily="18" charset="0"/>
              </a:rPr>
              <a:t>PUT - </a:t>
            </a:r>
            <a:r>
              <a:rPr lang="en-US" sz="1800" dirty="0" err="1">
                <a:effectLst/>
                <a:latin typeface="Calibri" panose="020F0502020204030204" pitchFamily="34" charset="0"/>
                <a:ea typeface="MS Mincho" panose="02020609040205080304" pitchFamily="49" charset="-128"/>
                <a:cs typeface="Times New Roman" panose="02020603050405020304" pitchFamily="18" charset="0"/>
              </a:rPr>
              <a:t>Actualizar</a:t>
            </a:r>
            <a:r>
              <a:rPr lang="en-US" sz="1800" dirty="0">
                <a:effectLst/>
                <a:latin typeface="Calibri" panose="020F0502020204030204" pitchFamily="34" charset="0"/>
                <a:ea typeface="MS Mincho" panose="02020609040205080304" pitchFamily="49" charset="-128"/>
                <a:cs typeface="Times New Roman" panose="02020603050405020304" pitchFamily="18" charset="0"/>
              </a:rPr>
              <a:t> </a:t>
            </a:r>
            <a:r>
              <a:rPr lang="en-US" sz="1800" dirty="0" err="1">
                <a:effectLst/>
                <a:latin typeface="Calibri" panose="020F0502020204030204" pitchFamily="34" charset="0"/>
                <a:ea typeface="MS Mincho" panose="02020609040205080304" pitchFamily="49" charset="-128"/>
                <a:cs typeface="Times New Roman" panose="02020603050405020304" pitchFamily="18" charset="0"/>
              </a:rPr>
              <a:t>información</a:t>
            </a:r>
            <a:r>
              <a:rPr lang="en-US" sz="1800" dirty="0">
                <a:effectLst/>
                <a:latin typeface="Calibri" panose="020F0502020204030204" pitchFamily="34" charset="0"/>
                <a:ea typeface="MS Mincho" panose="02020609040205080304" pitchFamily="49" charset="-128"/>
                <a:cs typeface="Times New Roman" panose="02020603050405020304" pitchFamily="18" charset="0"/>
              </a:rPr>
              <a:t> </a:t>
            </a:r>
            <a:r>
              <a:rPr lang="en-US" sz="1800" dirty="0" err="1">
                <a:effectLst/>
                <a:latin typeface="Calibri" panose="020F0502020204030204" pitchFamily="34" charset="0"/>
                <a:ea typeface="MS Mincho" panose="02020609040205080304" pitchFamily="49" charset="-128"/>
                <a:cs typeface="Times New Roman" panose="02020603050405020304" pitchFamily="18" charset="0"/>
              </a:rPr>
              <a:t>completa</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342900" lvl="0" indent="-342900">
              <a:lnSpc>
                <a:spcPct val="115000"/>
              </a:lnSpc>
              <a:buFont typeface="Symbol" panose="05050102010706020507" pitchFamily="18" charset="2"/>
              <a:buChar char=""/>
            </a:pPr>
            <a:r>
              <a:rPr lang="en-US" sz="1800" dirty="0">
                <a:effectLst/>
                <a:latin typeface="Calibri" panose="020F0502020204030204" pitchFamily="34" charset="0"/>
                <a:ea typeface="MS Mincho" panose="02020609040205080304" pitchFamily="49" charset="-128"/>
                <a:cs typeface="Times New Roman" panose="02020603050405020304" pitchFamily="18" charset="0"/>
              </a:rPr>
              <a:t>PATCH - </a:t>
            </a:r>
            <a:r>
              <a:rPr lang="en-US" sz="1800" dirty="0" err="1">
                <a:effectLst/>
                <a:latin typeface="Calibri" panose="020F0502020204030204" pitchFamily="34" charset="0"/>
                <a:ea typeface="MS Mincho" panose="02020609040205080304" pitchFamily="49" charset="-128"/>
                <a:cs typeface="Times New Roman" panose="02020603050405020304" pitchFamily="18" charset="0"/>
              </a:rPr>
              <a:t>Actualizar</a:t>
            </a:r>
            <a:r>
              <a:rPr lang="en-US" sz="1800" dirty="0">
                <a:effectLst/>
                <a:latin typeface="Calibri" panose="020F0502020204030204" pitchFamily="34" charset="0"/>
                <a:ea typeface="MS Mincho" panose="02020609040205080304" pitchFamily="49" charset="-128"/>
                <a:cs typeface="Times New Roman" panose="02020603050405020304" pitchFamily="18" charset="0"/>
              </a:rPr>
              <a:t> </a:t>
            </a:r>
            <a:r>
              <a:rPr lang="en-US" sz="1800" dirty="0" err="1">
                <a:effectLst/>
                <a:latin typeface="Calibri" panose="020F0502020204030204" pitchFamily="34" charset="0"/>
                <a:ea typeface="MS Mincho" panose="02020609040205080304" pitchFamily="49" charset="-128"/>
                <a:cs typeface="Times New Roman" panose="02020603050405020304" pitchFamily="18" charset="0"/>
              </a:rPr>
              <a:t>información</a:t>
            </a:r>
            <a:r>
              <a:rPr lang="en-US" sz="1800" dirty="0">
                <a:effectLst/>
                <a:latin typeface="Calibri" panose="020F0502020204030204" pitchFamily="34" charset="0"/>
                <a:ea typeface="MS Mincho" panose="02020609040205080304" pitchFamily="49" charset="-128"/>
                <a:cs typeface="Times New Roman" panose="02020603050405020304" pitchFamily="18" charset="0"/>
              </a:rPr>
              <a:t> </a:t>
            </a:r>
            <a:r>
              <a:rPr lang="en-US" sz="1800" dirty="0" err="1">
                <a:effectLst/>
                <a:latin typeface="Calibri" panose="020F0502020204030204" pitchFamily="34" charset="0"/>
                <a:ea typeface="MS Mincho" panose="02020609040205080304" pitchFamily="49" charset="-128"/>
                <a:cs typeface="Times New Roman" panose="02020603050405020304" pitchFamily="18" charset="0"/>
              </a:rPr>
              <a:t>parcial</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342900" lvl="0" indent="-342900">
              <a:lnSpc>
                <a:spcPct val="115000"/>
              </a:lnSpc>
              <a:spcAft>
                <a:spcPts val="1000"/>
              </a:spcAft>
              <a:buFont typeface="Symbol" panose="05050102010706020507" pitchFamily="18" charset="2"/>
              <a:buChar char=""/>
            </a:pPr>
            <a:r>
              <a:rPr lang="en-US" sz="1800" dirty="0">
                <a:effectLst/>
                <a:latin typeface="Calibri" panose="020F0502020204030204" pitchFamily="34" charset="0"/>
                <a:ea typeface="MS Mincho" panose="02020609040205080304" pitchFamily="49" charset="-128"/>
                <a:cs typeface="Times New Roman" panose="02020603050405020304" pitchFamily="18" charset="0"/>
              </a:rPr>
              <a:t>DELETE - </a:t>
            </a:r>
            <a:r>
              <a:rPr lang="en-US" sz="1800" dirty="0" err="1">
                <a:effectLst/>
                <a:latin typeface="Calibri" panose="020F0502020204030204" pitchFamily="34" charset="0"/>
                <a:ea typeface="MS Mincho" panose="02020609040205080304" pitchFamily="49" charset="-128"/>
                <a:cs typeface="Times New Roman" panose="02020603050405020304" pitchFamily="18" charset="0"/>
              </a:rPr>
              <a:t>Eliminar</a:t>
            </a:r>
            <a:r>
              <a:rPr lang="en-US" sz="1800" dirty="0">
                <a:effectLst/>
                <a:latin typeface="Calibri" panose="020F0502020204030204" pitchFamily="34" charset="0"/>
                <a:ea typeface="MS Mincho" panose="02020609040205080304" pitchFamily="49" charset="-128"/>
                <a:cs typeface="Times New Roman" panose="02020603050405020304" pitchFamily="18" charset="0"/>
              </a:rPr>
              <a:t> </a:t>
            </a:r>
            <a:r>
              <a:rPr lang="en-US" sz="1800" dirty="0" err="1">
                <a:effectLst/>
                <a:latin typeface="Calibri" panose="020F0502020204030204" pitchFamily="34" charset="0"/>
                <a:ea typeface="MS Mincho" panose="02020609040205080304" pitchFamily="49" charset="-128"/>
                <a:cs typeface="Times New Roman" panose="02020603050405020304" pitchFamily="18" charset="0"/>
              </a:rPr>
              <a:t>información</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800" dirty="0">
                <a:effectLst/>
                <a:latin typeface="Calibri" panose="020F0502020204030204" pitchFamily="34" charset="0"/>
                <a:ea typeface="MS Mincho" panose="02020609040205080304" pitchFamily="49" charset="-128"/>
                <a:cs typeface="Times New Roman" panose="02020603050405020304" pitchFamily="18" charset="0"/>
              </a:rPr>
              <a:t>REST se caracteriza por ser ligero, flexible y fácil de consumir, ya que normalmente utiliza datos en formato JSON. Esto permite que aplicaciones de consola, escritorio, web y móviles puedan comunicarse con el mismo servicio de forma sencilla.</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algn="just">
              <a:lnSpc>
                <a:spcPct val="115000"/>
              </a:lnSpc>
              <a:spcAft>
                <a:spcPts val="1000"/>
              </a:spcAft>
            </a:pP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23" name="Google Shape;123;p3"/>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marR="0" lvl="0" indent="-361950" algn="l" rtl="0">
              <a:lnSpc>
                <a:spcPct val="100000"/>
              </a:lnSpc>
              <a:spcBef>
                <a:spcPts val="0"/>
              </a:spcBef>
              <a:spcAft>
                <a:spcPts val="0"/>
              </a:spcAft>
              <a:buClr>
                <a:srgbClr val="FFFF00"/>
              </a:buClr>
              <a:buSzPts val="2100"/>
              <a:buFont typeface="Noto Sans Symbols"/>
              <a:buChar char="◼"/>
            </a:pPr>
            <a:r>
              <a:rPr lang="es-ES" sz="2100" b="1" i="0" u="none" strike="noStrike" cap="none" dirty="0">
                <a:solidFill>
                  <a:schemeClr val="bg1"/>
                </a:solidFill>
                <a:latin typeface="Calibri"/>
                <a:ea typeface="Calibri"/>
                <a:cs typeface="Calibri"/>
                <a:sym typeface="Calibri"/>
              </a:rPr>
              <a:t>INTRODUCCIÓN</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OBJETIVO</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rgbClr val="FFFF00"/>
                </a:solidFill>
                <a:latin typeface="Calibri"/>
                <a:ea typeface="Calibri"/>
                <a:cs typeface="Calibri"/>
                <a:sym typeface="Calibri"/>
              </a:rPr>
              <a:t>MARCO TEÓRICO</a:t>
            </a:r>
            <a:endParaRPr sz="2100" b="1" i="0" u="none" strike="noStrike" cap="none" dirty="0">
              <a:solidFill>
                <a:srgbClr val="FFFF00"/>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Calibri"/>
              <a:buChar char="◼"/>
            </a:pPr>
            <a:r>
              <a:rPr lang="es-ES" sz="2100" b="1" i="0" u="none" strike="noStrike" cap="none" dirty="0">
                <a:solidFill>
                  <a:schemeClr val="lt1"/>
                </a:solidFill>
                <a:latin typeface="Calibri"/>
                <a:ea typeface="Calibri"/>
                <a:cs typeface="Calibri"/>
                <a:sym typeface="Calibri"/>
              </a:rPr>
              <a:t>DESARROLLO</a:t>
            </a:r>
            <a:endParaRPr dirty="0"/>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CONCLUSIONES</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RECOMENDACIONES</a:t>
            </a:r>
            <a:endParaRPr sz="1400" b="0" i="0" u="none" strike="noStrike" cap="none" dirty="0">
              <a:solidFill>
                <a:schemeClr val="dk1"/>
              </a:solidFill>
              <a:latin typeface="Arial"/>
              <a:ea typeface="Arial"/>
              <a:cs typeface="Arial"/>
              <a:sym typeface="Aria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BIBLIOGRAFÍA </a:t>
            </a:r>
            <a:endParaRPr sz="2100" b="1" i="0" u="none" strike="noStrike" cap="none" dirty="0">
              <a:solidFill>
                <a:srgbClr val="FFFF00"/>
              </a:solidFill>
              <a:latin typeface="Calibri"/>
              <a:ea typeface="Calibri"/>
              <a:cs typeface="Calibri"/>
              <a:sym typeface="Calibri"/>
            </a:endParaRPr>
          </a:p>
        </p:txBody>
      </p:sp>
      <p:pic>
        <p:nvPicPr>
          <p:cNvPr id="18" name="Imagen 17" descr="API REST | Aprendiendo Arduino">
            <a:extLst>
              <a:ext uri="{FF2B5EF4-FFF2-40B4-BE49-F238E27FC236}">
                <a16:creationId xmlns:a16="http://schemas.microsoft.com/office/drawing/2014/main" id="{D9B6047C-DA2E-4DC6-866A-8186605E41D3}"/>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4503853" y="3117423"/>
            <a:ext cx="3931487" cy="1943100"/>
          </a:xfrm>
          <a:prstGeom prst="rect">
            <a:avLst/>
          </a:prstGeom>
          <a:noFill/>
          <a:ln>
            <a:noFill/>
          </a:ln>
        </p:spPr>
      </p:pic>
    </p:spTree>
    <p:extLst>
      <p:ext uri="{BB962C8B-B14F-4D97-AF65-F5344CB8AC3E}">
        <p14:creationId xmlns:p14="http://schemas.microsoft.com/office/powerpoint/2010/main" val="31777580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115" name="Google Shape;115;p3" descr="Imagen que contiene electrónica, circuito&#10;&#10;Descripción generada automáticamente"/>
          <p:cNvPicPr preferRelativeResize="0"/>
          <p:nvPr/>
        </p:nvPicPr>
        <p:blipFill rotWithShape="1">
          <a:blip r:embed="rId3">
            <a:alphaModFix amt="35000"/>
          </a:blip>
          <a:srcRect t="15730"/>
          <a:stretch/>
        </p:blipFill>
        <p:spPr>
          <a:xfrm>
            <a:off x="20" y="10"/>
            <a:ext cx="12191980" cy="6857990"/>
          </a:xfrm>
          <a:prstGeom prst="rect">
            <a:avLst/>
          </a:prstGeom>
          <a:noFill/>
          <a:ln>
            <a:noFill/>
          </a:ln>
        </p:spPr>
      </p:pic>
      <p:sp>
        <p:nvSpPr>
          <p:cNvPr id="116" name="Google Shape;116;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Marco teórico</a:t>
            </a:r>
            <a:endParaRPr dirty="0"/>
          </a:p>
        </p:txBody>
      </p:sp>
      <p:grpSp>
        <p:nvGrpSpPr>
          <p:cNvPr id="118" name="Google Shape;118;p3"/>
          <p:cNvGrpSpPr/>
          <p:nvPr/>
        </p:nvGrpSpPr>
        <p:grpSpPr>
          <a:xfrm>
            <a:off x="446534" y="453643"/>
            <a:ext cx="11298933" cy="98554"/>
            <a:chOff x="446534" y="453643"/>
            <a:chExt cx="11298933" cy="98554"/>
          </a:xfrm>
        </p:grpSpPr>
        <p:sp>
          <p:nvSpPr>
            <p:cNvPr id="119" name="Google Shape;119;p3"/>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3"/>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2" name="Google Shape;122;p3"/>
          <p:cNvSpPr txBox="1">
            <a:spLocks noGrp="1"/>
          </p:cNvSpPr>
          <p:nvPr>
            <p:ph type="body" idx="1"/>
          </p:nvPr>
        </p:nvSpPr>
        <p:spPr>
          <a:xfrm>
            <a:off x="397408" y="1865915"/>
            <a:ext cx="8663242" cy="5445718"/>
          </a:xfrm>
          <a:prstGeom prst="rect">
            <a:avLst/>
          </a:prstGeom>
          <a:noFill/>
          <a:ln>
            <a:noFill/>
          </a:ln>
        </p:spPr>
        <p:txBody>
          <a:bodyPr spcFirstLastPara="1" wrap="square" lIns="91425" tIns="45700" rIns="91425" bIns="45700" anchor="ctr" anchorCtr="0">
            <a:normAutofit fontScale="77500" lnSpcReduction="20000"/>
          </a:bodyPr>
          <a:lstStyle/>
          <a:p>
            <a:pPr marL="342900" lvl="0" indent="-342900">
              <a:lnSpc>
                <a:spcPct val="115000"/>
              </a:lnSpc>
              <a:spcBef>
                <a:spcPts val="1000"/>
              </a:spcBef>
              <a:buFont typeface="+mj-lt"/>
              <a:buAutoNum type="arabicPeriod"/>
            </a:pPr>
            <a:r>
              <a:rPr lang="es-EC"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Web </a:t>
            </a:r>
            <a:r>
              <a:rPr lang="es-EC" sz="1800" b="1" dirty="0" err="1">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Service</a:t>
            </a:r>
            <a:r>
              <a:rPr lang="es-EC"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 RESTFUL</a:t>
            </a:r>
          </a:p>
          <a:p>
            <a:pPr>
              <a:lnSpc>
                <a:spcPct val="115000"/>
              </a:lnSpc>
              <a:spcAft>
                <a:spcPts val="1000"/>
              </a:spcAft>
            </a:pP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Un Web </a:t>
            </a:r>
            <a:r>
              <a:rPr lang="es-MX" sz="1800" dirty="0" err="1">
                <a:effectLst/>
                <a:latin typeface="Calibri" panose="020F0502020204030204" pitchFamily="34" charset="0"/>
                <a:ea typeface="Roboto Condensed Light" panose="02000000000000000000" pitchFamily="2" charset="0"/>
                <a:cs typeface="Times New Roman" panose="02020603050405020304" pitchFamily="18" charset="0"/>
              </a:rPr>
              <a:t>Service</a:t>
            </a: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 </a:t>
            </a:r>
            <a:r>
              <a:rPr lang="es-MX" sz="1800" dirty="0" err="1">
                <a:effectLst/>
                <a:latin typeface="Calibri" panose="020F0502020204030204" pitchFamily="34" charset="0"/>
                <a:ea typeface="Roboto Condensed Light" panose="02000000000000000000" pitchFamily="2" charset="0"/>
                <a:cs typeface="Times New Roman" panose="02020603050405020304" pitchFamily="18" charset="0"/>
              </a:rPr>
              <a:t>RESTful</a:t>
            </a: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 es un servicio web que aplica los principios de REST para exponer funcionalidades mediante </a:t>
            </a:r>
            <a:r>
              <a:rPr lang="es-MX" sz="1800" dirty="0" err="1">
                <a:effectLst/>
                <a:latin typeface="Calibri" panose="020F0502020204030204" pitchFamily="34" charset="0"/>
                <a:ea typeface="Roboto Condensed Light" panose="02000000000000000000" pitchFamily="2" charset="0"/>
                <a:cs typeface="Times New Roman" panose="02020603050405020304" pitchFamily="18" charset="0"/>
              </a:rPr>
              <a:t>endpoints</a:t>
            </a: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 HTTP. </a:t>
            </a:r>
            <a:r>
              <a:rPr lang="es-MX" sz="1800" dirty="0" err="1">
                <a:effectLst/>
                <a:latin typeface="Calibri" panose="020F0502020204030204" pitchFamily="34" charset="0"/>
                <a:ea typeface="Roboto Condensed Light" panose="02000000000000000000" pitchFamily="2" charset="0"/>
                <a:cs typeface="Times New Roman" panose="02020603050405020304" pitchFamily="18" charset="0"/>
              </a:rPr>
              <a:t>Cadaendpoint</a:t>
            </a: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 representa una operación o recurso específico del sistema.</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0" indent="0">
              <a:lnSpc>
                <a:spcPct val="115000"/>
              </a:lnSpc>
              <a:spcAft>
                <a:spcPts val="1000"/>
              </a:spcAft>
              <a:buNone/>
            </a:pP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 </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En este proyecto, el servicio </a:t>
            </a:r>
            <a:r>
              <a:rPr lang="es-MX" sz="1800" dirty="0" err="1">
                <a:effectLst/>
                <a:latin typeface="Calibri" panose="020F0502020204030204" pitchFamily="34" charset="0"/>
                <a:ea typeface="Roboto Condensed Light" panose="02000000000000000000" pitchFamily="2" charset="0"/>
                <a:cs typeface="Times New Roman" panose="02020603050405020304" pitchFamily="18" charset="0"/>
              </a:rPr>
              <a:t>RESTful</a:t>
            </a: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 CONUNI expone </a:t>
            </a:r>
            <a:r>
              <a:rPr lang="es-MX" sz="1800" dirty="0" err="1">
                <a:effectLst/>
                <a:latin typeface="Calibri" panose="020F0502020204030204" pitchFamily="34" charset="0"/>
                <a:ea typeface="Roboto Condensed Light" panose="02000000000000000000" pitchFamily="2" charset="0"/>
                <a:cs typeface="Times New Roman" panose="02020603050405020304" pitchFamily="18" charset="0"/>
              </a:rPr>
              <a:t>endpoints</a:t>
            </a: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 para autenticación y conversión de unidades. Por ejemplo:</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0" indent="0">
              <a:lnSpc>
                <a:spcPct val="115000"/>
              </a:lnSpc>
              <a:spcAft>
                <a:spcPts val="1000"/>
              </a:spcAft>
              <a:buNone/>
            </a:pP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 </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342900" lvl="0" indent="-342900">
              <a:lnSpc>
                <a:spcPct val="115000"/>
              </a:lnSpc>
              <a:buFont typeface="Symbol" panose="05050102010706020507" pitchFamily="18" charset="2"/>
              <a:buChar char=""/>
            </a:pP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POST /api/</a:t>
            </a:r>
            <a:r>
              <a:rPr lang="es-MX" sz="1800" dirty="0" err="1">
                <a:effectLst/>
                <a:latin typeface="Calibri" panose="020F0502020204030204" pitchFamily="34" charset="0"/>
                <a:ea typeface="Roboto Condensed Light" panose="02000000000000000000" pitchFamily="2" charset="0"/>
                <a:cs typeface="Times New Roman" panose="02020603050405020304" pitchFamily="18" charset="0"/>
              </a:rPr>
              <a:t>auth</a:t>
            </a: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a:t>
            </a:r>
            <a:r>
              <a:rPr lang="es-MX" sz="1800" dirty="0" err="1">
                <a:effectLst/>
                <a:latin typeface="Calibri" panose="020F0502020204030204" pitchFamily="34" charset="0"/>
                <a:ea typeface="Roboto Condensed Light" panose="02000000000000000000" pitchFamily="2" charset="0"/>
                <a:cs typeface="Times New Roman" panose="02020603050405020304" pitchFamily="18" charset="0"/>
              </a:rPr>
              <a:t>login</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342900" lvl="0" indent="-342900">
              <a:lnSpc>
                <a:spcPct val="115000"/>
              </a:lnSpc>
              <a:buFont typeface="Symbol" panose="05050102010706020507" pitchFamily="18" charset="2"/>
              <a:buChar char=""/>
            </a:pP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GET  /api/longitud/</a:t>
            </a:r>
            <a:r>
              <a:rPr lang="es-MX" sz="1800" dirty="0" err="1">
                <a:effectLst/>
                <a:latin typeface="Calibri" panose="020F0502020204030204" pitchFamily="34" charset="0"/>
                <a:ea typeface="Roboto Condensed Light" panose="02000000000000000000" pitchFamily="2" charset="0"/>
                <a:cs typeface="Times New Roman" panose="02020603050405020304" pitchFamily="18" charset="0"/>
              </a:rPr>
              <a:t>metros-a-pies?valor</a:t>
            </a: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=10</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342900" lvl="0" indent="-342900">
              <a:lnSpc>
                <a:spcPct val="115000"/>
              </a:lnSpc>
              <a:buFont typeface="Symbol" panose="05050102010706020507" pitchFamily="18" charset="2"/>
              <a:buChar char=""/>
            </a:pP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GET  /api/masa/</a:t>
            </a:r>
            <a:r>
              <a:rPr lang="es-MX" sz="1800" dirty="0" err="1">
                <a:effectLst/>
                <a:latin typeface="Calibri" panose="020F0502020204030204" pitchFamily="34" charset="0"/>
                <a:ea typeface="Roboto Condensed Light" panose="02000000000000000000" pitchFamily="2" charset="0"/>
                <a:cs typeface="Times New Roman" panose="02020603050405020304" pitchFamily="18" charset="0"/>
              </a:rPr>
              <a:t>kilogramos-a-libras?valor</a:t>
            </a: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=5</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342900" lvl="0" indent="-342900">
              <a:lnSpc>
                <a:spcPct val="115000"/>
              </a:lnSpc>
              <a:spcAft>
                <a:spcPts val="1000"/>
              </a:spcAft>
              <a:buFont typeface="Symbol" panose="05050102010706020507" pitchFamily="18" charset="2"/>
              <a:buChar char=""/>
            </a:pP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GET  /api/temperatura/</a:t>
            </a:r>
            <a:r>
              <a:rPr lang="es-MX" sz="1800" dirty="0" err="1">
                <a:effectLst/>
                <a:latin typeface="Calibri" panose="020F0502020204030204" pitchFamily="34" charset="0"/>
                <a:ea typeface="Roboto Condensed Light" panose="02000000000000000000" pitchFamily="2" charset="0"/>
                <a:cs typeface="Times New Roman" panose="02020603050405020304" pitchFamily="18" charset="0"/>
              </a:rPr>
              <a:t>celsius-a-fahrenheit?valor</a:t>
            </a: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=25</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0" indent="0">
              <a:lnSpc>
                <a:spcPct val="115000"/>
              </a:lnSpc>
              <a:spcAft>
                <a:spcPts val="1000"/>
              </a:spcAft>
              <a:buNone/>
            </a:pP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 </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0" indent="0">
              <a:lnSpc>
                <a:spcPct val="115000"/>
              </a:lnSpc>
              <a:spcAft>
                <a:spcPts val="1000"/>
              </a:spcAft>
              <a:buNone/>
            </a:pP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Cada cliente realiza una solicitud HTTP al servidor, el servidor procesa la petición y devuelve una respuesta estructurada en formato JSON.</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0" indent="0">
              <a:lnSpc>
                <a:spcPct val="115000"/>
              </a:lnSpc>
              <a:spcAft>
                <a:spcPts val="1000"/>
              </a:spcAft>
              <a:buNone/>
            </a:pP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 </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0" indent="0">
              <a:lnSpc>
                <a:spcPct val="107000"/>
              </a:lnSpc>
              <a:spcAft>
                <a:spcPts val="800"/>
              </a:spcAft>
              <a:buNone/>
            </a:pP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23" name="Google Shape;123;p3"/>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marR="0" lvl="0" indent="-361950" algn="l" rtl="0">
              <a:lnSpc>
                <a:spcPct val="100000"/>
              </a:lnSpc>
              <a:spcBef>
                <a:spcPts val="0"/>
              </a:spcBef>
              <a:spcAft>
                <a:spcPts val="0"/>
              </a:spcAft>
              <a:buClr>
                <a:srgbClr val="FFFF00"/>
              </a:buClr>
              <a:buSzPts val="2100"/>
              <a:buFont typeface="Noto Sans Symbols"/>
              <a:buChar char="◼"/>
            </a:pPr>
            <a:r>
              <a:rPr lang="es-ES" sz="2100" b="1" i="0" u="none" strike="noStrike" cap="none" dirty="0">
                <a:solidFill>
                  <a:schemeClr val="bg1"/>
                </a:solidFill>
                <a:latin typeface="Calibri"/>
                <a:ea typeface="Calibri"/>
                <a:cs typeface="Calibri"/>
                <a:sym typeface="Calibri"/>
              </a:rPr>
              <a:t>INTRODUCCIÓN</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OBJETIVO</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rgbClr val="FFFF00"/>
                </a:solidFill>
                <a:latin typeface="Calibri"/>
                <a:ea typeface="Calibri"/>
                <a:cs typeface="Calibri"/>
                <a:sym typeface="Calibri"/>
              </a:rPr>
              <a:t>MARCO TEÓRICO</a:t>
            </a:r>
            <a:endParaRPr sz="2100" b="1" i="0" u="none" strike="noStrike" cap="none" dirty="0">
              <a:solidFill>
                <a:srgbClr val="FFFF00"/>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Calibri"/>
              <a:buChar char="◼"/>
            </a:pPr>
            <a:r>
              <a:rPr lang="es-ES" sz="2100" b="1" i="0" u="none" strike="noStrike" cap="none" dirty="0">
                <a:solidFill>
                  <a:schemeClr val="lt1"/>
                </a:solidFill>
                <a:latin typeface="Calibri"/>
                <a:ea typeface="Calibri"/>
                <a:cs typeface="Calibri"/>
                <a:sym typeface="Calibri"/>
              </a:rPr>
              <a:t>DESARROLLO</a:t>
            </a:r>
            <a:endParaRPr dirty="0"/>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CONCLUSIONES</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RECOMENDACIONES</a:t>
            </a:r>
            <a:endParaRPr sz="1400" b="0" i="0" u="none" strike="noStrike" cap="none" dirty="0">
              <a:solidFill>
                <a:schemeClr val="dk1"/>
              </a:solidFill>
              <a:latin typeface="Arial"/>
              <a:ea typeface="Arial"/>
              <a:cs typeface="Arial"/>
              <a:sym typeface="Aria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BIBLIOGRAFÍA </a:t>
            </a:r>
            <a:endParaRPr sz="2100" b="1" i="0" u="none" strike="noStrike" cap="none" dirty="0">
              <a:solidFill>
                <a:srgbClr val="FFFF00"/>
              </a:solidFill>
              <a:latin typeface="Calibri"/>
              <a:ea typeface="Calibri"/>
              <a:cs typeface="Calibri"/>
              <a:sym typeface="Calibri"/>
            </a:endParaRPr>
          </a:p>
        </p:txBody>
      </p:sp>
    </p:spTree>
    <p:extLst>
      <p:ext uri="{BB962C8B-B14F-4D97-AF65-F5344CB8AC3E}">
        <p14:creationId xmlns:p14="http://schemas.microsoft.com/office/powerpoint/2010/main" val="2117001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115" name="Google Shape;115;p3" descr="Imagen que contiene electrónica, circuito&#10;&#10;Descripción generada automáticamente"/>
          <p:cNvPicPr preferRelativeResize="0"/>
          <p:nvPr/>
        </p:nvPicPr>
        <p:blipFill rotWithShape="1">
          <a:blip r:embed="rId3">
            <a:alphaModFix amt="35000"/>
          </a:blip>
          <a:srcRect t="15730"/>
          <a:stretch/>
        </p:blipFill>
        <p:spPr>
          <a:xfrm>
            <a:off x="20" y="10"/>
            <a:ext cx="12191980" cy="6857990"/>
          </a:xfrm>
          <a:prstGeom prst="rect">
            <a:avLst/>
          </a:prstGeom>
          <a:noFill/>
          <a:ln>
            <a:noFill/>
          </a:ln>
        </p:spPr>
      </p:pic>
      <p:sp>
        <p:nvSpPr>
          <p:cNvPr id="116" name="Google Shape;116;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solidFill>
                  <a:srgbClr val="FFFF00"/>
                </a:solidFill>
              </a:rPr>
              <a:t>Desarrollo </a:t>
            </a:r>
            <a:endParaRPr dirty="0">
              <a:solidFill>
                <a:srgbClr val="FFFF00"/>
              </a:solidFill>
            </a:endParaRPr>
          </a:p>
        </p:txBody>
      </p:sp>
      <p:grpSp>
        <p:nvGrpSpPr>
          <p:cNvPr id="118" name="Google Shape;118;p3"/>
          <p:cNvGrpSpPr/>
          <p:nvPr/>
        </p:nvGrpSpPr>
        <p:grpSpPr>
          <a:xfrm>
            <a:off x="446534" y="453643"/>
            <a:ext cx="11298933" cy="98554"/>
            <a:chOff x="446534" y="453643"/>
            <a:chExt cx="11298933" cy="98554"/>
          </a:xfrm>
        </p:grpSpPr>
        <p:sp>
          <p:nvSpPr>
            <p:cNvPr id="119" name="Google Shape;119;p3"/>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3"/>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2" name="Google Shape;122;p3"/>
          <p:cNvSpPr txBox="1">
            <a:spLocks noGrp="1"/>
          </p:cNvSpPr>
          <p:nvPr>
            <p:ph type="body" idx="1"/>
          </p:nvPr>
        </p:nvSpPr>
        <p:spPr>
          <a:xfrm>
            <a:off x="397408" y="1865916"/>
            <a:ext cx="8620500" cy="2104612"/>
          </a:xfrm>
          <a:prstGeom prst="rect">
            <a:avLst/>
          </a:prstGeom>
          <a:noFill/>
          <a:ln>
            <a:noFill/>
          </a:ln>
        </p:spPr>
        <p:txBody>
          <a:bodyPr spcFirstLastPara="1" wrap="square" lIns="91425" tIns="45700" rIns="91425" bIns="45700" anchor="ctr" anchorCtr="0">
            <a:normAutofit/>
          </a:bodyPr>
          <a:lstStyle/>
          <a:p>
            <a:pPr marL="0" indent="0">
              <a:lnSpc>
                <a:spcPct val="107000"/>
              </a:lnSpc>
              <a:spcAft>
                <a:spcPts val="800"/>
              </a:spcAft>
              <a:buNone/>
            </a:pPr>
            <a:r>
              <a:rPr lang="es-419" sz="1800" dirty="0">
                <a:effectLst/>
                <a:latin typeface="Cambria" panose="02040503050406030204" pitchFamily="18" charset="0"/>
                <a:ea typeface="Times New Roman" panose="02020603050405020304" pitchFamily="18" charset="0"/>
                <a:cs typeface="Cambria" panose="02040503050406030204" pitchFamily="18" charset="0"/>
              </a:rPr>
              <a:t>Formulario inicial de registro en AWS. Se ingresa el correo del usuario raíz y el nombre de la cuenta, siendo el primer paso para acceder a la capa gratuita y los servicios en la nube. </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0" indent="0">
              <a:lnSpc>
                <a:spcPct val="107000"/>
              </a:lnSpc>
              <a:spcAft>
                <a:spcPts val="800"/>
              </a:spcAft>
              <a:buNone/>
            </a:pP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23" name="Google Shape;123;p3"/>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marR="0" lvl="0" indent="-361950" algn="l" rtl="0">
              <a:lnSpc>
                <a:spcPct val="100000"/>
              </a:lnSpc>
              <a:spcBef>
                <a:spcPts val="0"/>
              </a:spcBef>
              <a:spcAft>
                <a:spcPts val="0"/>
              </a:spcAft>
              <a:buClr>
                <a:srgbClr val="FFFF00"/>
              </a:buClr>
              <a:buSzPts val="2100"/>
              <a:buFont typeface="Noto Sans Symbols"/>
              <a:buChar char="◼"/>
            </a:pPr>
            <a:r>
              <a:rPr lang="es-ES" sz="2100" b="1" i="0" u="none" strike="noStrike" cap="none" dirty="0">
                <a:solidFill>
                  <a:schemeClr val="bg1"/>
                </a:solidFill>
                <a:latin typeface="Calibri"/>
                <a:ea typeface="Calibri"/>
                <a:cs typeface="Calibri"/>
                <a:sym typeface="Calibri"/>
              </a:rPr>
              <a:t>INTRODUCCIÓN</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OBJETIVO</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bg1"/>
                </a:solidFill>
                <a:latin typeface="Calibri"/>
                <a:ea typeface="Calibri"/>
                <a:cs typeface="Calibri"/>
                <a:sym typeface="Calibri"/>
              </a:rPr>
              <a:t>MARCO TEÓRICO</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Calibri"/>
              <a:buChar char="◼"/>
            </a:pPr>
            <a:r>
              <a:rPr lang="es-ES" sz="2100" b="1" i="0" u="none" strike="noStrike" cap="none" dirty="0">
                <a:solidFill>
                  <a:srgbClr val="FFFF00"/>
                </a:solidFill>
                <a:latin typeface="Calibri"/>
                <a:ea typeface="Calibri"/>
                <a:cs typeface="Calibri"/>
                <a:sym typeface="Calibri"/>
              </a:rPr>
              <a:t>DESARROLLO</a:t>
            </a:r>
            <a:endParaRPr dirty="0">
              <a:solidFill>
                <a:srgbClr val="FFFF00"/>
              </a:solidFil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CONCLUSIONES</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RECOMENDACIONES</a:t>
            </a:r>
            <a:endParaRPr sz="1400" b="0" i="0" u="none" strike="noStrike" cap="none" dirty="0">
              <a:solidFill>
                <a:schemeClr val="dk1"/>
              </a:solidFill>
              <a:latin typeface="Arial"/>
              <a:ea typeface="Arial"/>
              <a:cs typeface="Arial"/>
              <a:sym typeface="Aria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BIBLIOGRAFÍA </a:t>
            </a:r>
            <a:endParaRPr sz="2100" b="1" i="0" u="none" strike="noStrike" cap="none" dirty="0">
              <a:solidFill>
                <a:srgbClr val="FFFF00"/>
              </a:solidFill>
              <a:latin typeface="Calibri"/>
              <a:ea typeface="Calibri"/>
              <a:cs typeface="Calibri"/>
              <a:sym typeface="Calibri"/>
            </a:endParaRPr>
          </a:p>
        </p:txBody>
      </p:sp>
      <p:pic>
        <p:nvPicPr>
          <p:cNvPr id="12" name="image16.png">
            <a:extLst>
              <a:ext uri="{FF2B5EF4-FFF2-40B4-BE49-F238E27FC236}">
                <a16:creationId xmlns:a16="http://schemas.microsoft.com/office/drawing/2014/main" id="{DF3CCD32-A2C8-4677-BDB0-C3C82694FF74}"/>
              </a:ext>
            </a:extLst>
          </p:cNvPr>
          <p:cNvPicPr/>
          <p:nvPr/>
        </p:nvPicPr>
        <p:blipFill>
          <a:blip r:embed="rId4"/>
          <a:srcRect/>
          <a:stretch>
            <a:fillRect/>
          </a:stretch>
        </p:blipFill>
        <p:spPr>
          <a:xfrm>
            <a:off x="2174018" y="2918222"/>
            <a:ext cx="5153025" cy="3267075"/>
          </a:xfrm>
          <a:prstGeom prst="rect">
            <a:avLst/>
          </a:prstGeom>
          <a:ln w="25400">
            <a:solidFill>
              <a:srgbClr val="000000"/>
            </a:solidFill>
            <a:prstDash val="solid"/>
          </a:ln>
        </p:spPr>
      </p:pic>
    </p:spTree>
    <p:extLst>
      <p:ext uri="{BB962C8B-B14F-4D97-AF65-F5344CB8AC3E}">
        <p14:creationId xmlns:p14="http://schemas.microsoft.com/office/powerpoint/2010/main" val="37987659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115" name="Google Shape;115;p3" descr="Imagen que contiene electrónica, circuito&#10;&#10;Descripción generada automáticamente"/>
          <p:cNvPicPr preferRelativeResize="0"/>
          <p:nvPr/>
        </p:nvPicPr>
        <p:blipFill rotWithShape="1">
          <a:blip r:embed="rId3">
            <a:alphaModFix amt="35000"/>
          </a:blip>
          <a:srcRect t="15730"/>
          <a:stretch/>
        </p:blipFill>
        <p:spPr>
          <a:xfrm>
            <a:off x="20" y="10"/>
            <a:ext cx="12191980" cy="6857990"/>
          </a:xfrm>
          <a:prstGeom prst="rect">
            <a:avLst/>
          </a:prstGeom>
          <a:noFill/>
          <a:ln>
            <a:noFill/>
          </a:ln>
        </p:spPr>
      </p:pic>
      <p:sp>
        <p:nvSpPr>
          <p:cNvPr id="116" name="Google Shape;116;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solidFill>
                  <a:srgbClr val="FFFF00"/>
                </a:solidFill>
              </a:rPr>
              <a:t>Desarrollo </a:t>
            </a:r>
            <a:endParaRPr dirty="0">
              <a:solidFill>
                <a:srgbClr val="FFFF00"/>
              </a:solidFill>
            </a:endParaRPr>
          </a:p>
        </p:txBody>
      </p:sp>
      <p:grpSp>
        <p:nvGrpSpPr>
          <p:cNvPr id="118" name="Google Shape;118;p3"/>
          <p:cNvGrpSpPr/>
          <p:nvPr/>
        </p:nvGrpSpPr>
        <p:grpSpPr>
          <a:xfrm>
            <a:off x="446534" y="453643"/>
            <a:ext cx="11298933" cy="98554"/>
            <a:chOff x="446534" y="453643"/>
            <a:chExt cx="11298933" cy="98554"/>
          </a:xfrm>
        </p:grpSpPr>
        <p:sp>
          <p:nvSpPr>
            <p:cNvPr id="119" name="Google Shape;119;p3"/>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3"/>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2" name="Google Shape;122;p3"/>
          <p:cNvSpPr txBox="1">
            <a:spLocks noGrp="1"/>
          </p:cNvSpPr>
          <p:nvPr>
            <p:ph type="body" idx="1"/>
          </p:nvPr>
        </p:nvSpPr>
        <p:spPr>
          <a:xfrm>
            <a:off x="397408" y="1865916"/>
            <a:ext cx="8620500" cy="2104612"/>
          </a:xfrm>
          <a:prstGeom prst="rect">
            <a:avLst/>
          </a:prstGeom>
          <a:noFill/>
          <a:ln>
            <a:noFill/>
          </a:ln>
        </p:spPr>
        <p:txBody>
          <a:bodyPr spcFirstLastPara="1" wrap="square" lIns="91425" tIns="45700" rIns="91425" bIns="45700" anchor="ctr" anchorCtr="0">
            <a:normAutofit/>
          </a:bodyPr>
          <a:lstStyle/>
          <a:p>
            <a:pPr>
              <a:lnSpc>
                <a:spcPct val="115000"/>
              </a:lnSpc>
              <a:spcAft>
                <a:spcPts val="1000"/>
              </a:spcAft>
            </a:pPr>
            <a:r>
              <a:rPr lang="es-419" sz="1800" dirty="0">
                <a:effectLst/>
                <a:latin typeface="Cambria" panose="02040503050406030204" pitchFamily="18" charset="0"/>
                <a:ea typeface="MS Mincho" panose="02020609040205080304" pitchFamily="49" charset="-128"/>
                <a:cs typeface="Cambria" panose="02040503050406030204" pitchFamily="18" charset="0"/>
              </a:rPr>
              <a:t>Pantalla de verificación de identidad de AWS. El sistema exige validar un código de seguridad enviado al correo registrado antes de proceder con la recopilación de datos de facturación. </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0" indent="0">
              <a:lnSpc>
                <a:spcPct val="107000"/>
              </a:lnSpc>
              <a:spcAft>
                <a:spcPts val="800"/>
              </a:spcAft>
              <a:buNone/>
            </a:pP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23" name="Google Shape;123;p3"/>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marR="0" lvl="0" indent="-361950" algn="l" rtl="0">
              <a:lnSpc>
                <a:spcPct val="100000"/>
              </a:lnSpc>
              <a:spcBef>
                <a:spcPts val="0"/>
              </a:spcBef>
              <a:spcAft>
                <a:spcPts val="0"/>
              </a:spcAft>
              <a:buClr>
                <a:srgbClr val="FFFF00"/>
              </a:buClr>
              <a:buSzPts val="2100"/>
              <a:buFont typeface="Noto Sans Symbols"/>
              <a:buChar char="◼"/>
            </a:pPr>
            <a:r>
              <a:rPr lang="es-ES" sz="2100" b="1" i="0" u="none" strike="noStrike" cap="none" dirty="0">
                <a:solidFill>
                  <a:schemeClr val="bg1"/>
                </a:solidFill>
                <a:latin typeface="Calibri"/>
                <a:ea typeface="Calibri"/>
                <a:cs typeface="Calibri"/>
                <a:sym typeface="Calibri"/>
              </a:rPr>
              <a:t>INTRODUCCIÓN</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OBJETIVO</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bg1"/>
                </a:solidFill>
                <a:latin typeface="Calibri"/>
                <a:ea typeface="Calibri"/>
                <a:cs typeface="Calibri"/>
                <a:sym typeface="Calibri"/>
              </a:rPr>
              <a:t>MARCO TEÓRICO</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Calibri"/>
              <a:buChar char="◼"/>
            </a:pPr>
            <a:r>
              <a:rPr lang="es-ES" sz="2100" b="1" i="0" u="none" strike="noStrike" cap="none" dirty="0">
                <a:solidFill>
                  <a:srgbClr val="FFFF00"/>
                </a:solidFill>
                <a:latin typeface="Calibri"/>
                <a:ea typeface="Calibri"/>
                <a:cs typeface="Calibri"/>
                <a:sym typeface="Calibri"/>
              </a:rPr>
              <a:t>DESARROLLO</a:t>
            </a:r>
            <a:endParaRPr dirty="0">
              <a:solidFill>
                <a:srgbClr val="FFFF00"/>
              </a:solidFil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CONCLUSIONES</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RECOMENDACIONES</a:t>
            </a:r>
            <a:endParaRPr sz="1400" b="0" i="0" u="none" strike="noStrike" cap="none" dirty="0">
              <a:solidFill>
                <a:schemeClr val="dk1"/>
              </a:solidFill>
              <a:latin typeface="Arial"/>
              <a:ea typeface="Arial"/>
              <a:cs typeface="Arial"/>
              <a:sym typeface="Aria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BIBLIOGRAFÍA </a:t>
            </a:r>
            <a:endParaRPr sz="2100" b="1" i="0" u="none" strike="noStrike" cap="none" dirty="0">
              <a:solidFill>
                <a:srgbClr val="FFFF00"/>
              </a:solidFill>
              <a:latin typeface="Calibri"/>
              <a:ea typeface="Calibri"/>
              <a:cs typeface="Calibri"/>
              <a:sym typeface="Calibri"/>
            </a:endParaRPr>
          </a:p>
        </p:txBody>
      </p:sp>
      <p:pic>
        <p:nvPicPr>
          <p:cNvPr id="13" name="image5.png">
            <a:extLst>
              <a:ext uri="{FF2B5EF4-FFF2-40B4-BE49-F238E27FC236}">
                <a16:creationId xmlns:a16="http://schemas.microsoft.com/office/drawing/2014/main" id="{1A5B200F-6BE3-4893-B1EC-0B710937571E}"/>
              </a:ext>
            </a:extLst>
          </p:cNvPr>
          <p:cNvPicPr/>
          <p:nvPr/>
        </p:nvPicPr>
        <p:blipFill>
          <a:blip r:embed="rId4"/>
          <a:srcRect/>
          <a:stretch>
            <a:fillRect/>
          </a:stretch>
        </p:blipFill>
        <p:spPr>
          <a:xfrm>
            <a:off x="1603405" y="3669611"/>
            <a:ext cx="5276850" cy="2171700"/>
          </a:xfrm>
          <a:prstGeom prst="rect">
            <a:avLst/>
          </a:prstGeom>
          <a:ln w="25400">
            <a:solidFill>
              <a:srgbClr val="000000"/>
            </a:solidFill>
            <a:prstDash val="solid"/>
          </a:ln>
        </p:spPr>
      </p:pic>
    </p:spTree>
    <p:extLst>
      <p:ext uri="{BB962C8B-B14F-4D97-AF65-F5344CB8AC3E}">
        <p14:creationId xmlns:p14="http://schemas.microsoft.com/office/powerpoint/2010/main" val="465297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115" name="Google Shape;115;p3" descr="Imagen que contiene electrónica, circuito&#10;&#10;Descripción generada automáticamente"/>
          <p:cNvPicPr preferRelativeResize="0"/>
          <p:nvPr/>
        </p:nvPicPr>
        <p:blipFill rotWithShape="1">
          <a:blip r:embed="rId3">
            <a:alphaModFix amt="35000"/>
          </a:blip>
          <a:srcRect t="15730"/>
          <a:stretch/>
        </p:blipFill>
        <p:spPr>
          <a:xfrm>
            <a:off x="20" y="10"/>
            <a:ext cx="12191980" cy="6857990"/>
          </a:xfrm>
          <a:prstGeom prst="rect">
            <a:avLst/>
          </a:prstGeom>
          <a:noFill/>
          <a:ln>
            <a:noFill/>
          </a:ln>
        </p:spPr>
      </p:pic>
      <p:sp>
        <p:nvSpPr>
          <p:cNvPr id="116" name="Google Shape;116;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solidFill>
                  <a:srgbClr val="FFFF00"/>
                </a:solidFill>
              </a:rPr>
              <a:t>Desarrollo </a:t>
            </a:r>
            <a:endParaRPr dirty="0">
              <a:solidFill>
                <a:srgbClr val="FFFF00"/>
              </a:solidFill>
            </a:endParaRPr>
          </a:p>
        </p:txBody>
      </p:sp>
      <p:grpSp>
        <p:nvGrpSpPr>
          <p:cNvPr id="118" name="Google Shape;118;p3"/>
          <p:cNvGrpSpPr/>
          <p:nvPr/>
        </p:nvGrpSpPr>
        <p:grpSpPr>
          <a:xfrm>
            <a:off x="446534" y="453643"/>
            <a:ext cx="11298933" cy="98554"/>
            <a:chOff x="446534" y="453643"/>
            <a:chExt cx="11298933" cy="98554"/>
          </a:xfrm>
        </p:grpSpPr>
        <p:sp>
          <p:nvSpPr>
            <p:cNvPr id="119" name="Google Shape;119;p3"/>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3"/>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2" name="Google Shape;122;p3"/>
          <p:cNvSpPr txBox="1">
            <a:spLocks noGrp="1"/>
          </p:cNvSpPr>
          <p:nvPr>
            <p:ph type="body" idx="1"/>
          </p:nvPr>
        </p:nvSpPr>
        <p:spPr>
          <a:xfrm>
            <a:off x="397408" y="1865916"/>
            <a:ext cx="8620500" cy="2104612"/>
          </a:xfrm>
          <a:prstGeom prst="rect">
            <a:avLst/>
          </a:prstGeom>
          <a:noFill/>
          <a:ln>
            <a:noFill/>
          </a:ln>
        </p:spPr>
        <p:txBody>
          <a:bodyPr spcFirstLastPara="1" wrap="square" lIns="91425" tIns="45700" rIns="91425" bIns="45700" anchor="ctr" anchorCtr="0">
            <a:normAutofit/>
          </a:bodyPr>
          <a:lstStyle/>
          <a:p>
            <a:pPr marL="0" indent="0">
              <a:lnSpc>
                <a:spcPct val="107000"/>
              </a:lnSpc>
              <a:spcAft>
                <a:spcPts val="800"/>
              </a:spcAft>
              <a:buNone/>
            </a:pPr>
            <a:r>
              <a:rPr lang="es-419" sz="1800" dirty="0">
                <a:effectLst/>
                <a:latin typeface="Cambria" panose="02040503050406030204" pitchFamily="18" charset="0"/>
                <a:ea typeface="MS Mincho" panose="02020609040205080304" pitchFamily="49" charset="-128"/>
                <a:cs typeface="Cambria" panose="02040503050406030204" pitchFamily="18" charset="0"/>
              </a:rPr>
              <a:t>Interfaz de configuración de seguridad. Tras verificar el correo, el usuario establece una contraseña segura para el usuario raíz, indispensable para resguardar el acceso total administrativo a la cuenta. </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23" name="Google Shape;123;p3"/>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marR="0" lvl="0" indent="-361950" algn="l" rtl="0">
              <a:lnSpc>
                <a:spcPct val="100000"/>
              </a:lnSpc>
              <a:spcBef>
                <a:spcPts val="0"/>
              </a:spcBef>
              <a:spcAft>
                <a:spcPts val="0"/>
              </a:spcAft>
              <a:buClr>
                <a:srgbClr val="FFFF00"/>
              </a:buClr>
              <a:buSzPts val="2100"/>
              <a:buFont typeface="Noto Sans Symbols"/>
              <a:buChar char="◼"/>
            </a:pPr>
            <a:r>
              <a:rPr lang="es-ES" sz="2100" b="1" i="0" u="none" strike="noStrike" cap="none" dirty="0">
                <a:solidFill>
                  <a:schemeClr val="bg1"/>
                </a:solidFill>
                <a:latin typeface="Calibri"/>
                <a:ea typeface="Calibri"/>
                <a:cs typeface="Calibri"/>
                <a:sym typeface="Calibri"/>
              </a:rPr>
              <a:t>INTRODUCCIÓN</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OBJETIVO</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bg1"/>
                </a:solidFill>
                <a:latin typeface="Calibri"/>
                <a:ea typeface="Calibri"/>
                <a:cs typeface="Calibri"/>
                <a:sym typeface="Calibri"/>
              </a:rPr>
              <a:t>MARCO TEÓRICO</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Calibri"/>
              <a:buChar char="◼"/>
            </a:pPr>
            <a:r>
              <a:rPr lang="es-ES" sz="2100" b="1" i="0" u="none" strike="noStrike" cap="none" dirty="0">
                <a:solidFill>
                  <a:srgbClr val="FFFF00"/>
                </a:solidFill>
                <a:latin typeface="Calibri"/>
                <a:ea typeface="Calibri"/>
                <a:cs typeface="Calibri"/>
                <a:sym typeface="Calibri"/>
              </a:rPr>
              <a:t>DESARROLLO</a:t>
            </a:r>
            <a:endParaRPr dirty="0">
              <a:solidFill>
                <a:srgbClr val="FFFF00"/>
              </a:solidFil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CONCLUSIONES</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RECOMENDACIONES</a:t>
            </a:r>
            <a:endParaRPr sz="1400" b="0" i="0" u="none" strike="noStrike" cap="none" dirty="0">
              <a:solidFill>
                <a:schemeClr val="dk1"/>
              </a:solidFill>
              <a:latin typeface="Arial"/>
              <a:ea typeface="Arial"/>
              <a:cs typeface="Arial"/>
              <a:sym typeface="Aria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BIBLIOGRAFÍA </a:t>
            </a:r>
            <a:endParaRPr sz="2100" b="1" i="0" u="none" strike="noStrike" cap="none" dirty="0">
              <a:solidFill>
                <a:srgbClr val="FFFF00"/>
              </a:solidFill>
              <a:latin typeface="Calibri"/>
              <a:ea typeface="Calibri"/>
              <a:cs typeface="Calibri"/>
              <a:sym typeface="Calibri"/>
            </a:endParaRPr>
          </a:p>
        </p:txBody>
      </p:sp>
      <p:pic>
        <p:nvPicPr>
          <p:cNvPr id="13" name="image17.png">
            <a:extLst>
              <a:ext uri="{FF2B5EF4-FFF2-40B4-BE49-F238E27FC236}">
                <a16:creationId xmlns:a16="http://schemas.microsoft.com/office/drawing/2014/main" id="{44996D62-6057-4AF3-BADE-03D967B89B81}"/>
              </a:ext>
            </a:extLst>
          </p:cNvPr>
          <p:cNvPicPr/>
          <p:nvPr/>
        </p:nvPicPr>
        <p:blipFill>
          <a:blip r:embed="rId4"/>
          <a:srcRect/>
          <a:stretch>
            <a:fillRect/>
          </a:stretch>
        </p:blipFill>
        <p:spPr>
          <a:xfrm>
            <a:off x="1939588" y="3343974"/>
            <a:ext cx="5181600" cy="3305175"/>
          </a:xfrm>
          <a:prstGeom prst="rect">
            <a:avLst/>
          </a:prstGeom>
          <a:ln w="25400">
            <a:solidFill>
              <a:srgbClr val="000000"/>
            </a:solidFill>
            <a:prstDash val="solid"/>
          </a:ln>
        </p:spPr>
      </p:pic>
    </p:spTree>
    <p:extLst>
      <p:ext uri="{BB962C8B-B14F-4D97-AF65-F5344CB8AC3E}">
        <p14:creationId xmlns:p14="http://schemas.microsoft.com/office/powerpoint/2010/main" val="6364412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115" name="Google Shape;115;p3" descr="Imagen que contiene electrónica, circuito&#10;&#10;Descripción generada automáticamente"/>
          <p:cNvPicPr preferRelativeResize="0"/>
          <p:nvPr/>
        </p:nvPicPr>
        <p:blipFill rotWithShape="1">
          <a:blip r:embed="rId3">
            <a:alphaModFix amt="35000"/>
          </a:blip>
          <a:srcRect t="15730"/>
          <a:stretch/>
        </p:blipFill>
        <p:spPr>
          <a:xfrm>
            <a:off x="20" y="10"/>
            <a:ext cx="12191980" cy="6857990"/>
          </a:xfrm>
          <a:prstGeom prst="rect">
            <a:avLst/>
          </a:prstGeom>
          <a:noFill/>
          <a:ln>
            <a:noFill/>
          </a:ln>
        </p:spPr>
      </p:pic>
      <p:sp>
        <p:nvSpPr>
          <p:cNvPr id="116" name="Google Shape;116;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solidFill>
                  <a:srgbClr val="FFFF00"/>
                </a:solidFill>
              </a:rPr>
              <a:t>Desarrollo </a:t>
            </a:r>
            <a:endParaRPr dirty="0">
              <a:solidFill>
                <a:srgbClr val="FFFF00"/>
              </a:solidFill>
            </a:endParaRPr>
          </a:p>
        </p:txBody>
      </p:sp>
      <p:grpSp>
        <p:nvGrpSpPr>
          <p:cNvPr id="118" name="Google Shape;118;p3"/>
          <p:cNvGrpSpPr/>
          <p:nvPr/>
        </p:nvGrpSpPr>
        <p:grpSpPr>
          <a:xfrm>
            <a:off x="446534" y="453643"/>
            <a:ext cx="11298933" cy="98554"/>
            <a:chOff x="446534" y="453643"/>
            <a:chExt cx="11298933" cy="98554"/>
          </a:xfrm>
        </p:grpSpPr>
        <p:sp>
          <p:nvSpPr>
            <p:cNvPr id="119" name="Google Shape;119;p3"/>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3"/>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2" name="Google Shape;122;p3"/>
          <p:cNvSpPr txBox="1">
            <a:spLocks noGrp="1"/>
          </p:cNvSpPr>
          <p:nvPr>
            <p:ph type="body" idx="1"/>
          </p:nvPr>
        </p:nvSpPr>
        <p:spPr>
          <a:xfrm>
            <a:off x="397408" y="1865916"/>
            <a:ext cx="8620500" cy="2104612"/>
          </a:xfrm>
          <a:prstGeom prst="rect">
            <a:avLst/>
          </a:prstGeom>
          <a:noFill/>
          <a:ln>
            <a:noFill/>
          </a:ln>
        </p:spPr>
        <p:txBody>
          <a:bodyPr spcFirstLastPara="1" wrap="square" lIns="91425" tIns="45700" rIns="91425" bIns="45700" anchor="ctr" anchorCtr="0">
            <a:normAutofit/>
          </a:bodyPr>
          <a:lstStyle/>
          <a:p>
            <a:pPr marL="0" indent="0">
              <a:lnSpc>
                <a:spcPct val="107000"/>
              </a:lnSpc>
              <a:spcAft>
                <a:spcPts val="800"/>
              </a:spcAft>
              <a:buNone/>
            </a:pPr>
            <a:r>
              <a:rPr lang="es-419" sz="1800" dirty="0">
                <a:effectLst/>
                <a:latin typeface="Cambria" panose="02040503050406030204" pitchFamily="18" charset="0"/>
                <a:ea typeface="MS Mincho" panose="02020609040205080304" pitchFamily="49" charset="-128"/>
                <a:cs typeface="Cambria" panose="02040503050406030204" pitchFamily="18" charset="0"/>
              </a:rPr>
              <a:t>Formulario de información de contacto. Recopila datos empresariales o personales (nombre, organización, dirección y teléfono) requeridos obligatoriamente por AWS para completar el perfil legal y de facturación de la cuenta. </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23" name="Google Shape;123;p3"/>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marR="0" lvl="0" indent="-361950" algn="l" rtl="0">
              <a:lnSpc>
                <a:spcPct val="100000"/>
              </a:lnSpc>
              <a:spcBef>
                <a:spcPts val="0"/>
              </a:spcBef>
              <a:spcAft>
                <a:spcPts val="0"/>
              </a:spcAft>
              <a:buClr>
                <a:srgbClr val="FFFF00"/>
              </a:buClr>
              <a:buSzPts val="2100"/>
              <a:buFont typeface="Noto Sans Symbols"/>
              <a:buChar char="◼"/>
            </a:pPr>
            <a:r>
              <a:rPr lang="es-ES" sz="2100" b="1" i="0" u="none" strike="noStrike" cap="none" dirty="0">
                <a:solidFill>
                  <a:schemeClr val="bg1"/>
                </a:solidFill>
                <a:latin typeface="Calibri"/>
                <a:ea typeface="Calibri"/>
                <a:cs typeface="Calibri"/>
                <a:sym typeface="Calibri"/>
              </a:rPr>
              <a:t>INTRODUCCIÓN</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OBJETIVO</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bg1"/>
                </a:solidFill>
                <a:latin typeface="Calibri"/>
                <a:ea typeface="Calibri"/>
                <a:cs typeface="Calibri"/>
                <a:sym typeface="Calibri"/>
              </a:rPr>
              <a:t>MARCO TEÓRICO</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Calibri"/>
              <a:buChar char="◼"/>
            </a:pPr>
            <a:r>
              <a:rPr lang="es-ES" sz="2100" b="1" i="0" u="none" strike="noStrike" cap="none" dirty="0">
                <a:solidFill>
                  <a:srgbClr val="FFFF00"/>
                </a:solidFill>
                <a:latin typeface="Calibri"/>
                <a:ea typeface="Calibri"/>
                <a:cs typeface="Calibri"/>
                <a:sym typeface="Calibri"/>
              </a:rPr>
              <a:t>DESARROLLO</a:t>
            </a:r>
            <a:endParaRPr dirty="0">
              <a:solidFill>
                <a:srgbClr val="FFFF00"/>
              </a:solidFil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CONCLUSIONES</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RECOMENDACIONES</a:t>
            </a:r>
            <a:endParaRPr sz="1400" b="0" i="0" u="none" strike="noStrike" cap="none" dirty="0">
              <a:solidFill>
                <a:schemeClr val="dk1"/>
              </a:solidFill>
              <a:latin typeface="Arial"/>
              <a:ea typeface="Arial"/>
              <a:cs typeface="Arial"/>
              <a:sym typeface="Aria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BIBLIOGRAFÍA </a:t>
            </a:r>
            <a:endParaRPr sz="2100" b="1" i="0" u="none" strike="noStrike" cap="none" dirty="0">
              <a:solidFill>
                <a:srgbClr val="FFFF00"/>
              </a:solidFill>
              <a:latin typeface="Calibri"/>
              <a:ea typeface="Calibri"/>
              <a:cs typeface="Calibri"/>
              <a:sym typeface="Calibri"/>
            </a:endParaRPr>
          </a:p>
        </p:txBody>
      </p:sp>
      <p:pic>
        <p:nvPicPr>
          <p:cNvPr id="13" name="image23.png">
            <a:extLst>
              <a:ext uri="{FF2B5EF4-FFF2-40B4-BE49-F238E27FC236}">
                <a16:creationId xmlns:a16="http://schemas.microsoft.com/office/drawing/2014/main" id="{01808FCD-C829-4B28-B873-E16F177A7565}"/>
              </a:ext>
            </a:extLst>
          </p:cNvPr>
          <p:cNvPicPr/>
          <p:nvPr/>
        </p:nvPicPr>
        <p:blipFill>
          <a:blip r:embed="rId4"/>
          <a:srcRect/>
          <a:stretch>
            <a:fillRect/>
          </a:stretch>
        </p:blipFill>
        <p:spPr>
          <a:xfrm>
            <a:off x="2298194" y="3669611"/>
            <a:ext cx="5162550" cy="2315210"/>
          </a:xfrm>
          <a:prstGeom prst="rect">
            <a:avLst/>
          </a:prstGeom>
          <a:ln w="25400">
            <a:solidFill>
              <a:srgbClr val="000000"/>
            </a:solidFill>
            <a:prstDash val="solid"/>
          </a:ln>
        </p:spPr>
      </p:pic>
    </p:spTree>
    <p:extLst>
      <p:ext uri="{BB962C8B-B14F-4D97-AF65-F5344CB8AC3E}">
        <p14:creationId xmlns:p14="http://schemas.microsoft.com/office/powerpoint/2010/main" val="3382485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115" name="Google Shape;115;p3" descr="Imagen que contiene electrónica, circuito&#10;&#10;Descripción generada automáticamente"/>
          <p:cNvPicPr preferRelativeResize="0"/>
          <p:nvPr/>
        </p:nvPicPr>
        <p:blipFill rotWithShape="1">
          <a:blip r:embed="rId3">
            <a:alphaModFix amt="35000"/>
          </a:blip>
          <a:srcRect t="15730"/>
          <a:stretch/>
        </p:blipFill>
        <p:spPr>
          <a:xfrm>
            <a:off x="20" y="10"/>
            <a:ext cx="12191980" cy="6857990"/>
          </a:xfrm>
          <a:prstGeom prst="rect">
            <a:avLst/>
          </a:prstGeom>
          <a:noFill/>
          <a:ln>
            <a:noFill/>
          </a:ln>
        </p:spPr>
      </p:pic>
      <p:sp>
        <p:nvSpPr>
          <p:cNvPr id="116" name="Google Shape;116;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solidFill>
                  <a:srgbClr val="FFFF00"/>
                </a:solidFill>
              </a:rPr>
              <a:t>Desarrollo </a:t>
            </a:r>
            <a:endParaRPr dirty="0">
              <a:solidFill>
                <a:srgbClr val="FFFF00"/>
              </a:solidFill>
            </a:endParaRPr>
          </a:p>
        </p:txBody>
      </p:sp>
      <p:grpSp>
        <p:nvGrpSpPr>
          <p:cNvPr id="118" name="Google Shape;118;p3"/>
          <p:cNvGrpSpPr/>
          <p:nvPr/>
        </p:nvGrpSpPr>
        <p:grpSpPr>
          <a:xfrm>
            <a:off x="446534" y="453643"/>
            <a:ext cx="11298933" cy="98554"/>
            <a:chOff x="446534" y="453643"/>
            <a:chExt cx="11298933" cy="98554"/>
          </a:xfrm>
        </p:grpSpPr>
        <p:sp>
          <p:nvSpPr>
            <p:cNvPr id="119" name="Google Shape;119;p3"/>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3"/>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2" name="Google Shape;122;p3"/>
          <p:cNvSpPr txBox="1">
            <a:spLocks noGrp="1"/>
          </p:cNvSpPr>
          <p:nvPr>
            <p:ph type="body" idx="1"/>
          </p:nvPr>
        </p:nvSpPr>
        <p:spPr>
          <a:xfrm>
            <a:off x="397408" y="1865915"/>
            <a:ext cx="8620500" cy="5079833"/>
          </a:xfrm>
          <a:prstGeom prst="rect">
            <a:avLst/>
          </a:prstGeom>
          <a:noFill/>
          <a:ln>
            <a:noFill/>
          </a:ln>
        </p:spPr>
        <p:txBody>
          <a:bodyPr spcFirstLastPara="1" wrap="square" lIns="91425" tIns="45700" rIns="91425" bIns="45700" anchor="ctr" anchorCtr="0">
            <a:normAutofit fontScale="85000" lnSpcReduction="20000"/>
          </a:bodyPr>
          <a:lstStyle/>
          <a:p>
            <a:pPr>
              <a:lnSpc>
                <a:spcPct val="115000"/>
              </a:lnSpc>
              <a:spcAft>
                <a:spcPts val="1000"/>
              </a:spcAft>
            </a:pPr>
            <a:r>
              <a:rPr lang="es-419" sz="1800" dirty="0">
                <a:effectLst/>
                <a:latin typeface="Cambria" panose="02040503050406030204" pitchFamily="18" charset="0"/>
                <a:ea typeface="Times New Roman" panose="02020603050405020304" pitchFamily="18" charset="0"/>
                <a:cs typeface="Cambria" panose="02040503050406030204" pitchFamily="18" charset="0"/>
              </a:rPr>
              <a:t>El proceso de registro en Amazon Web </a:t>
            </a:r>
            <a:r>
              <a:rPr lang="es-419" sz="1800" dirty="0" err="1">
                <a:effectLst/>
                <a:latin typeface="Cambria" panose="02040503050406030204" pitchFamily="18" charset="0"/>
                <a:ea typeface="Times New Roman" panose="02020603050405020304" pitchFamily="18" charset="0"/>
                <a:cs typeface="Cambria" panose="02040503050406030204" pitchFamily="18" charset="0"/>
              </a:rPr>
              <a:t>Services</a:t>
            </a:r>
            <a:r>
              <a:rPr lang="es-419" sz="1800" dirty="0">
                <a:effectLst/>
                <a:latin typeface="Cambria" panose="02040503050406030204" pitchFamily="18" charset="0"/>
                <a:ea typeface="Times New Roman" panose="02020603050405020304" pitchFamily="18" charset="0"/>
                <a:cs typeface="Cambria" panose="02040503050406030204" pitchFamily="18" charset="0"/>
              </a:rPr>
              <a:t> (AWS) constituye el punto de partida para la implementación de cualquier infraestructura en la nube. Durante esta etapa, AWS solicita información de contacto, validación de correo electrónico, verificación telefónica y un método de pago válido con el fin de garantizar la identidad del usuario y habilitar el acceso a los servicios de la plataforma.</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800" dirty="0">
                <a:effectLst/>
                <a:latin typeface="Cambria" panose="02040503050406030204" pitchFamily="18" charset="0"/>
                <a:ea typeface="Times New Roman" panose="02020603050405020304" pitchFamily="18" charset="0"/>
                <a:cs typeface="Cambria" panose="02040503050406030204" pitchFamily="18" charset="0"/>
              </a:rPr>
              <a:t>Una vez creada la cuenta, es recomendable aplicar buenas prácticas de seguridad desde el inicio. Entre ellas se encuentran la habilitación de la autenticación </a:t>
            </a:r>
            <a:r>
              <a:rPr lang="es-419" sz="1800" dirty="0" err="1">
                <a:effectLst/>
                <a:latin typeface="Cambria" panose="02040503050406030204" pitchFamily="18" charset="0"/>
                <a:ea typeface="Times New Roman" panose="02020603050405020304" pitchFamily="18" charset="0"/>
                <a:cs typeface="Cambria" panose="02040503050406030204" pitchFamily="18" charset="0"/>
              </a:rPr>
              <a:t>multifactor</a:t>
            </a:r>
            <a:r>
              <a:rPr lang="es-419" sz="1800" dirty="0">
                <a:effectLst/>
                <a:latin typeface="Cambria" panose="02040503050406030204" pitchFamily="18" charset="0"/>
                <a:ea typeface="Times New Roman" panose="02020603050405020304" pitchFamily="18" charset="0"/>
                <a:cs typeface="Cambria" panose="02040503050406030204" pitchFamily="18" charset="0"/>
              </a:rPr>
              <a:t> (MFA) para el usuario raíz, la creación de usuarios IAM con permisos específicos para las actividades diarias y la utilización del usuario raíz únicamente para tareas administrativas críticas. Estas medidas contribuyen a reducir riesgos de acceso no autorizado y fortalecen la protección de la cuenta.</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800" dirty="0">
                <a:effectLst/>
                <a:latin typeface="Cambria" panose="02040503050406030204" pitchFamily="18" charset="0"/>
                <a:ea typeface="Times New Roman" panose="02020603050405020304" pitchFamily="18" charset="0"/>
                <a:cs typeface="Cambria" panose="02040503050406030204" pitchFamily="18" charset="0"/>
              </a:rPr>
              <a:t>AWS ofrece un conjunto de recursos gratuitos a través de AWS Free </a:t>
            </a:r>
            <a:r>
              <a:rPr lang="es-419" sz="1800" dirty="0" err="1">
                <a:effectLst/>
                <a:latin typeface="Cambria" panose="02040503050406030204" pitchFamily="18" charset="0"/>
                <a:ea typeface="Times New Roman" panose="02020603050405020304" pitchFamily="18" charset="0"/>
                <a:cs typeface="Cambria" panose="02040503050406030204" pitchFamily="18" charset="0"/>
              </a:rPr>
              <a:t>Tier</a:t>
            </a:r>
            <a:r>
              <a:rPr lang="es-419" sz="1800" dirty="0">
                <a:effectLst/>
                <a:latin typeface="Cambria" panose="02040503050406030204" pitchFamily="18" charset="0"/>
                <a:ea typeface="Times New Roman" panose="02020603050405020304" pitchFamily="18" charset="0"/>
                <a:cs typeface="Cambria" panose="02040503050406030204" pitchFamily="18" charset="0"/>
              </a:rPr>
              <a:t>, permitiendo a estudiantes, desarrolladores y organizaciones explorar diversos servicios sin incurrir en costos significativos durante un período determinado. Esta modalidad facilita el aprendizaje y la experimentación con tecnologías de nube antes de realizar inversiones en entornos de producción.</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800" dirty="0">
                <a:effectLst/>
                <a:latin typeface="Cambria" panose="02040503050406030204" pitchFamily="18" charset="0"/>
                <a:ea typeface="Times New Roman" panose="02020603050405020304" pitchFamily="18" charset="0"/>
                <a:cs typeface="Cambria" panose="02040503050406030204" pitchFamily="18" charset="0"/>
              </a:rPr>
              <a:t>La administración de los servicios se realiza mediante la Consola de Administración de AWS, una interfaz web centralizada que permite aprovisionar recursos, monitorear el consumo, administrar configuraciones de seguridad y acceder a los diferentes servicios disponibles. Adicionalmente, herramientas como AWS IAM, AWS </a:t>
            </a:r>
            <a:r>
              <a:rPr lang="es-419" sz="1800" dirty="0" err="1">
                <a:effectLst/>
                <a:latin typeface="Cambria" panose="02040503050406030204" pitchFamily="18" charset="0"/>
                <a:ea typeface="Times New Roman" panose="02020603050405020304" pitchFamily="18" charset="0"/>
                <a:cs typeface="Cambria" panose="02040503050406030204" pitchFamily="18" charset="0"/>
              </a:rPr>
              <a:t>Budgets</a:t>
            </a:r>
            <a:r>
              <a:rPr lang="es-419" sz="1800" dirty="0">
                <a:effectLst/>
                <a:latin typeface="Cambria" panose="02040503050406030204" pitchFamily="18" charset="0"/>
                <a:ea typeface="Times New Roman" panose="02020603050405020304" pitchFamily="18" charset="0"/>
                <a:cs typeface="Cambria" panose="02040503050406030204" pitchFamily="18" charset="0"/>
              </a:rPr>
              <a:t> y AWS </a:t>
            </a:r>
            <a:r>
              <a:rPr lang="es-419" sz="1800" dirty="0" err="1">
                <a:effectLst/>
                <a:latin typeface="Cambria" panose="02040503050406030204" pitchFamily="18" charset="0"/>
                <a:ea typeface="Times New Roman" panose="02020603050405020304" pitchFamily="18" charset="0"/>
                <a:cs typeface="Cambria" panose="02040503050406030204" pitchFamily="18" charset="0"/>
              </a:rPr>
              <a:t>CloudTrail</a:t>
            </a:r>
            <a:r>
              <a:rPr lang="es-419" sz="1800" dirty="0">
                <a:effectLst/>
                <a:latin typeface="Cambria" panose="02040503050406030204" pitchFamily="18" charset="0"/>
                <a:ea typeface="Times New Roman" panose="02020603050405020304" pitchFamily="18" charset="0"/>
                <a:cs typeface="Cambria" panose="02040503050406030204" pitchFamily="18" charset="0"/>
              </a:rPr>
              <a:t> permiten fortalecer la gestión de accesos, el control de costos y la auditoría de actividades dentro de la plataforma.</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0" indent="0">
              <a:lnSpc>
                <a:spcPct val="107000"/>
              </a:lnSpc>
              <a:spcAft>
                <a:spcPts val="800"/>
              </a:spcAft>
              <a:buNone/>
            </a:pP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23" name="Google Shape;123;p3"/>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marR="0" lvl="0" indent="-361950" algn="l" rtl="0">
              <a:lnSpc>
                <a:spcPct val="100000"/>
              </a:lnSpc>
              <a:spcBef>
                <a:spcPts val="0"/>
              </a:spcBef>
              <a:spcAft>
                <a:spcPts val="0"/>
              </a:spcAft>
              <a:buClr>
                <a:srgbClr val="FFFF00"/>
              </a:buClr>
              <a:buSzPts val="2100"/>
              <a:buFont typeface="Noto Sans Symbols"/>
              <a:buChar char="◼"/>
            </a:pPr>
            <a:r>
              <a:rPr lang="es-ES" sz="2100" b="1" i="0" u="none" strike="noStrike" cap="none" dirty="0">
                <a:solidFill>
                  <a:schemeClr val="bg1"/>
                </a:solidFill>
                <a:latin typeface="Calibri"/>
                <a:ea typeface="Calibri"/>
                <a:cs typeface="Calibri"/>
                <a:sym typeface="Calibri"/>
              </a:rPr>
              <a:t>INTRODUCCIÓN</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OBJETIVO</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bg1"/>
                </a:solidFill>
                <a:latin typeface="Calibri"/>
                <a:ea typeface="Calibri"/>
                <a:cs typeface="Calibri"/>
                <a:sym typeface="Calibri"/>
              </a:rPr>
              <a:t>MARCO TEÓRICO</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Calibri"/>
              <a:buChar char="◼"/>
            </a:pPr>
            <a:r>
              <a:rPr lang="es-ES" sz="2100" b="1" i="0" u="none" strike="noStrike" cap="none" dirty="0">
                <a:solidFill>
                  <a:srgbClr val="FFFF00"/>
                </a:solidFill>
                <a:latin typeface="Calibri"/>
                <a:ea typeface="Calibri"/>
                <a:cs typeface="Calibri"/>
                <a:sym typeface="Calibri"/>
              </a:rPr>
              <a:t>DESARROLLO</a:t>
            </a:r>
            <a:endParaRPr dirty="0">
              <a:solidFill>
                <a:srgbClr val="FFFF00"/>
              </a:solidFil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CONCLUSIONES</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RECOMENDACIONES</a:t>
            </a:r>
            <a:endParaRPr sz="1400" b="0" i="0" u="none" strike="noStrike" cap="none" dirty="0">
              <a:solidFill>
                <a:schemeClr val="dk1"/>
              </a:solidFill>
              <a:latin typeface="Arial"/>
              <a:ea typeface="Arial"/>
              <a:cs typeface="Arial"/>
              <a:sym typeface="Aria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BIBLIOGRAFÍA </a:t>
            </a:r>
            <a:endParaRPr sz="2100" b="1" i="0" u="none" strike="noStrike" cap="none" dirty="0">
              <a:solidFill>
                <a:srgbClr val="FFFF00"/>
              </a:solidFill>
              <a:latin typeface="Calibri"/>
              <a:ea typeface="Calibri"/>
              <a:cs typeface="Calibri"/>
              <a:sym typeface="Calibri"/>
            </a:endParaRPr>
          </a:p>
        </p:txBody>
      </p:sp>
    </p:spTree>
    <p:extLst>
      <p:ext uri="{BB962C8B-B14F-4D97-AF65-F5344CB8AC3E}">
        <p14:creationId xmlns:p14="http://schemas.microsoft.com/office/powerpoint/2010/main" val="16094990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115" name="Google Shape;115;p3" descr="Imagen que contiene electrónica, circuito&#10;&#10;Descripción generada automáticamente"/>
          <p:cNvPicPr preferRelativeResize="0"/>
          <p:nvPr/>
        </p:nvPicPr>
        <p:blipFill rotWithShape="1">
          <a:blip r:embed="rId3">
            <a:alphaModFix amt="35000"/>
          </a:blip>
          <a:srcRect t="15730"/>
          <a:stretch/>
        </p:blipFill>
        <p:spPr>
          <a:xfrm>
            <a:off x="20" y="10"/>
            <a:ext cx="12191980" cy="6857990"/>
          </a:xfrm>
          <a:prstGeom prst="rect">
            <a:avLst/>
          </a:prstGeom>
          <a:noFill/>
          <a:ln>
            <a:noFill/>
          </a:ln>
        </p:spPr>
      </p:pic>
      <p:sp>
        <p:nvSpPr>
          <p:cNvPr id="116" name="Google Shape;116;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solidFill>
                  <a:srgbClr val="FFFF00"/>
                </a:solidFill>
              </a:rPr>
              <a:t>Desarrollo </a:t>
            </a:r>
            <a:endParaRPr dirty="0">
              <a:solidFill>
                <a:srgbClr val="FFFF00"/>
              </a:solidFill>
            </a:endParaRPr>
          </a:p>
        </p:txBody>
      </p:sp>
      <p:grpSp>
        <p:nvGrpSpPr>
          <p:cNvPr id="118" name="Google Shape;118;p3"/>
          <p:cNvGrpSpPr/>
          <p:nvPr/>
        </p:nvGrpSpPr>
        <p:grpSpPr>
          <a:xfrm>
            <a:off x="446534" y="453643"/>
            <a:ext cx="11298933" cy="98554"/>
            <a:chOff x="446534" y="453643"/>
            <a:chExt cx="11298933" cy="98554"/>
          </a:xfrm>
        </p:grpSpPr>
        <p:sp>
          <p:nvSpPr>
            <p:cNvPr id="119" name="Google Shape;119;p3"/>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3"/>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3" name="Google Shape;123;p3"/>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marR="0" lvl="0" indent="-361950" algn="l" rtl="0">
              <a:lnSpc>
                <a:spcPct val="100000"/>
              </a:lnSpc>
              <a:spcBef>
                <a:spcPts val="0"/>
              </a:spcBef>
              <a:spcAft>
                <a:spcPts val="0"/>
              </a:spcAft>
              <a:buClr>
                <a:srgbClr val="FFFF00"/>
              </a:buClr>
              <a:buSzPts val="2100"/>
              <a:buFont typeface="Noto Sans Symbols"/>
              <a:buChar char="◼"/>
            </a:pPr>
            <a:r>
              <a:rPr lang="es-ES" sz="2100" b="1" i="0" u="none" strike="noStrike" cap="none" dirty="0">
                <a:solidFill>
                  <a:schemeClr val="bg1"/>
                </a:solidFill>
                <a:latin typeface="Calibri"/>
                <a:ea typeface="Calibri"/>
                <a:cs typeface="Calibri"/>
                <a:sym typeface="Calibri"/>
              </a:rPr>
              <a:t>INTRODUCCIÓN</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OBJETIVO</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bg1"/>
                </a:solidFill>
                <a:latin typeface="Calibri"/>
                <a:ea typeface="Calibri"/>
                <a:cs typeface="Calibri"/>
                <a:sym typeface="Calibri"/>
              </a:rPr>
              <a:t>MARCO TEÓRICO</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Calibri"/>
              <a:buChar char="◼"/>
            </a:pPr>
            <a:r>
              <a:rPr lang="es-ES" sz="2100" b="1" i="0" u="none" strike="noStrike" cap="none" dirty="0">
                <a:solidFill>
                  <a:srgbClr val="FFFF00"/>
                </a:solidFill>
                <a:latin typeface="Calibri"/>
                <a:ea typeface="Calibri"/>
                <a:cs typeface="Calibri"/>
                <a:sym typeface="Calibri"/>
              </a:rPr>
              <a:t>DESARROLLO</a:t>
            </a:r>
            <a:endParaRPr dirty="0">
              <a:solidFill>
                <a:srgbClr val="FFFF00"/>
              </a:solidFil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CONCLUSIONES</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RECOMENDACIONES</a:t>
            </a:r>
            <a:endParaRPr sz="1400" b="0" i="0" u="none" strike="noStrike" cap="none" dirty="0">
              <a:solidFill>
                <a:schemeClr val="dk1"/>
              </a:solidFill>
              <a:latin typeface="Arial"/>
              <a:ea typeface="Arial"/>
              <a:cs typeface="Arial"/>
              <a:sym typeface="Aria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BIBLIOGRAFÍA </a:t>
            </a:r>
            <a:endParaRPr sz="2100" b="1" i="0" u="none" strike="noStrike" cap="none" dirty="0">
              <a:solidFill>
                <a:srgbClr val="FFFF00"/>
              </a:solidFill>
              <a:latin typeface="Calibri"/>
              <a:ea typeface="Calibri"/>
              <a:cs typeface="Calibri"/>
              <a:sym typeface="Calibri"/>
            </a:endParaRPr>
          </a:p>
        </p:txBody>
      </p:sp>
      <p:sp>
        <p:nvSpPr>
          <p:cNvPr id="14" name="CuadroTexto 13">
            <a:extLst>
              <a:ext uri="{FF2B5EF4-FFF2-40B4-BE49-F238E27FC236}">
                <a16:creationId xmlns:a16="http://schemas.microsoft.com/office/drawing/2014/main" id="{0373FBA0-2070-4B90-BAA6-6319E87CC561}"/>
              </a:ext>
            </a:extLst>
          </p:cNvPr>
          <p:cNvSpPr txBox="1"/>
          <p:nvPr/>
        </p:nvSpPr>
        <p:spPr>
          <a:xfrm>
            <a:off x="79416" y="1865915"/>
            <a:ext cx="8493084" cy="1477328"/>
          </a:xfrm>
          <a:prstGeom prst="rect">
            <a:avLst/>
          </a:prstGeom>
          <a:noFill/>
        </p:spPr>
        <p:txBody>
          <a:bodyPr wrap="square">
            <a:spAutoFit/>
          </a:bodyPr>
          <a:lstStyle/>
          <a:p>
            <a:r>
              <a:rPr lang="es-419" sz="1800" dirty="0">
                <a:effectLst/>
                <a:latin typeface="Cambria" panose="02040503050406030204" pitchFamily="18" charset="0"/>
                <a:ea typeface="MS Mincho" panose="02020609040205080304" pitchFamily="49" charset="-128"/>
                <a:cs typeface="Cambria" panose="02040503050406030204" pitchFamily="18" charset="0"/>
              </a:rPr>
              <a:t>Interfaz del cliente RDP basado en navegador de Amazon </a:t>
            </a:r>
            <a:r>
              <a:rPr lang="es-419" sz="1800" dirty="0" err="1">
                <a:effectLst/>
                <a:latin typeface="Cambria" panose="02040503050406030204" pitchFamily="18" charset="0"/>
                <a:ea typeface="MS Mincho" panose="02020609040205080304" pitchFamily="49" charset="-128"/>
                <a:cs typeface="Cambria" panose="02040503050406030204" pitchFamily="18" charset="0"/>
              </a:rPr>
              <a:t>Lightsail</a:t>
            </a:r>
            <a:r>
              <a:rPr lang="es-419" sz="1800" dirty="0">
                <a:effectLst/>
                <a:latin typeface="Cambria" panose="02040503050406030204" pitchFamily="18" charset="0"/>
                <a:ea typeface="MS Mincho" panose="02020609040205080304" pitchFamily="49" charset="-128"/>
                <a:cs typeface="Cambria" panose="02040503050406030204" pitchFamily="18" charset="0"/>
              </a:rPr>
              <a:t>. Confirma la conexión remota exitosa al escritorio de la instancia Windows Server. Esta herramienta integrada permite administrar el servidor directamente desde la web, sin requerir software externo, facilitando las instalaciones posteriores de las bases de datos. </a:t>
            </a:r>
            <a:endParaRPr lang="es-EC" dirty="0"/>
          </a:p>
        </p:txBody>
      </p:sp>
      <p:pic>
        <p:nvPicPr>
          <p:cNvPr id="13" name="image22.png">
            <a:extLst>
              <a:ext uri="{FF2B5EF4-FFF2-40B4-BE49-F238E27FC236}">
                <a16:creationId xmlns:a16="http://schemas.microsoft.com/office/drawing/2014/main" id="{D03B673E-9F8A-4F30-94F7-4E883E32E429}"/>
              </a:ext>
            </a:extLst>
          </p:cNvPr>
          <p:cNvPicPr/>
          <p:nvPr/>
        </p:nvPicPr>
        <p:blipFill>
          <a:blip r:embed="rId4"/>
          <a:srcRect/>
          <a:stretch>
            <a:fillRect/>
          </a:stretch>
        </p:blipFill>
        <p:spPr>
          <a:xfrm>
            <a:off x="1016903" y="3429000"/>
            <a:ext cx="5362575" cy="2924175"/>
          </a:xfrm>
          <a:prstGeom prst="rect">
            <a:avLst/>
          </a:prstGeom>
          <a:ln w="25400">
            <a:solidFill>
              <a:srgbClr val="000000"/>
            </a:solidFill>
            <a:prstDash val="solid"/>
          </a:ln>
        </p:spPr>
      </p:pic>
    </p:spTree>
    <p:extLst>
      <p:ext uri="{BB962C8B-B14F-4D97-AF65-F5344CB8AC3E}">
        <p14:creationId xmlns:p14="http://schemas.microsoft.com/office/powerpoint/2010/main" val="28727593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115" name="Google Shape;115;p3" descr="Imagen que contiene electrónica, circuito&#10;&#10;Descripción generada automáticamente"/>
          <p:cNvPicPr preferRelativeResize="0"/>
          <p:nvPr/>
        </p:nvPicPr>
        <p:blipFill rotWithShape="1">
          <a:blip r:embed="rId3">
            <a:alphaModFix amt="35000"/>
          </a:blip>
          <a:srcRect t="15730"/>
          <a:stretch/>
        </p:blipFill>
        <p:spPr>
          <a:xfrm>
            <a:off x="20" y="10"/>
            <a:ext cx="12191980" cy="6857990"/>
          </a:xfrm>
          <a:prstGeom prst="rect">
            <a:avLst/>
          </a:prstGeom>
          <a:noFill/>
          <a:ln>
            <a:noFill/>
          </a:ln>
        </p:spPr>
      </p:pic>
      <p:sp>
        <p:nvSpPr>
          <p:cNvPr id="116" name="Google Shape;116;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solidFill>
                  <a:srgbClr val="FFFF00"/>
                </a:solidFill>
              </a:rPr>
              <a:t>Desarrollo </a:t>
            </a:r>
            <a:endParaRPr dirty="0">
              <a:solidFill>
                <a:srgbClr val="FFFF00"/>
              </a:solidFill>
            </a:endParaRPr>
          </a:p>
        </p:txBody>
      </p:sp>
      <p:grpSp>
        <p:nvGrpSpPr>
          <p:cNvPr id="118" name="Google Shape;118;p3"/>
          <p:cNvGrpSpPr/>
          <p:nvPr/>
        </p:nvGrpSpPr>
        <p:grpSpPr>
          <a:xfrm>
            <a:off x="446534" y="453643"/>
            <a:ext cx="11298933" cy="98554"/>
            <a:chOff x="446534" y="453643"/>
            <a:chExt cx="11298933" cy="98554"/>
          </a:xfrm>
        </p:grpSpPr>
        <p:sp>
          <p:nvSpPr>
            <p:cNvPr id="119" name="Google Shape;119;p3"/>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3"/>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3" name="Google Shape;123;p3"/>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marR="0" lvl="0" indent="-361950" algn="l" rtl="0">
              <a:lnSpc>
                <a:spcPct val="100000"/>
              </a:lnSpc>
              <a:spcBef>
                <a:spcPts val="0"/>
              </a:spcBef>
              <a:spcAft>
                <a:spcPts val="0"/>
              </a:spcAft>
              <a:buClr>
                <a:srgbClr val="FFFF00"/>
              </a:buClr>
              <a:buSzPts val="2100"/>
              <a:buFont typeface="Noto Sans Symbols"/>
              <a:buChar char="◼"/>
            </a:pPr>
            <a:r>
              <a:rPr lang="es-ES" sz="2100" b="1" i="0" u="none" strike="noStrike" cap="none" dirty="0">
                <a:solidFill>
                  <a:schemeClr val="bg1"/>
                </a:solidFill>
                <a:latin typeface="Calibri"/>
                <a:ea typeface="Calibri"/>
                <a:cs typeface="Calibri"/>
                <a:sym typeface="Calibri"/>
              </a:rPr>
              <a:t>INTRODUCCIÓN</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OBJETIVO</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bg1"/>
                </a:solidFill>
                <a:latin typeface="Calibri"/>
                <a:ea typeface="Calibri"/>
                <a:cs typeface="Calibri"/>
                <a:sym typeface="Calibri"/>
              </a:rPr>
              <a:t>MARCO TEÓRICO</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Calibri"/>
              <a:buChar char="◼"/>
            </a:pPr>
            <a:r>
              <a:rPr lang="es-ES" sz="2100" b="1" i="0" u="none" strike="noStrike" cap="none" dirty="0">
                <a:solidFill>
                  <a:srgbClr val="FFFF00"/>
                </a:solidFill>
                <a:latin typeface="Calibri"/>
                <a:ea typeface="Calibri"/>
                <a:cs typeface="Calibri"/>
                <a:sym typeface="Calibri"/>
              </a:rPr>
              <a:t>DESARROLLO</a:t>
            </a:r>
            <a:endParaRPr dirty="0">
              <a:solidFill>
                <a:srgbClr val="FFFF00"/>
              </a:solidFil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CONCLUSIONES</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RECOMENDACIONES</a:t>
            </a:r>
            <a:endParaRPr sz="1400" b="0" i="0" u="none" strike="noStrike" cap="none" dirty="0">
              <a:solidFill>
                <a:schemeClr val="dk1"/>
              </a:solidFill>
              <a:latin typeface="Arial"/>
              <a:ea typeface="Arial"/>
              <a:cs typeface="Arial"/>
              <a:sym typeface="Aria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BIBLIOGRAFÍA </a:t>
            </a:r>
            <a:endParaRPr sz="2100" b="1" i="0" u="none" strike="noStrike" cap="none" dirty="0">
              <a:solidFill>
                <a:srgbClr val="FFFF00"/>
              </a:solidFill>
              <a:latin typeface="Calibri"/>
              <a:ea typeface="Calibri"/>
              <a:cs typeface="Calibri"/>
              <a:sym typeface="Calibri"/>
            </a:endParaRPr>
          </a:p>
        </p:txBody>
      </p:sp>
      <p:sp>
        <p:nvSpPr>
          <p:cNvPr id="14" name="CuadroTexto 13">
            <a:extLst>
              <a:ext uri="{FF2B5EF4-FFF2-40B4-BE49-F238E27FC236}">
                <a16:creationId xmlns:a16="http://schemas.microsoft.com/office/drawing/2014/main" id="{0373FBA0-2070-4B90-BAA6-6319E87CC561}"/>
              </a:ext>
            </a:extLst>
          </p:cNvPr>
          <p:cNvSpPr txBox="1"/>
          <p:nvPr/>
        </p:nvSpPr>
        <p:spPr>
          <a:xfrm>
            <a:off x="440286" y="1994940"/>
            <a:ext cx="8493084" cy="1346010"/>
          </a:xfrm>
          <a:prstGeom prst="rect">
            <a:avLst/>
          </a:prstGeom>
          <a:noFill/>
        </p:spPr>
        <p:txBody>
          <a:bodyPr wrap="square">
            <a:spAutoFit/>
          </a:bodyPr>
          <a:lstStyle/>
          <a:p>
            <a:pPr>
              <a:lnSpc>
                <a:spcPct val="115000"/>
              </a:lnSpc>
              <a:spcBef>
                <a:spcPts val="1200"/>
              </a:spcBef>
              <a:spcAft>
                <a:spcPts val="1200"/>
              </a:spcAft>
            </a:pPr>
            <a:r>
              <a:rPr lang="es-419" sz="1800" dirty="0">
                <a:effectLst/>
                <a:latin typeface="Cambria" panose="02040503050406030204" pitchFamily="18" charset="0"/>
                <a:ea typeface="MS Mincho" panose="02020609040205080304" pitchFamily="49" charset="-128"/>
                <a:cs typeface="Cambria" panose="02040503050406030204" pitchFamily="18" charset="0"/>
              </a:rPr>
              <a:t>Portal oficial de descargas de MySQL </a:t>
            </a:r>
            <a:r>
              <a:rPr lang="es-419" sz="1800" dirty="0" err="1">
                <a:effectLst/>
                <a:latin typeface="Cambria" panose="02040503050406030204" pitchFamily="18" charset="0"/>
                <a:ea typeface="MS Mincho" panose="02020609040205080304" pitchFamily="49" charset="-128"/>
                <a:cs typeface="Cambria" panose="02040503050406030204" pitchFamily="18" charset="0"/>
              </a:rPr>
              <a:t>Community</a:t>
            </a:r>
            <a:r>
              <a:rPr lang="es-419" sz="1800" dirty="0">
                <a:effectLst/>
                <a:latin typeface="Cambria" panose="02040503050406030204" pitchFamily="18" charset="0"/>
                <a:ea typeface="MS Mincho" panose="02020609040205080304" pitchFamily="49" charset="-128"/>
                <a:cs typeface="Cambria" panose="02040503050406030204" pitchFamily="18" charset="0"/>
              </a:rPr>
              <a:t>. La pantalla permite omitir el registro opcional de Oracle para iniciar directamente la obtención del instalador. Esta acción es clave para agilizar el aprovisionamiento del segundo motor de base de datos relacional requerido dentro de la instancia VPS.</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p:txBody>
      </p:sp>
      <p:pic>
        <p:nvPicPr>
          <p:cNvPr id="15" name="image12.png">
            <a:extLst>
              <a:ext uri="{FF2B5EF4-FFF2-40B4-BE49-F238E27FC236}">
                <a16:creationId xmlns:a16="http://schemas.microsoft.com/office/drawing/2014/main" id="{7B29EDE2-2AE5-4CD9-972A-087D115D1987}"/>
              </a:ext>
            </a:extLst>
          </p:cNvPr>
          <p:cNvPicPr/>
          <p:nvPr/>
        </p:nvPicPr>
        <p:blipFill>
          <a:blip r:embed="rId4"/>
          <a:srcRect/>
          <a:stretch>
            <a:fillRect/>
          </a:stretch>
        </p:blipFill>
        <p:spPr>
          <a:xfrm>
            <a:off x="1176065" y="3863336"/>
            <a:ext cx="5429250" cy="2790825"/>
          </a:xfrm>
          <a:prstGeom prst="rect">
            <a:avLst/>
          </a:prstGeom>
          <a:ln w="25400">
            <a:solidFill>
              <a:srgbClr val="000000"/>
            </a:solidFill>
            <a:prstDash val="solid"/>
          </a:ln>
        </p:spPr>
      </p:pic>
    </p:spTree>
    <p:extLst>
      <p:ext uri="{BB962C8B-B14F-4D97-AF65-F5344CB8AC3E}">
        <p14:creationId xmlns:p14="http://schemas.microsoft.com/office/powerpoint/2010/main" val="35279334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115" name="Google Shape;115;p3" descr="Imagen que contiene electrónica, circuito&#10;&#10;Descripción generada automáticamente"/>
          <p:cNvPicPr preferRelativeResize="0"/>
          <p:nvPr/>
        </p:nvPicPr>
        <p:blipFill rotWithShape="1">
          <a:blip r:embed="rId3">
            <a:alphaModFix amt="35000"/>
          </a:blip>
          <a:srcRect t="15730"/>
          <a:stretch/>
        </p:blipFill>
        <p:spPr>
          <a:xfrm>
            <a:off x="20" y="10"/>
            <a:ext cx="12191980" cy="6857990"/>
          </a:xfrm>
          <a:prstGeom prst="rect">
            <a:avLst/>
          </a:prstGeom>
          <a:noFill/>
          <a:ln>
            <a:noFill/>
          </a:ln>
        </p:spPr>
      </p:pic>
      <p:sp>
        <p:nvSpPr>
          <p:cNvPr id="116" name="Google Shape;116;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solidFill>
                  <a:srgbClr val="FFFF00"/>
                </a:solidFill>
              </a:rPr>
              <a:t>Desarrollo </a:t>
            </a:r>
            <a:endParaRPr dirty="0">
              <a:solidFill>
                <a:srgbClr val="FFFF00"/>
              </a:solidFill>
            </a:endParaRPr>
          </a:p>
        </p:txBody>
      </p:sp>
      <p:grpSp>
        <p:nvGrpSpPr>
          <p:cNvPr id="118" name="Google Shape;118;p3"/>
          <p:cNvGrpSpPr/>
          <p:nvPr/>
        </p:nvGrpSpPr>
        <p:grpSpPr>
          <a:xfrm>
            <a:off x="446534" y="453643"/>
            <a:ext cx="11298933" cy="98554"/>
            <a:chOff x="446534" y="453643"/>
            <a:chExt cx="11298933" cy="98554"/>
          </a:xfrm>
        </p:grpSpPr>
        <p:sp>
          <p:nvSpPr>
            <p:cNvPr id="119" name="Google Shape;119;p3"/>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3"/>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3" name="Google Shape;123;p3"/>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marR="0" lvl="0" indent="-361950" algn="l" rtl="0">
              <a:lnSpc>
                <a:spcPct val="100000"/>
              </a:lnSpc>
              <a:spcBef>
                <a:spcPts val="0"/>
              </a:spcBef>
              <a:spcAft>
                <a:spcPts val="0"/>
              </a:spcAft>
              <a:buClr>
                <a:srgbClr val="FFFF00"/>
              </a:buClr>
              <a:buSzPts val="2100"/>
              <a:buFont typeface="Noto Sans Symbols"/>
              <a:buChar char="◼"/>
            </a:pPr>
            <a:r>
              <a:rPr lang="es-ES" sz="2100" b="1" i="0" u="none" strike="noStrike" cap="none" dirty="0">
                <a:solidFill>
                  <a:schemeClr val="bg1"/>
                </a:solidFill>
                <a:latin typeface="Calibri"/>
                <a:ea typeface="Calibri"/>
                <a:cs typeface="Calibri"/>
                <a:sym typeface="Calibri"/>
              </a:rPr>
              <a:t>INTRODUCCIÓN</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OBJETIVO</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bg1"/>
                </a:solidFill>
                <a:latin typeface="Calibri"/>
                <a:ea typeface="Calibri"/>
                <a:cs typeface="Calibri"/>
                <a:sym typeface="Calibri"/>
              </a:rPr>
              <a:t>MARCO TEÓRICO</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Calibri"/>
              <a:buChar char="◼"/>
            </a:pPr>
            <a:r>
              <a:rPr lang="es-ES" sz="2100" b="1" i="0" u="none" strike="noStrike" cap="none" dirty="0">
                <a:solidFill>
                  <a:srgbClr val="FFFF00"/>
                </a:solidFill>
                <a:latin typeface="Calibri"/>
                <a:ea typeface="Calibri"/>
                <a:cs typeface="Calibri"/>
                <a:sym typeface="Calibri"/>
              </a:rPr>
              <a:t>DESARROLLO</a:t>
            </a:r>
            <a:endParaRPr dirty="0">
              <a:solidFill>
                <a:srgbClr val="FFFF00"/>
              </a:solidFil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CONCLUSIONES</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RECOMENDACIONES</a:t>
            </a:r>
            <a:endParaRPr sz="1400" b="0" i="0" u="none" strike="noStrike" cap="none" dirty="0">
              <a:solidFill>
                <a:schemeClr val="dk1"/>
              </a:solidFill>
              <a:latin typeface="Arial"/>
              <a:ea typeface="Arial"/>
              <a:cs typeface="Arial"/>
              <a:sym typeface="Aria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BIBLIOGRAFÍA </a:t>
            </a:r>
            <a:endParaRPr sz="2100" b="1" i="0" u="none" strike="noStrike" cap="none" dirty="0">
              <a:solidFill>
                <a:srgbClr val="FFFF00"/>
              </a:solidFill>
              <a:latin typeface="Calibri"/>
              <a:ea typeface="Calibri"/>
              <a:cs typeface="Calibri"/>
              <a:sym typeface="Calibri"/>
            </a:endParaRPr>
          </a:p>
        </p:txBody>
      </p:sp>
      <p:sp>
        <p:nvSpPr>
          <p:cNvPr id="14" name="CuadroTexto 13">
            <a:extLst>
              <a:ext uri="{FF2B5EF4-FFF2-40B4-BE49-F238E27FC236}">
                <a16:creationId xmlns:a16="http://schemas.microsoft.com/office/drawing/2014/main" id="{0373FBA0-2070-4B90-BAA6-6319E87CC561}"/>
              </a:ext>
            </a:extLst>
          </p:cNvPr>
          <p:cNvSpPr txBox="1"/>
          <p:nvPr/>
        </p:nvSpPr>
        <p:spPr>
          <a:xfrm>
            <a:off x="79416" y="1865915"/>
            <a:ext cx="7075764" cy="4663841"/>
          </a:xfrm>
          <a:prstGeom prst="rect">
            <a:avLst/>
          </a:prstGeom>
          <a:noFill/>
        </p:spPr>
        <p:txBody>
          <a:bodyPr wrap="square">
            <a:spAutoFit/>
          </a:bodyPr>
          <a:lstStyle/>
          <a:p>
            <a:pPr>
              <a:lnSpc>
                <a:spcPct val="115000"/>
              </a:lnSpc>
              <a:spcAft>
                <a:spcPts val="1000"/>
              </a:spcAft>
            </a:pPr>
            <a:r>
              <a:rPr lang="es-419" sz="1800" dirty="0">
                <a:effectLst/>
                <a:latin typeface="Cambria" panose="02040503050406030204" pitchFamily="18" charset="0"/>
                <a:ea typeface="MS Mincho" panose="02020609040205080304" pitchFamily="49" charset="-128"/>
                <a:cs typeface="Cambria" panose="02040503050406030204" pitchFamily="18" charset="0"/>
              </a:rPr>
              <a:t>Asistente de instalación de MySQL Server 9.7. Muestra el inicio del despliegue del motor de base de datos en el servidor Windows. Esta fase es esencial para configurar el servicio local, instalar automáticamente los controladores ODBC y establecer las credenciales administrativas que permitirán las conexiones TCP/IP por el puerto 3306. </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800" dirty="0" err="1">
                <a:effectLst/>
                <a:latin typeface="Cambria" panose="02040503050406030204" pitchFamily="18" charset="0"/>
                <a:ea typeface="MS Mincho" panose="02020609040205080304" pitchFamily="49" charset="-128"/>
                <a:cs typeface="Cambria" panose="02040503050406030204" pitchFamily="18" charset="0"/>
              </a:rPr>
              <a:t>Connection</a:t>
            </a:r>
            <a:r>
              <a:rPr lang="es-419" sz="1800" dirty="0">
                <a:effectLst/>
                <a:latin typeface="Cambria" panose="02040503050406030204" pitchFamily="18" charset="0"/>
                <a:ea typeface="MS Mincho" panose="02020609040205080304" pitchFamily="49" charset="-128"/>
                <a:cs typeface="Cambria" panose="02040503050406030204" pitchFamily="18" charset="0"/>
              </a:rPr>
              <a:t> </a:t>
            </a:r>
            <a:r>
              <a:rPr lang="es-419" sz="1800" dirty="0" err="1">
                <a:effectLst/>
                <a:latin typeface="Cambria" panose="02040503050406030204" pitchFamily="18" charset="0"/>
                <a:ea typeface="MS Mincho" panose="02020609040205080304" pitchFamily="49" charset="-128"/>
                <a:cs typeface="Cambria" panose="02040503050406030204" pitchFamily="18" charset="0"/>
              </a:rPr>
              <a:t>Name</a:t>
            </a:r>
            <a:r>
              <a:rPr lang="es-419" sz="1800" dirty="0">
                <a:effectLst/>
                <a:latin typeface="Cambria" panose="02040503050406030204" pitchFamily="18" charset="0"/>
                <a:ea typeface="MS Mincho" panose="02020609040205080304" pitchFamily="49" charset="-128"/>
                <a:cs typeface="Cambria" panose="02040503050406030204" pitchFamily="18" charset="0"/>
              </a:rPr>
              <a:t>: MYSQL AMAZON</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800" dirty="0">
                <a:effectLst/>
                <a:latin typeface="Cambria" panose="02040503050406030204" pitchFamily="18" charset="0"/>
                <a:ea typeface="MS Mincho" panose="02020609040205080304" pitchFamily="49" charset="-128"/>
                <a:cs typeface="Cambria" panose="02040503050406030204" pitchFamily="18" charset="0"/>
              </a:rPr>
              <a:t>	</a:t>
            </a:r>
            <a:r>
              <a:rPr lang="es-419" sz="1800" dirty="0" err="1">
                <a:effectLst/>
                <a:latin typeface="Cambria" panose="02040503050406030204" pitchFamily="18" charset="0"/>
                <a:ea typeface="MS Mincho" panose="02020609040205080304" pitchFamily="49" charset="-128"/>
                <a:cs typeface="Cambria" panose="02040503050406030204" pitchFamily="18" charset="0"/>
              </a:rPr>
              <a:t>Connection</a:t>
            </a:r>
            <a:r>
              <a:rPr lang="es-419" sz="1800" dirty="0">
                <a:effectLst/>
                <a:latin typeface="Cambria" panose="02040503050406030204" pitchFamily="18" charset="0"/>
                <a:ea typeface="MS Mincho" panose="02020609040205080304" pitchFamily="49" charset="-128"/>
                <a:cs typeface="Cambria" panose="02040503050406030204" pitchFamily="18" charset="0"/>
              </a:rPr>
              <a:t> </a:t>
            </a:r>
            <a:r>
              <a:rPr lang="es-419" sz="1800" dirty="0" err="1">
                <a:effectLst/>
                <a:latin typeface="Cambria" panose="02040503050406030204" pitchFamily="18" charset="0"/>
                <a:ea typeface="MS Mincho" panose="02020609040205080304" pitchFamily="49" charset="-128"/>
                <a:cs typeface="Cambria" panose="02040503050406030204" pitchFamily="18" charset="0"/>
              </a:rPr>
              <a:t>Method</a:t>
            </a:r>
            <a:r>
              <a:rPr lang="es-419" sz="1800" dirty="0">
                <a:effectLst/>
                <a:latin typeface="Cambria" panose="02040503050406030204" pitchFamily="18" charset="0"/>
                <a:ea typeface="MS Mincho" panose="02020609040205080304" pitchFamily="49" charset="-128"/>
                <a:cs typeface="Cambria" panose="02040503050406030204" pitchFamily="18" charset="0"/>
              </a:rPr>
              <a:t>: Standard (TCP/IP)</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800" dirty="0">
                <a:effectLst/>
                <a:latin typeface="Cambria" panose="02040503050406030204" pitchFamily="18" charset="0"/>
                <a:ea typeface="MS Mincho" panose="02020609040205080304" pitchFamily="49" charset="-128"/>
                <a:cs typeface="Cambria" panose="02040503050406030204" pitchFamily="18" charset="0"/>
              </a:rPr>
              <a:t>	</a:t>
            </a:r>
            <a:r>
              <a:rPr lang="es-419" sz="1800" dirty="0" err="1">
                <a:effectLst/>
                <a:latin typeface="Cambria" panose="02040503050406030204" pitchFamily="18" charset="0"/>
                <a:ea typeface="MS Mincho" panose="02020609040205080304" pitchFamily="49" charset="-128"/>
                <a:cs typeface="Cambria" panose="02040503050406030204" pitchFamily="18" charset="0"/>
              </a:rPr>
              <a:t>Hostname</a:t>
            </a:r>
            <a:r>
              <a:rPr lang="es-419" sz="1800" dirty="0">
                <a:effectLst/>
                <a:latin typeface="Cambria" panose="02040503050406030204" pitchFamily="18" charset="0"/>
                <a:ea typeface="MS Mincho" panose="02020609040205080304" pitchFamily="49" charset="-128"/>
                <a:cs typeface="Cambria" panose="02040503050406030204" pitchFamily="18" charset="0"/>
              </a:rPr>
              <a:t>: 3.239.254.34</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800" dirty="0">
                <a:effectLst/>
                <a:latin typeface="Cambria" panose="02040503050406030204" pitchFamily="18" charset="0"/>
                <a:ea typeface="MS Mincho" panose="02020609040205080304" pitchFamily="49" charset="-128"/>
                <a:cs typeface="Cambria" panose="02040503050406030204" pitchFamily="18" charset="0"/>
              </a:rPr>
              <a:t>	Port: 3306</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800" dirty="0">
                <a:effectLst/>
                <a:latin typeface="Cambria" panose="02040503050406030204" pitchFamily="18" charset="0"/>
                <a:ea typeface="MS Mincho" panose="02020609040205080304" pitchFamily="49" charset="-128"/>
                <a:cs typeface="Cambria" panose="02040503050406030204" pitchFamily="18" charset="0"/>
              </a:rPr>
              <a:t>	</a:t>
            </a:r>
            <a:r>
              <a:rPr lang="es-419" sz="1800" dirty="0" err="1">
                <a:effectLst/>
                <a:latin typeface="Cambria" panose="02040503050406030204" pitchFamily="18" charset="0"/>
                <a:ea typeface="MS Mincho" panose="02020609040205080304" pitchFamily="49" charset="-128"/>
                <a:cs typeface="Cambria" panose="02040503050406030204" pitchFamily="18" charset="0"/>
              </a:rPr>
              <a:t>Username</a:t>
            </a:r>
            <a:r>
              <a:rPr lang="es-419" sz="1800" dirty="0">
                <a:effectLst/>
                <a:latin typeface="Cambria" panose="02040503050406030204" pitchFamily="18" charset="0"/>
                <a:ea typeface="MS Mincho" panose="02020609040205080304" pitchFamily="49" charset="-128"/>
                <a:cs typeface="Cambria" panose="02040503050406030204" pitchFamily="18" charset="0"/>
              </a:rPr>
              <a:t>: </a:t>
            </a:r>
            <a:r>
              <a:rPr lang="es-419" sz="1800" dirty="0" err="1">
                <a:effectLst/>
                <a:latin typeface="Cambria" panose="02040503050406030204" pitchFamily="18" charset="0"/>
                <a:ea typeface="MS Mincho" panose="02020609040205080304" pitchFamily="49" charset="-128"/>
                <a:cs typeface="Cambria" panose="02040503050406030204" pitchFamily="18" charset="0"/>
              </a:rPr>
              <a:t>admin</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indent="457200">
              <a:lnSpc>
                <a:spcPct val="115000"/>
              </a:lnSpc>
              <a:spcAft>
                <a:spcPts val="1000"/>
              </a:spcAft>
            </a:pPr>
            <a:r>
              <a:rPr lang="es-419" sz="1800" dirty="0" err="1">
                <a:effectLst/>
                <a:latin typeface="Cambria" panose="02040503050406030204" pitchFamily="18" charset="0"/>
                <a:ea typeface="MS Mincho" panose="02020609040205080304" pitchFamily="49" charset="-128"/>
                <a:cs typeface="Cambria" panose="02040503050406030204" pitchFamily="18" charset="0"/>
              </a:rPr>
              <a:t>Password</a:t>
            </a:r>
            <a:r>
              <a:rPr lang="es-419" sz="1800" dirty="0">
                <a:effectLst/>
                <a:latin typeface="Cambria" panose="02040503050406030204" pitchFamily="18" charset="0"/>
                <a:ea typeface="MS Mincho" panose="02020609040205080304" pitchFamily="49" charset="-128"/>
                <a:cs typeface="Cambria" panose="02040503050406030204" pitchFamily="18" charset="0"/>
              </a:rPr>
              <a:t>: SqlAmazon2026</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p:txBody>
      </p:sp>
      <p:pic>
        <p:nvPicPr>
          <p:cNvPr id="13" name="image30.png">
            <a:extLst>
              <a:ext uri="{FF2B5EF4-FFF2-40B4-BE49-F238E27FC236}">
                <a16:creationId xmlns:a16="http://schemas.microsoft.com/office/drawing/2014/main" id="{1EEB97BD-08B6-4DA4-A23D-670976C571D9}"/>
              </a:ext>
            </a:extLst>
          </p:cNvPr>
          <p:cNvPicPr/>
          <p:nvPr/>
        </p:nvPicPr>
        <p:blipFill>
          <a:blip r:embed="rId4"/>
          <a:srcRect/>
          <a:stretch>
            <a:fillRect/>
          </a:stretch>
        </p:blipFill>
        <p:spPr>
          <a:xfrm>
            <a:off x="4241830" y="4732020"/>
            <a:ext cx="4337253" cy="1797736"/>
          </a:xfrm>
          <a:prstGeom prst="rect">
            <a:avLst/>
          </a:prstGeom>
          <a:ln w="25400">
            <a:solidFill>
              <a:srgbClr val="000000"/>
            </a:solidFill>
            <a:prstDash val="solid"/>
          </a:ln>
        </p:spPr>
      </p:pic>
    </p:spTree>
    <p:extLst>
      <p:ext uri="{BB962C8B-B14F-4D97-AF65-F5344CB8AC3E}">
        <p14:creationId xmlns:p14="http://schemas.microsoft.com/office/powerpoint/2010/main" val="8631230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115" name="Google Shape;115;p3" descr="Imagen que contiene electrónica, circuito&#10;&#10;Descripción generada automáticamente"/>
          <p:cNvPicPr preferRelativeResize="0"/>
          <p:nvPr/>
        </p:nvPicPr>
        <p:blipFill rotWithShape="1">
          <a:blip r:embed="rId3">
            <a:alphaModFix amt="35000"/>
          </a:blip>
          <a:srcRect t="15730"/>
          <a:stretch/>
        </p:blipFill>
        <p:spPr>
          <a:xfrm>
            <a:off x="20" y="10"/>
            <a:ext cx="12191980" cy="6857990"/>
          </a:xfrm>
          <a:prstGeom prst="rect">
            <a:avLst/>
          </a:prstGeom>
          <a:noFill/>
          <a:ln>
            <a:noFill/>
          </a:ln>
        </p:spPr>
      </p:pic>
      <p:sp>
        <p:nvSpPr>
          <p:cNvPr id="116" name="Google Shape;116;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solidFill>
                  <a:srgbClr val="FFFF00"/>
                </a:solidFill>
              </a:rPr>
              <a:t>Desarrollo </a:t>
            </a:r>
            <a:endParaRPr dirty="0">
              <a:solidFill>
                <a:srgbClr val="FFFF00"/>
              </a:solidFill>
            </a:endParaRPr>
          </a:p>
        </p:txBody>
      </p:sp>
      <p:grpSp>
        <p:nvGrpSpPr>
          <p:cNvPr id="118" name="Google Shape;118;p3"/>
          <p:cNvGrpSpPr/>
          <p:nvPr/>
        </p:nvGrpSpPr>
        <p:grpSpPr>
          <a:xfrm>
            <a:off x="446534" y="453643"/>
            <a:ext cx="11298933" cy="98554"/>
            <a:chOff x="446534" y="453643"/>
            <a:chExt cx="11298933" cy="98554"/>
          </a:xfrm>
        </p:grpSpPr>
        <p:sp>
          <p:nvSpPr>
            <p:cNvPr id="119" name="Google Shape;119;p3"/>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3"/>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3" name="Google Shape;123;p3"/>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marR="0" lvl="0" indent="-361950" algn="l" rtl="0">
              <a:lnSpc>
                <a:spcPct val="100000"/>
              </a:lnSpc>
              <a:spcBef>
                <a:spcPts val="0"/>
              </a:spcBef>
              <a:spcAft>
                <a:spcPts val="0"/>
              </a:spcAft>
              <a:buClr>
                <a:srgbClr val="FFFF00"/>
              </a:buClr>
              <a:buSzPts val="2100"/>
              <a:buFont typeface="Noto Sans Symbols"/>
              <a:buChar char="◼"/>
            </a:pPr>
            <a:r>
              <a:rPr lang="es-ES" sz="2100" b="1" i="0" u="none" strike="noStrike" cap="none" dirty="0">
                <a:solidFill>
                  <a:schemeClr val="bg1"/>
                </a:solidFill>
                <a:latin typeface="Calibri"/>
                <a:ea typeface="Calibri"/>
                <a:cs typeface="Calibri"/>
                <a:sym typeface="Calibri"/>
              </a:rPr>
              <a:t>INTRODUCCIÓN</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OBJETIVO</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bg1"/>
                </a:solidFill>
                <a:latin typeface="Calibri"/>
                <a:ea typeface="Calibri"/>
                <a:cs typeface="Calibri"/>
                <a:sym typeface="Calibri"/>
              </a:rPr>
              <a:t>MARCO TEÓRICO</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Calibri"/>
              <a:buChar char="◼"/>
            </a:pPr>
            <a:r>
              <a:rPr lang="es-ES" sz="2100" b="1" i="0" u="none" strike="noStrike" cap="none" dirty="0">
                <a:solidFill>
                  <a:srgbClr val="FFFF00"/>
                </a:solidFill>
                <a:latin typeface="Calibri"/>
                <a:ea typeface="Calibri"/>
                <a:cs typeface="Calibri"/>
                <a:sym typeface="Calibri"/>
              </a:rPr>
              <a:t>DESARROLLO</a:t>
            </a:r>
            <a:endParaRPr dirty="0">
              <a:solidFill>
                <a:srgbClr val="FFFF00"/>
              </a:solidFil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CONCLUSIONES</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RECOMENDACIONES</a:t>
            </a:r>
            <a:endParaRPr sz="1400" b="0" i="0" u="none" strike="noStrike" cap="none" dirty="0">
              <a:solidFill>
                <a:schemeClr val="dk1"/>
              </a:solidFill>
              <a:latin typeface="Arial"/>
              <a:ea typeface="Arial"/>
              <a:cs typeface="Arial"/>
              <a:sym typeface="Aria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BIBLIOGRAFÍA </a:t>
            </a:r>
            <a:endParaRPr sz="2100" b="1" i="0" u="none" strike="noStrike" cap="none" dirty="0">
              <a:solidFill>
                <a:srgbClr val="FFFF00"/>
              </a:solidFill>
              <a:latin typeface="Calibri"/>
              <a:ea typeface="Calibri"/>
              <a:cs typeface="Calibri"/>
              <a:sym typeface="Calibri"/>
            </a:endParaRPr>
          </a:p>
        </p:txBody>
      </p:sp>
      <p:sp>
        <p:nvSpPr>
          <p:cNvPr id="14" name="CuadroTexto 13">
            <a:extLst>
              <a:ext uri="{FF2B5EF4-FFF2-40B4-BE49-F238E27FC236}">
                <a16:creationId xmlns:a16="http://schemas.microsoft.com/office/drawing/2014/main" id="{0373FBA0-2070-4B90-BAA6-6319E87CC561}"/>
              </a:ext>
            </a:extLst>
          </p:cNvPr>
          <p:cNvSpPr txBox="1"/>
          <p:nvPr/>
        </p:nvSpPr>
        <p:spPr>
          <a:xfrm>
            <a:off x="79416" y="1865915"/>
            <a:ext cx="8493084" cy="1664558"/>
          </a:xfrm>
          <a:prstGeom prst="rect">
            <a:avLst/>
          </a:prstGeom>
          <a:noFill/>
        </p:spPr>
        <p:txBody>
          <a:bodyPr wrap="square">
            <a:spAutoFit/>
          </a:bodyPr>
          <a:lstStyle/>
          <a:p>
            <a:pPr>
              <a:lnSpc>
                <a:spcPct val="115000"/>
              </a:lnSpc>
              <a:spcAft>
                <a:spcPts val="1000"/>
              </a:spcAft>
            </a:pPr>
            <a:r>
              <a:rPr lang="es-419" sz="1800" dirty="0">
                <a:effectLst/>
                <a:latin typeface="Cambria" panose="02040503050406030204" pitchFamily="18" charset="0"/>
                <a:ea typeface="MS Mincho" panose="02020609040205080304" pitchFamily="49" charset="-128"/>
                <a:cs typeface="Cambria" panose="02040503050406030204" pitchFamily="18" charset="0"/>
              </a:rPr>
              <a:t>Consola PowerShell validando el despliegue de MySQL. Mediante comandos de diagnóstico, se confirma la ejecución del motor y la escucha activa en el puerto 3306. Finalmente, se aplica el comando </a:t>
            </a:r>
            <a:r>
              <a:rPr lang="es-419" sz="1800" dirty="0">
                <a:effectLst/>
                <a:latin typeface="Cambria" panose="02040503050406030204" pitchFamily="18" charset="0"/>
                <a:ea typeface="Roboto Mono"/>
                <a:cs typeface="Cambria" panose="02040503050406030204" pitchFamily="18" charset="0"/>
              </a:rPr>
              <a:t>New-</a:t>
            </a:r>
            <a:r>
              <a:rPr lang="es-419" sz="1800" dirty="0" err="1">
                <a:effectLst/>
                <a:latin typeface="Cambria" panose="02040503050406030204" pitchFamily="18" charset="0"/>
                <a:ea typeface="Roboto Mono"/>
                <a:cs typeface="Cambria" panose="02040503050406030204" pitchFamily="18" charset="0"/>
              </a:rPr>
              <a:t>NetFirewallRule</a:t>
            </a:r>
            <a:r>
              <a:rPr lang="es-419" sz="1800" dirty="0">
                <a:effectLst/>
                <a:latin typeface="Cambria" panose="02040503050406030204" pitchFamily="18" charset="0"/>
                <a:ea typeface="MS Mincho" panose="02020609040205080304" pitchFamily="49" charset="-128"/>
                <a:cs typeface="Cambria" panose="02040503050406030204" pitchFamily="18" charset="0"/>
              </a:rPr>
              <a:t> para habilitar el tráfico TCP entrante en el firewall de Windows, requisito indispensable para permitir conexiones remotas. </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p:txBody>
      </p:sp>
      <p:pic>
        <p:nvPicPr>
          <p:cNvPr id="13" name="image31.png">
            <a:extLst>
              <a:ext uri="{FF2B5EF4-FFF2-40B4-BE49-F238E27FC236}">
                <a16:creationId xmlns:a16="http://schemas.microsoft.com/office/drawing/2014/main" id="{7C5C1A1C-C94D-4D4B-AEFF-300BB1A5CDC7}"/>
              </a:ext>
            </a:extLst>
          </p:cNvPr>
          <p:cNvPicPr/>
          <p:nvPr/>
        </p:nvPicPr>
        <p:blipFill>
          <a:blip r:embed="rId4"/>
          <a:srcRect/>
          <a:stretch>
            <a:fillRect/>
          </a:stretch>
        </p:blipFill>
        <p:spPr>
          <a:xfrm>
            <a:off x="2554298" y="3372430"/>
            <a:ext cx="5372100" cy="3124200"/>
          </a:xfrm>
          <a:prstGeom prst="rect">
            <a:avLst/>
          </a:prstGeom>
          <a:ln w="25400">
            <a:solidFill>
              <a:srgbClr val="000000"/>
            </a:solidFill>
            <a:prstDash val="solid"/>
          </a:ln>
        </p:spPr>
      </p:pic>
    </p:spTree>
    <p:extLst>
      <p:ext uri="{BB962C8B-B14F-4D97-AF65-F5344CB8AC3E}">
        <p14:creationId xmlns:p14="http://schemas.microsoft.com/office/powerpoint/2010/main" val="24758226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115" name="Google Shape;115;p3" descr="Imagen que contiene electrónica, circuito&#10;&#10;Descripción generada automáticamente"/>
          <p:cNvPicPr preferRelativeResize="0"/>
          <p:nvPr/>
        </p:nvPicPr>
        <p:blipFill rotWithShape="1">
          <a:blip r:embed="rId3">
            <a:alphaModFix amt="35000"/>
          </a:blip>
          <a:srcRect t="15730"/>
          <a:stretch/>
        </p:blipFill>
        <p:spPr>
          <a:xfrm>
            <a:off x="20" y="10"/>
            <a:ext cx="12191980" cy="6857990"/>
          </a:xfrm>
          <a:prstGeom prst="rect">
            <a:avLst/>
          </a:prstGeom>
          <a:noFill/>
          <a:ln>
            <a:noFill/>
          </a:ln>
        </p:spPr>
      </p:pic>
      <p:sp>
        <p:nvSpPr>
          <p:cNvPr id="116" name="Google Shape;116;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solidFill>
                  <a:srgbClr val="FFFF00"/>
                </a:solidFill>
              </a:rPr>
              <a:t>Desarrollo </a:t>
            </a:r>
            <a:endParaRPr dirty="0">
              <a:solidFill>
                <a:srgbClr val="FFFF00"/>
              </a:solidFill>
            </a:endParaRPr>
          </a:p>
        </p:txBody>
      </p:sp>
      <p:grpSp>
        <p:nvGrpSpPr>
          <p:cNvPr id="118" name="Google Shape;118;p3"/>
          <p:cNvGrpSpPr/>
          <p:nvPr/>
        </p:nvGrpSpPr>
        <p:grpSpPr>
          <a:xfrm>
            <a:off x="446534" y="453643"/>
            <a:ext cx="11298933" cy="98554"/>
            <a:chOff x="446534" y="453643"/>
            <a:chExt cx="11298933" cy="98554"/>
          </a:xfrm>
        </p:grpSpPr>
        <p:sp>
          <p:nvSpPr>
            <p:cNvPr id="119" name="Google Shape;119;p3"/>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3"/>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3" name="Google Shape;123;p3"/>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marR="0" lvl="0" indent="-361950" algn="l" rtl="0">
              <a:lnSpc>
                <a:spcPct val="100000"/>
              </a:lnSpc>
              <a:spcBef>
                <a:spcPts val="0"/>
              </a:spcBef>
              <a:spcAft>
                <a:spcPts val="0"/>
              </a:spcAft>
              <a:buClr>
                <a:srgbClr val="FFFF00"/>
              </a:buClr>
              <a:buSzPts val="2100"/>
              <a:buFont typeface="Noto Sans Symbols"/>
              <a:buChar char="◼"/>
            </a:pPr>
            <a:r>
              <a:rPr lang="es-ES" sz="2100" b="1" i="0" u="none" strike="noStrike" cap="none" dirty="0">
                <a:solidFill>
                  <a:schemeClr val="bg1"/>
                </a:solidFill>
                <a:latin typeface="Calibri"/>
                <a:ea typeface="Calibri"/>
                <a:cs typeface="Calibri"/>
                <a:sym typeface="Calibri"/>
              </a:rPr>
              <a:t>INTRODUCCIÓN</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OBJETIVO</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bg1"/>
                </a:solidFill>
                <a:latin typeface="Calibri"/>
                <a:ea typeface="Calibri"/>
                <a:cs typeface="Calibri"/>
                <a:sym typeface="Calibri"/>
              </a:rPr>
              <a:t>MARCO TEÓRICO</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Calibri"/>
              <a:buChar char="◼"/>
            </a:pPr>
            <a:r>
              <a:rPr lang="es-ES" sz="2100" b="1" i="0" u="none" strike="noStrike" cap="none" dirty="0">
                <a:solidFill>
                  <a:srgbClr val="FFFF00"/>
                </a:solidFill>
                <a:latin typeface="Calibri"/>
                <a:ea typeface="Calibri"/>
                <a:cs typeface="Calibri"/>
                <a:sym typeface="Calibri"/>
              </a:rPr>
              <a:t>DESARROLLO</a:t>
            </a:r>
            <a:endParaRPr dirty="0">
              <a:solidFill>
                <a:srgbClr val="FFFF00"/>
              </a:solidFil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CONCLUSIONES</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RECOMENDACIONES</a:t>
            </a:r>
            <a:endParaRPr sz="1400" b="0" i="0" u="none" strike="noStrike" cap="none" dirty="0">
              <a:solidFill>
                <a:schemeClr val="dk1"/>
              </a:solidFill>
              <a:latin typeface="Arial"/>
              <a:ea typeface="Arial"/>
              <a:cs typeface="Arial"/>
              <a:sym typeface="Aria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BIBLIOGRAFÍA </a:t>
            </a:r>
            <a:endParaRPr sz="2100" b="1" i="0" u="none" strike="noStrike" cap="none" dirty="0">
              <a:solidFill>
                <a:srgbClr val="FFFF00"/>
              </a:solidFill>
              <a:latin typeface="Calibri"/>
              <a:ea typeface="Calibri"/>
              <a:cs typeface="Calibri"/>
              <a:sym typeface="Calibri"/>
            </a:endParaRPr>
          </a:p>
        </p:txBody>
      </p:sp>
      <p:sp>
        <p:nvSpPr>
          <p:cNvPr id="14" name="CuadroTexto 13">
            <a:extLst>
              <a:ext uri="{FF2B5EF4-FFF2-40B4-BE49-F238E27FC236}">
                <a16:creationId xmlns:a16="http://schemas.microsoft.com/office/drawing/2014/main" id="{0373FBA0-2070-4B90-BAA6-6319E87CC561}"/>
              </a:ext>
            </a:extLst>
          </p:cNvPr>
          <p:cNvSpPr txBox="1"/>
          <p:nvPr/>
        </p:nvSpPr>
        <p:spPr>
          <a:xfrm>
            <a:off x="79416" y="1865915"/>
            <a:ext cx="8493084" cy="1664558"/>
          </a:xfrm>
          <a:prstGeom prst="rect">
            <a:avLst/>
          </a:prstGeom>
          <a:noFill/>
        </p:spPr>
        <p:txBody>
          <a:bodyPr wrap="square">
            <a:spAutoFit/>
          </a:bodyPr>
          <a:lstStyle/>
          <a:p>
            <a:pPr>
              <a:lnSpc>
                <a:spcPct val="115000"/>
              </a:lnSpc>
              <a:spcBef>
                <a:spcPts val="1200"/>
              </a:spcBef>
              <a:spcAft>
                <a:spcPts val="1200"/>
              </a:spcAft>
            </a:pPr>
            <a:r>
              <a:rPr lang="es-419" sz="1800" dirty="0">
                <a:effectLst/>
                <a:latin typeface="Cambria" panose="02040503050406030204" pitchFamily="18" charset="0"/>
                <a:ea typeface="MS Mincho" panose="02020609040205080304" pitchFamily="49" charset="-128"/>
                <a:cs typeface="Cambria" panose="02040503050406030204" pitchFamily="18" charset="0"/>
              </a:rPr>
              <a:t>Portal oficial de descarga de MySQL </a:t>
            </a:r>
            <a:r>
              <a:rPr lang="es-419" sz="1800" dirty="0" err="1">
                <a:effectLst/>
                <a:latin typeface="Cambria" panose="02040503050406030204" pitchFamily="18" charset="0"/>
                <a:ea typeface="MS Mincho" panose="02020609040205080304" pitchFamily="49" charset="-128"/>
                <a:cs typeface="Cambria" panose="02040503050406030204" pitchFamily="18" charset="0"/>
              </a:rPr>
              <a:t>Workbench</a:t>
            </a:r>
            <a:r>
              <a:rPr lang="es-419" sz="1800" dirty="0">
                <a:effectLst/>
                <a:latin typeface="Cambria" panose="02040503050406030204" pitchFamily="18" charset="0"/>
                <a:ea typeface="MS Mincho" panose="02020609040205080304" pitchFamily="49" charset="-128"/>
                <a:cs typeface="Cambria" panose="02040503050406030204" pitchFamily="18" charset="0"/>
              </a:rPr>
              <a:t> y comando PowerShell para habilitar el puerto 3306. La obtención de este cliente es vital, ya que proporciona un entorno gráfico unificado para modelar esquemas, ejecutar consultas SQL y administrar visualmente la instancia de base de datos directamente desde el servidor.</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p:txBody>
      </p:sp>
      <p:pic>
        <p:nvPicPr>
          <p:cNvPr id="13" name="image26.png">
            <a:extLst>
              <a:ext uri="{FF2B5EF4-FFF2-40B4-BE49-F238E27FC236}">
                <a16:creationId xmlns:a16="http://schemas.microsoft.com/office/drawing/2014/main" id="{F6A01706-DA48-48BD-999D-2E0177F4D5B3}"/>
              </a:ext>
            </a:extLst>
          </p:cNvPr>
          <p:cNvPicPr/>
          <p:nvPr/>
        </p:nvPicPr>
        <p:blipFill>
          <a:blip r:embed="rId4"/>
          <a:srcRect/>
          <a:stretch>
            <a:fillRect/>
          </a:stretch>
        </p:blipFill>
        <p:spPr>
          <a:xfrm>
            <a:off x="1654195" y="3592683"/>
            <a:ext cx="5343525" cy="2600325"/>
          </a:xfrm>
          <a:prstGeom prst="rect">
            <a:avLst/>
          </a:prstGeom>
          <a:ln w="25400">
            <a:solidFill>
              <a:srgbClr val="000000"/>
            </a:solidFill>
            <a:prstDash val="solid"/>
          </a:ln>
        </p:spPr>
      </p:pic>
    </p:spTree>
    <p:extLst>
      <p:ext uri="{BB962C8B-B14F-4D97-AF65-F5344CB8AC3E}">
        <p14:creationId xmlns:p14="http://schemas.microsoft.com/office/powerpoint/2010/main" val="27797225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115" name="Google Shape;115;p3" descr="Imagen que contiene electrónica, circuito&#10;&#10;Descripción generada automáticamente"/>
          <p:cNvPicPr preferRelativeResize="0"/>
          <p:nvPr/>
        </p:nvPicPr>
        <p:blipFill rotWithShape="1">
          <a:blip r:embed="rId3">
            <a:alphaModFix amt="35000"/>
          </a:blip>
          <a:srcRect t="15730"/>
          <a:stretch/>
        </p:blipFill>
        <p:spPr>
          <a:xfrm>
            <a:off x="20" y="10"/>
            <a:ext cx="12191980" cy="6857990"/>
          </a:xfrm>
          <a:prstGeom prst="rect">
            <a:avLst/>
          </a:prstGeom>
          <a:noFill/>
          <a:ln>
            <a:noFill/>
          </a:ln>
        </p:spPr>
      </p:pic>
      <p:sp>
        <p:nvSpPr>
          <p:cNvPr id="116" name="Google Shape;116;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solidFill>
                  <a:srgbClr val="FFFF00"/>
                </a:solidFill>
              </a:rPr>
              <a:t>Desarrollo </a:t>
            </a:r>
            <a:endParaRPr dirty="0">
              <a:solidFill>
                <a:srgbClr val="FFFF00"/>
              </a:solidFill>
            </a:endParaRPr>
          </a:p>
        </p:txBody>
      </p:sp>
      <p:grpSp>
        <p:nvGrpSpPr>
          <p:cNvPr id="118" name="Google Shape;118;p3"/>
          <p:cNvGrpSpPr/>
          <p:nvPr/>
        </p:nvGrpSpPr>
        <p:grpSpPr>
          <a:xfrm>
            <a:off x="446534" y="453643"/>
            <a:ext cx="11298933" cy="98554"/>
            <a:chOff x="446534" y="453643"/>
            <a:chExt cx="11298933" cy="98554"/>
          </a:xfrm>
        </p:grpSpPr>
        <p:sp>
          <p:nvSpPr>
            <p:cNvPr id="119" name="Google Shape;119;p3"/>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3"/>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3" name="Google Shape;123;p3"/>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marR="0" lvl="0" indent="-361950" algn="l" rtl="0">
              <a:lnSpc>
                <a:spcPct val="100000"/>
              </a:lnSpc>
              <a:spcBef>
                <a:spcPts val="0"/>
              </a:spcBef>
              <a:spcAft>
                <a:spcPts val="0"/>
              </a:spcAft>
              <a:buClr>
                <a:srgbClr val="FFFF00"/>
              </a:buClr>
              <a:buSzPts val="2100"/>
              <a:buFont typeface="Noto Sans Symbols"/>
              <a:buChar char="◼"/>
            </a:pPr>
            <a:r>
              <a:rPr lang="es-ES" sz="2100" b="1" i="0" u="none" strike="noStrike" cap="none" dirty="0">
                <a:solidFill>
                  <a:schemeClr val="bg1"/>
                </a:solidFill>
                <a:latin typeface="Calibri"/>
                <a:ea typeface="Calibri"/>
                <a:cs typeface="Calibri"/>
                <a:sym typeface="Calibri"/>
              </a:rPr>
              <a:t>INTRODUCCIÓN</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OBJETIVO</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bg1"/>
                </a:solidFill>
                <a:latin typeface="Calibri"/>
                <a:ea typeface="Calibri"/>
                <a:cs typeface="Calibri"/>
                <a:sym typeface="Calibri"/>
              </a:rPr>
              <a:t>MARCO TEÓRICO</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Calibri"/>
              <a:buChar char="◼"/>
            </a:pPr>
            <a:r>
              <a:rPr lang="es-ES" sz="2100" b="1" i="0" u="none" strike="noStrike" cap="none" dirty="0">
                <a:solidFill>
                  <a:srgbClr val="FFFF00"/>
                </a:solidFill>
                <a:latin typeface="Calibri"/>
                <a:ea typeface="Calibri"/>
                <a:cs typeface="Calibri"/>
                <a:sym typeface="Calibri"/>
              </a:rPr>
              <a:t>DESARROLLO</a:t>
            </a:r>
            <a:endParaRPr dirty="0">
              <a:solidFill>
                <a:srgbClr val="FFFF00"/>
              </a:solidFil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CONCLUSIONES</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RECOMENDACIONES</a:t>
            </a:r>
            <a:endParaRPr sz="1400" b="0" i="0" u="none" strike="noStrike" cap="none" dirty="0">
              <a:solidFill>
                <a:schemeClr val="dk1"/>
              </a:solidFill>
              <a:latin typeface="Arial"/>
              <a:ea typeface="Arial"/>
              <a:cs typeface="Arial"/>
              <a:sym typeface="Aria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BIBLIOGRAFÍA </a:t>
            </a:r>
            <a:endParaRPr sz="2100" b="1" i="0" u="none" strike="noStrike" cap="none" dirty="0">
              <a:solidFill>
                <a:srgbClr val="FFFF00"/>
              </a:solidFill>
              <a:latin typeface="Calibri"/>
              <a:ea typeface="Calibri"/>
              <a:cs typeface="Calibri"/>
              <a:sym typeface="Calibri"/>
            </a:endParaRPr>
          </a:p>
        </p:txBody>
      </p:sp>
      <p:sp>
        <p:nvSpPr>
          <p:cNvPr id="14" name="CuadroTexto 13">
            <a:extLst>
              <a:ext uri="{FF2B5EF4-FFF2-40B4-BE49-F238E27FC236}">
                <a16:creationId xmlns:a16="http://schemas.microsoft.com/office/drawing/2014/main" id="{0373FBA0-2070-4B90-BAA6-6319E87CC561}"/>
              </a:ext>
            </a:extLst>
          </p:cNvPr>
          <p:cNvSpPr txBox="1"/>
          <p:nvPr/>
        </p:nvSpPr>
        <p:spPr>
          <a:xfrm>
            <a:off x="79416" y="1865915"/>
            <a:ext cx="8493084" cy="1983107"/>
          </a:xfrm>
          <a:prstGeom prst="rect">
            <a:avLst/>
          </a:prstGeom>
          <a:noFill/>
        </p:spPr>
        <p:txBody>
          <a:bodyPr wrap="square">
            <a:spAutoFit/>
          </a:bodyPr>
          <a:lstStyle/>
          <a:p>
            <a:pPr marL="449580" indent="-449580">
              <a:lnSpc>
                <a:spcPct val="115000"/>
              </a:lnSpc>
              <a:spcBef>
                <a:spcPts val="1200"/>
              </a:spcBef>
              <a:spcAft>
                <a:spcPts val="1200"/>
              </a:spcAft>
            </a:pPr>
            <a:r>
              <a:rPr lang="es-419" sz="1800" dirty="0">
                <a:effectLst/>
                <a:latin typeface="Cambria" panose="02040503050406030204" pitchFamily="18" charset="0"/>
                <a:ea typeface="MS Mincho" panose="02020609040205080304" pitchFamily="49" charset="-128"/>
                <a:cs typeface="Cambria" panose="02040503050406030204" pitchFamily="18" charset="0"/>
              </a:rPr>
              <a:t>Pantalla de inicio del gestor gráfico MySQL </a:t>
            </a:r>
            <a:r>
              <a:rPr lang="es-419" sz="1800" dirty="0" err="1">
                <a:effectLst/>
                <a:latin typeface="Cambria" panose="02040503050406030204" pitchFamily="18" charset="0"/>
                <a:ea typeface="MS Mincho" panose="02020609040205080304" pitchFamily="49" charset="-128"/>
                <a:cs typeface="Cambria" panose="02040503050406030204" pitchFamily="18" charset="0"/>
              </a:rPr>
              <a:t>Workbench</a:t>
            </a:r>
            <a:r>
              <a:rPr lang="es-419" sz="1800" dirty="0">
                <a:effectLst/>
                <a:latin typeface="Cambria" panose="02040503050406030204" pitchFamily="18" charset="0"/>
                <a:ea typeface="MS Mincho" panose="02020609040205080304" pitchFamily="49" charset="-128"/>
                <a:cs typeface="Cambria" panose="02040503050406030204" pitchFamily="18" charset="0"/>
              </a:rPr>
              <a:t>. Resalta la detección automática de la conexión hacia la instancia local de MySQL recién desplegada. Este acceso inicial es fundamental, ya que permite al administrador autenticarse de forma segura utilizando el usuario raíz (</a:t>
            </a:r>
            <a:r>
              <a:rPr lang="es-419" sz="1800" dirty="0" err="1">
                <a:effectLst/>
                <a:latin typeface="Cambria" panose="02040503050406030204" pitchFamily="18" charset="0"/>
                <a:ea typeface="MS Mincho" panose="02020609040205080304" pitchFamily="49" charset="-128"/>
                <a:cs typeface="Cambria" panose="02040503050406030204" pitchFamily="18" charset="0"/>
              </a:rPr>
              <a:t>root</a:t>
            </a:r>
            <a:r>
              <a:rPr lang="es-419" sz="1800" dirty="0">
                <a:effectLst/>
                <a:latin typeface="Cambria" panose="02040503050406030204" pitchFamily="18" charset="0"/>
                <a:ea typeface="MS Mincho" panose="02020609040205080304" pitchFamily="49" charset="-128"/>
                <a:cs typeface="Cambria" panose="02040503050406030204" pitchFamily="18" charset="0"/>
              </a:rPr>
              <a:t>) local para configurar parámetros avanzados, como la creación de usuarios con privilegios para conexiones remotas.</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p:txBody>
      </p:sp>
      <p:pic>
        <p:nvPicPr>
          <p:cNvPr id="15" name="image28.png">
            <a:extLst>
              <a:ext uri="{FF2B5EF4-FFF2-40B4-BE49-F238E27FC236}">
                <a16:creationId xmlns:a16="http://schemas.microsoft.com/office/drawing/2014/main" id="{1F0D6EA3-21CC-4190-A779-823F0E96B59A}"/>
              </a:ext>
            </a:extLst>
          </p:cNvPr>
          <p:cNvPicPr/>
          <p:nvPr/>
        </p:nvPicPr>
        <p:blipFill>
          <a:blip r:embed="rId4"/>
          <a:srcRect/>
          <a:stretch>
            <a:fillRect/>
          </a:stretch>
        </p:blipFill>
        <p:spPr>
          <a:xfrm>
            <a:off x="1838685" y="3911232"/>
            <a:ext cx="5343525" cy="2743200"/>
          </a:xfrm>
          <a:prstGeom prst="rect">
            <a:avLst/>
          </a:prstGeom>
          <a:ln w="25400">
            <a:solidFill>
              <a:srgbClr val="000000"/>
            </a:solidFill>
            <a:prstDash val="solid"/>
          </a:ln>
        </p:spPr>
      </p:pic>
    </p:spTree>
    <p:extLst>
      <p:ext uri="{BB962C8B-B14F-4D97-AF65-F5344CB8AC3E}">
        <p14:creationId xmlns:p14="http://schemas.microsoft.com/office/powerpoint/2010/main" val="28071894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115" name="Google Shape;115;p3" descr="Imagen que contiene electrónica, circuito&#10;&#10;Descripción generada automáticamente"/>
          <p:cNvPicPr preferRelativeResize="0"/>
          <p:nvPr/>
        </p:nvPicPr>
        <p:blipFill rotWithShape="1">
          <a:blip r:embed="rId3">
            <a:alphaModFix amt="35000"/>
          </a:blip>
          <a:srcRect t="15730"/>
          <a:stretch/>
        </p:blipFill>
        <p:spPr>
          <a:xfrm>
            <a:off x="20" y="10"/>
            <a:ext cx="12191980" cy="6857990"/>
          </a:xfrm>
          <a:prstGeom prst="rect">
            <a:avLst/>
          </a:prstGeom>
          <a:noFill/>
          <a:ln>
            <a:noFill/>
          </a:ln>
        </p:spPr>
      </p:pic>
      <p:sp>
        <p:nvSpPr>
          <p:cNvPr id="116" name="Google Shape;116;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solidFill>
                  <a:srgbClr val="FFFF00"/>
                </a:solidFill>
              </a:rPr>
              <a:t>Conclusiones</a:t>
            </a:r>
            <a:endParaRPr dirty="0">
              <a:solidFill>
                <a:srgbClr val="FFFF00"/>
              </a:solidFill>
            </a:endParaRPr>
          </a:p>
        </p:txBody>
      </p:sp>
      <p:grpSp>
        <p:nvGrpSpPr>
          <p:cNvPr id="118" name="Google Shape;118;p3"/>
          <p:cNvGrpSpPr/>
          <p:nvPr/>
        </p:nvGrpSpPr>
        <p:grpSpPr>
          <a:xfrm>
            <a:off x="446534" y="453643"/>
            <a:ext cx="11298933" cy="98554"/>
            <a:chOff x="446534" y="453643"/>
            <a:chExt cx="11298933" cy="98554"/>
          </a:xfrm>
        </p:grpSpPr>
        <p:sp>
          <p:nvSpPr>
            <p:cNvPr id="119" name="Google Shape;119;p3"/>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3"/>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3" name="Google Shape;123;p3"/>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marR="0" lvl="0" indent="-361950" algn="l" rtl="0">
              <a:lnSpc>
                <a:spcPct val="100000"/>
              </a:lnSpc>
              <a:spcBef>
                <a:spcPts val="0"/>
              </a:spcBef>
              <a:spcAft>
                <a:spcPts val="0"/>
              </a:spcAft>
              <a:buClr>
                <a:srgbClr val="FFFF00"/>
              </a:buClr>
              <a:buSzPts val="2100"/>
              <a:buFont typeface="Noto Sans Symbols"/>
              <a:buChar char="◼"/>
            </a:pPr>
            <a:r>
              <a:rPr lang="es-ES" sz="2100" b="1" i="0" u="none" strike="noStrike" cap="none" dirty="0">
                <a:solidFill>
                  <a:schemeClr val="bg1"/>
                </a:solidFill>
                <a:latin typeface="Calibri"/>
                <a:ea typeface="Calibri"/>
                <a:cs typeface="Calibri"/>
                <a:sym typeface="Calibri"/>
              </a:rPr>
              <a:t>INTRODUCCIÓN</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OBJETIVO</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bg1"/>
                </a:solidFill>
                <a:latin typeface="Calibri"/>
                <a:ea typeface="Calibri"/>
                <a:cs typeface="Calibri"/>
                <a:sym typeface="Calibri"/>
              </a:rPr>
              <a:t>MARCO TEÓRICO</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Calibri"/>
              <a:buChar char="◼"/>
            </a:pPr>
            <a:r>
              <a:rPr lang="es-ES" sz="2100" b="1" i="0" u="none" strike="noStrike" cap="none" dirty="0">
                <a:solidFill>
                  <a:schemeClr val="bg1"/>
                </a:solidFill>
                <a:latin typeface="Calibri"/>
                <a:ea typeface="Calibri"/>
                <a:cs typeface="Calibri"/>
                <a:sym typeface="Calibri"/>
              </a:rPr>
              <a:t>DESARROLLO</a:t>
            </a:r>
            <a:endParaRPr dirty="0">
              <a:solidFill>
                <a:schemeClr val="bg1"/>
              </a:solidFil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rgbClr val="FFFF00"/>
                </a:solidFill>
                <a:latin typeface="Calibri"/>
                <a:ea typeface="Calibri"/>
                <a:cs typeface="Calibri"/>
                <a:sym typeface="Calibri"/>
              </a:rPr>
              <a:t>CONCLUSIONES</a:t>
            </a:r>
            <a:endParaRPr sz="2100" b="1" i="0" u="none" strike="noStrike" cap="none" dirty="0">
              <a:solidFill>
                <a:srgbClr val="FFFF00"/>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RECOMENDACIONES</a:t>
            </a:r>
            <a:endParaRPr sz="1400" b="0" i="0" u="none" strike="noStrike" cap="none" dirty="0">
              <a:solidFill>
                <a:schemeClr val="dk1"/>
              </a:solidFill>
              <a:latin typeface="Arial"/>
              <a:ea typeface="Arial"/>
              <a:cs typeface="Arial"/>
              <a:sym typeface="Aria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BIBLIOGRAFÍA </a:t>
            </a:r>
            <a:endParaRPr sz="2100" b="1" i="0" u="none" strike="noStrike" cap="none" dirty="0">
              <a:solidFill>
                <a:srgbClr val="FFFF00"/>
              </a:solidFill>
              <a:latin typeface="Calibri"/>
              <a:ea typeface="Calibri"/>
              <a:cs typeface="Calibri"/>
              <a:sym typeface="Calibri"/>
            </a:endParaRPr>
          </a:p>
        </p:txBody>
      </p:sp>
      <p:sp>
        <p:nvSpPr>
          <p:cNvPr id="14" name="CuadroTexto 13">
            <a:extLst>
              <a:ext uri="{FF2B5EF4-FFF2-40B4-BE49-F238E27FC236}">
                <a16:creationId xmlns:a16="http://schemas.microsoft.com/office/drawing/2014/main" id="{0373FBA0-2070-4B90-BAA6-6319E87CC561}"/>
              </a:ext>
            </a:extLst>
          </p:cNvPr>
          <p:cNvSpPr txBox="1"/>
          <p:nvPr/>
        </p:nvSpPr>
        <p:spPr>
          <a:xfrm>
            <a:off x="440286" y="1951672"/>
            <a:ext cx="8493084" cy="3108543"/>
          </a:xfrm>
          <a:prstGeom prst="rect">
            <a:avLst/>
          </a:prstGeom>
          <a:noFill/>
        </p:spPr>
        <p:txBody>
          <a:bodyPr wrap="square">
            <a:spAutoFit/>
          </a:bodyPr>
          <a:lstStyle/>
          <a:p>
            <a:pPr marL="285750" indent="-285750">
              <a:buFont typeface="Arial" panose="020B0604020202020204" pitchFamily="34" charset="0"/>
              <a:buChar char="•"/>
            </a:pPr>
            <a:r>
              <a:rPr lang="es-MX" dirty="0"/>
              <a:t>Se logró desarrollar e implementar satisfactoriamente el sistema EUREKABANK mediante una arquitectura basada en servicios web </a:t>
            </a:r>
            <a:r>
              <a:rPr lang="es-MX" dirty="0" err="1"/>
              <a:t>RESTful</a:t>
            </a:r>
            <a:r>
              <a:rPr lang="es-MX" dirty="0"/>
              <a:t> utilizando ASP.NET Core Web API, permitiendo exponer operaciones bancarias como autenticación, depósitos, retiros, transferencias y consultas de saldo a través de </a:t>
            </a:r>
            <a:r>
              <a:rPr lang="es-MX" dirty="0" err="1"/>
              <a:t>endpoints</a:t>
            </a:r>
            <a:r>
              <a:rPr lang="es-MX" dirty="0"/>
              <a:t> HTTP y respuestas en formato </a:t>
            </a:r>
            <a:r>
              <a:rPr lang="es-MX" dirty="0" err="1"/>
              <a:t>JSON.La</a:t>
            </a:r>
            <a:r>
              <a:rPr lang="es-MX" dirty="0"/>
              <a:t> utilización de Amazon Web </a:t>
            </a:r>
            <a:r>
              <a:rPr lang="es-MX" dirty="0" err="1"/>
              <a:t>Services</a:t>
            </a:r>
            <a:r>
              <a:rPr lang="es-MX" dirty="0"/>
              <a:t> (AWS) y específicamente de Amazon </a:t>
            </a:r>
            <a:r>
              <a:rPr lang="es-MX" dirty="0" err="1"/>
              <a:t>Lightsail</a:t>
            </a:r>
            <a:r>
              <a:rPr lang="es-MX" dirty="0"/>
              <a:t> permitió desplegar una infraestructura de nube funcional, proporcionando una plataforma estable para alojar tanto el servidor de aplicaciones como la base de datos SQL Server, demostrando las ventajas de la computación en la nube para proyectos empresariales y </a:t>
            </a:r>
            <a:r>
              <a:rPr lang="es-MX" dirty="0" err="1"/>
              <a:t>académicos.La</a:t>
            </a:r>
            <a:r>
              <a:rPr lang="es-MX" dirty="0"/>
              <a:t> implementación de Microsoft SQL Server 2022 Express como motor de base de datos permitió gestionar de forma segura y eficiente la información relacionada con clientes, cuentas, usuarios y movimientos bancarios, garantizando la integridad de los datos mediante transacciones y mecanismos de control de </a:t>
            </a:r>
            <a:r>
              <a:rPr lang="es-MX" dirty="0" err="1"/>
              <a:t>concurrencia.El</a:t>
            </a:r>
            <a:r>
              <a:rPr lang="es-MX" dirty="0"/>
              <a:t> sistema demostró la interoperabilidad característica de las arquitecturas </a:t>
            </a:r>
            <a:r>
              <a:rPr lang="es-MX" dirty="0" err="1"/>
              <a:t>RESTful</a:t>
            </a:r>
            <a:r>
              <a:rPr lang="es-MX" dirty="0"/>
              <a:t>, permitiendo que diferentes tipos de clientes (consola, escritorio, web y móvil) consuman los mismos servicios utilizando protocolos estándar de comunicación, sin depender de la plataforma o tecnología utilizada en cada cliente.</a:t>
            </a:r>
            <a:endParaRPr lang="es-EC" dirty="0"/>
          </a:p>
        </p:txBody>
      </p:sp>
    </p:spTree>
    <p:extLst>
      <p:ext uri="{BB962C8B-B14F-4D97-AF65-F5344CB8AC3E}">
        <p14:creationId xmlns:p14="http://schemas.microsoft.com/office/powerpoint/2010/main" val="15587231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115" name="Google Shape;115;p3" descr="Imagen que contiene electrónica, circuito&#10;&#10;Descripción generada automáticamente"/>
          <p:cNvPicPr preferRelativeResize="0"/>
          <p:nvPr/>
        </p:nvPicPr>
        <p:blipFill rotWithShape="1">
          <a:blip r:embed="rId3">
            <a:alphaModFix amt="35000"/>
          </a:blip>
          <a:srcRect t="15730"/>
          <a:stretch/>
        </p:blipFill>
        <p:spPr>
          <a:xfrm>
            <a:off x="20" y="10"/>
            <a:ext cx="12191980" cy="6857990"/>
          </a:xfrm>
          <a:prstGeom prst="rect">
            <a:avLst/>
          </a:prstGeom>
          <a:noFill/>
          <a:ln>
            <a:noFill/>
          </a:ln>
        </p:spPr>
      </p:pic>
      <p:sp>
        <p:nvSpPr>
          <p:cNvPr id="116" name="Google Shape;116;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Bibliografía</a:t>
            </a:r>
            <a:endParaRPr dirty="0"/>
          </a:p>
        </p:txBody>
      </p:sp>
      <p:grpSp>
        <p:nvGrpSpPr>
          <p:cNvPr id="118" name="Google Shape;118;p3"/>
          <p:cNvGrpSpPr/>
          <p:nvPr/>
        </p:nvGrpSpPr>
        <p:grpSpPr>
          <a:xfrm>
            <a:off x="446534" y="453643"/>
            <a:ext cx="11298933" cy="98554"/>
            <a:chOff x="446534" y="453643"/>
            <a:chExt cx="11298933" cy="98554"/>
          </a:xfrm>
        </p:grpSpPr>
        <p:sp>
          <p:nvSpPr>
            <p:cNvPr id="119" name="Google Shape;119;p3"/>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3"/>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2" name="Google Shape;122;p3"/>
          <p:cNvSpPr txBox="1">
            <a:spLocks noGrp="1"/>
          </p:cNvSpPr>
          <p:nvPr>
            <p:ph type="body" idx="1"/>
          </p:nvPr>
        </p:nvSpPr>
        <p:spPr>
          <a:xfrm>
            <a:off x="397408" y="1865915"/>
            <a:ext cx="8620500" cy="4788103"/>
          </a:xfrm>
          <a:prstGeom prst="rect">
            <a:avLst/>
          </a:prstGeom>
          <a:noFill/>
          <a:ln>
            <a:noFill/>
          </a:ln>
        </p:spPr>
        <p:txBody>
          <a:bodyPr spcFirstLastPara="1" wrap="square" lIns="91425" tIns="45700" rIns="91425" bIns="45700" anchor="ctr" anchorCtr="0">
            <a:normAutofit/>
          </a:bodyPr>
          <a:lstStyle/>
          <a:p>
            <a:pPr>
              <a:lnSpc>
                <a:spcPct val="115000"/>
              </a:lnSpc>
              <a:spcAft>
                <a:spcPts val="1000"/>
              </a:spcAft>
            </a:pPr>
            <a:r>
              <a:rPr lang="es-419" sz="1800" dirty="0">
                <a:effectLst/>
                <a:latin typeface="Calibri" panose="020F0502020204030204" pitchFamily="34" charset="0"/>
                <a:ea typeface="MS Mincho" panose="02020609040205080304" pitchFamily="49" charset="-128"/>
                <a:cs typeface="Times New Roman" panose="02020603050405020304" pitchFamily="18" charset="0"/>
              </a:rPr>
              <a:t>[1] Microsoft. (2024). "ASP.NET Core </a:t>
            </a:r>
            <a:r>
              <a:rPr lang="es-419" sz="1800" dirty="0" err="1">
                <a:effectLst/>
                <a:latin typeface="Calibri" panose="020F0502020204030204" pitchFamily="34" charset="0"/>
                <a:ea typeface="MS Mincho" panose="02020609040205080304" pitchFamily="49" charset="-128"/>
                <a:cs typeface="Times New Roman" panose="02020603050405020304" pitchFamily="18" charset="0"/>
              </a:rPr>
              <a:t>fundamentals</a:t>
            </a:r>
            <a:r>
              <a:rPr lang="es-419" sz="1800" dirty="0">
                <a:effectLst/>
                <a:latin typeface="Calibri" panose="020F0502020204030204" pitchFamily="34" charset="0"/>
                <a:ea typeface="MS Mincho" panose="02020609040205080304" pitchFamily="49" charset="-128"/>
                <a:cs typeface="Times New Roman" panose="02020603050405020304" pitchFamily="18" charset="0"/>
              </a:rPr>
              <a:t>". https://learn.microsoft.com/aspnet/core/</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800" dirty="0">
                <a:effectLst/>
                <a:latin typeface="Calibri" panose="020F0502020204030204" pitchFamily="34" charset="0"/>
                <a:ea typeface="MS Mincho" panose="02020609040205080304" pitchFamily="49" charset="-128"/>
                <a:cs typeface="Times New Roman" panose="02020603050405020304" pitchFamily="18" charset="0"/>
              </a:rPr>
              <a:t>[2] </a:t>
            </a:r>
            <a:r>
              <a:rPr lang="es-419" sz="1800" dirty="0" err="1">
                <a:effectLst/>
                <a:latin typeface="Calibri" panose="020F0502020204030204" pitchFamily="34" charset="0"/>
                <a:ea typeface="MS Mincho" panose="02020609040205080304" pitchFamily="49" charset="-128"/>
                <a:cs typeface="Times New Roman" panose="02020603050405020304" pitchFamily="18" charset="0"/>
              </a:rPr>
              <a:t>DigDes</a:t>
            </a:r>
            <a:r>
              <a:rPr lang="es-419" sz="1800" dirty="0">
                <a:effectLst/>
                <a:latin typeface="Calibri" panose="020F0502020204030204" pitchFamily="34" charset="0"/>
                <a:ea typeface="MS Mincho" panose="02020609040205080304" pitchFamily="49" charset="-128"/>
                <a:cs typeface="Times New Roman" panose="02020603050405020304" pitchFamily="18" charset="0"/>
              </a:rPr>
              <a:t>. (2024). "</a:t>
            </a:r>
            <a:r>
              <a:rPr lang="es-419" sz="1800" dirty="0" err="1">
                <a:effectLst/>
                <a:latin typeface="Calibri" panose="020F0502020204030204" pitchFamily="34" charset="0"/>
                <a:ea typeface="MS Mincho" panose="02020609040205080304" pitchFamily="49" charset="-128"/>
                <a:cs typeface="Times New Roman" panose="02020603050405020304" pitchFamily="18" charset="0"/>
              </a:rPr>
              <a:t>SoapCore</a:t>
            </a:r>
            <a:r>
              <a:rPr lang="es-419" sz="1800" dirty="0">
                <a:effectLst/>
                <a:latin typeface="Calibri" panose="020F0502020204030204" pitchFamily="34" charset="0"/>
                <a:ea typeface="MS Mincho" panose="02020609040205080304" pitchFamily="49" charset="-128"/>
                <a:cs typeface="Times New Roman" panose="02020603050405020304" pitchFamily="18" charset="0"/>
              </a:rPr>
              <a:t> — SOAP </a:t>
            </a:r>
            <a:r>
              <a:rPr lang="es-419" sz="1800" dirty="0" err="1">
                <a:effectLst/>
                <a:latin typeface="Calibri" panose="020F0502020204030204" pitchFamily="34" charset="0"/>
                <a:ea typeface="MS Mincho" panose="02020609040205080304" pitchFamily="49" charset="-128"/>
                <a:cs typeface="Times New Roman" panose="02020603050405020304" pitchFamily="18" charset="0"/>
              </a:rPr>
              <a:t>protocol</a:t>
            </a:r>
            <a:r>
              <a:rPr lang="es-419" sz="1800" dirty="0">
                <a:effectLst/>
                <a:latin typeface="Calibri" panose="020F0502020204030204" pitchFamily="34" charset="0"/>
                <a:ea typeface="MS Mincho" panose="02020609040205080304" pitchFamily="49" charset="-128"/>
                <a:cs typeface="Times New Roman" panose="02020603050405020304" pitchFamily="18" charset="0"/>
              </a:rPr>
              <a:t> </a:t>
            </a:r>
            <a:r>
              <a:rPr lang="es-419" sz="1800" dirty="0" err="1">
                <a:effectLst/>
                <a:latin typeface="Calibri" panose="020F0502020204030204" pitchFamily="34" charset="0"/>
                <a:ea typeface="MS Mincho" panose="02020609040205080304" pitchFamily="49" charset="-128"/>
                <a:cs typeface="Times New Roman" panose="02020603050405020304" pitchFamily="18" charset="0"/>
              </a:rPr>
              <a:t>support</a:t>
            </a:r>
            <a:r>
              <a:rPr lang="es-419" sz="1800" dirty="0">
                <a:effectLst/>
                <a:latin typeface="Calibri" panose="020F0502020204030204" pitchFamily="34" charset="0"/>
                <a:ea typeface="MS Mincho" panose="02020609040205080304" pitchFamily="49" charset="-128"/>
                <a:cs typeface="Times New Roman" panose="02020603050405020304" pitchFamily="18" charset="0"/>
              </a:rPr>
              <a:t> </a:t>
            </a:r>
            <a:r>
              <a:rPr lang="es-419" sz="1800" dirty="0" err="1">
                <a:effectLst/>
                <a:latin typeface="Calibri" panose="020F0502020204030204" pitchFamily="34" charset="0"/>
                <a:ea typeface="MS Mincho" panose="02020609040205080304" pitchFamily="49" charset="-128"/>
                <a:cs typeface="Times New Roman" panose="02020603050405020304" pitchFamily="18" charset="0"/>
              </a:rPr>
              <a:t>for</a:t>
            </a:r>
            <a:r>
              <a:rPr lang="es-419" sz="1800" dirty="0">
                <a:effectLst/>
                <a:latin typeface="Calibri" panose="020F0502020204030204" pitchFamily="34" charset="0"/>
                <a:ea typeface="MS Mincho" panose="02020609040205080304" pitchFamily="49" charset="-128"/>
                <a:cs typeface="Times New Roman" panose="02020603050405020304" pitchFamily="18" charset="0"/>
              </a:rPr>
              <a:t> ASP.NET Core". https://github.com/DigDes/SoapCore</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800" dirty="0">
                <a:effectLst/>
                <a:latin typeface="Calibri" panose="020F0502020204030204" pitchFamily="34" charset="0"/>
                <a:ea typeface="MS Mincho" panose="02020609040205080304" pitchFamily="49" charset="-128"/>
                <a:cs typeface="Times New Roman" panose="02020603050405020304" pitchFamily="18" charset="0"/>
              </a:rPr>
              <a:t>[3] Amazon Web </a:t>
            </a:r>
            <a:r>
              <a:rPr lang="es-419" sz="1800" dirty="0" err="1">
                <a:effectLst/>
                <a:latin typeface="Calibri" panose="020F0502020204030204" pitchFamily="34" charset="0"/>
                <a:ea typeface="MS Mincho" panose="02020609040205080304" pitchFamily="49" charset="-128"/>
                <a:cs typeface="Times New Roman" panose="02020603050405020304" pitchFamily="18" charset="0"/>
              </a:rPr>
              <a:t>Services</a:t>
            </a:r>
            <a:r>
              <a:rPr lang="es-419" sz="1800" dirty="0">
                <a:effectLst/>
                <a:latin typeface="Calibri" panose="020F0502020204030204" pitchFamily="34" charset="0"/>
                <a:ea typeface="MS Mincho" panose="02020609040205080304" pitchFamily="49" charset="-128"/>
                <a:cs typeface="Times New Roman" panose="02020603050405020304" pitchFamily="18" charset="0"/>
              </a:rPr>
              <a:t>. (2024). "Amazon RDS </a:t>
            </a:r>
            <a:r>
              <a:rPr lang="es-419" sz="1800" dirty="0" err="1">
                <a:effectLst/>
                <a:latin typeface="Calibri" panose="020F0502020204030204" pitchFamily="34" charset="0"/>
                <a:ea typeface="MS Mincho" panose="02020609040205080304" pitchFamily="49" charset="-128"/>
                <a:cs typeface="Times New Roman" panose="02020603050405020304" pitchFamily="18" charset="0"/>
              </a:rPr>
              <a:t>for</a:t>
            </a:r>
            <a:r>
              <a:rPr lang="es-419" sz="1800" dirty="0">
                <a:effectLst/>
                <a:latin typeface="Calibri" panose="020F0502020204030204" pitchFamily="34" charset="0"/>
                <a:ea typeface="MS Mincho" panose="02020609040205080304" pitchFamily="49" charset="-128"/>
                <a:cs typeface="Times New Roman" panose="02020603050405020304" pitchFamily="18" charset="0"/>
              </a:rPr>
              <a:t> SQL Server </a:t>
            </a:r>
            <a:r>
              <a:rPr lang="es-419" sz="1800" dirty="0" err="1">
                <a:effectLst/>
                <a:latin typeface="Calibri" panose="020F0502020204030204" pitchFamily="34" charset="0"/>
                <a:ea typeface="MS Mincho" panose="02020609040205080304" pitchFamily="49" charset="-128"/>
                <a:cs typeface="Times New Roman" panose="02020603050405020304" pitchFamily="18" charset="0"/>
              </a:rPr>
              <a:t>User</a:t>
            </a:r>
            <a:r>
              <a:rPr lang="es-419" sz="1800" dirty="0">
                <a:effectLst/>
                <a:latin typeface="Calibri" panose="020F0502020204030204" pitchFamily="34" charset="0"/>
                <a:ea typeface="MS Mincho" panose="02020609040205080304" pitchFamily="49" charset="-128"/>
                <a:cs typeface="Times New Roman" panose="02020603050405020304" pitchFamily="18" charset="0"/>
              </a:rPr>
              <a:t> Guide". https://docs.aws.amazon.com/AmazonRDS/</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800" dirty="0">
                <a:effectLst/>
                <a:latin typeface="Calibri" panose="020F0502020204030204" pitchFamily="34" charset="0"/>
                <a:ea typeface="MS Mincho" panose="02020609040205080304" pitchFamily="49" charset="-128"/>
                <a:cs typeface="Times New Roman" panose="02020603050405020304" pitchFamily="18" charset="0"/>
              </a:rPr>
              <a:t>[4] Microsoft. (2024). "</a:t>
            </a:r>
            <a:r>
              <a:rPr lang="es-419" sz="1800" dirty="0" err="1">
                <a:effectLst/>
                <a:latin typeface="Calibri" panose="020F0502020204030204" pitchFamily="34" charset="0"/>
                <a:ea typeface="MS Mincho" panose="02020609040205080304" pitchFamily="49" charset="-128"/>
                <a:cs typeface="Times New Roman" panose="02020603050405020304" pitchFamily="18" charset="0"/>
              </a:rPr>
              <a:t>Microsoft.Data.SqlClient</a:t>
            </a:r>
            <a:r>
              <a:rPr lang="es-419" sz="1800" dirty="0">
                <a:effectLst/>
                <a:latin typeface="Calibri" panose="020F0502020204030204" pitchFamily="34" charset="0"/>
                <a:ea typeface="MS Mincho" panose="02020609040205080304" pitchFamily="49" charset="-128"/>
                <a:cs typeface="Times New Roman" panose="02020603050405020304" pitchFamily="18" charset="0"/>
              </a:rPr>
              <a:t> </a:t>
            </a:r>
            <a:r>
              <a:rPr lang="es-419" sz="1800" dirty="0" err="1">
                <a:effectLst/>
                <a:latin typeface="Calibri" panose="020F0502020204030204" pitchFamily="34" charset="0"/>
                <a:ea typeface="MS Mincho" panose="02020609040205080304" pitchFamily="49" charset="-128"/>
                <a:cs typeface="Times New Roman" panose="02020603050405020304" pitchFamily="18" charset="0"/>
              </a:rPr>
              <a:t>documentation</a:t>
            </a:r>
            <a:r>
              <a:rPr lang="es-419" sz="1800" dirty="0">
                <a:effectLst/>
                <a:latin typeface="Calibri" panose="020F0502020204030204" pitchFamily="34" charset="0"/>
                <a:ea typeface="MS Mincho" panose="02020609040205080304" pitchFamily="49" charset="-128"/>
                <a:cs typeface="Times New Roman" panose="02020603050405020304" pitchFamily="18" charset="0"/>
              </a:rPr>
              <a:t>". https://learn.microsoft.com/sql/connect/ado-net/</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800" dirty="0">
                <a:effectLst/>
                <a:latin typeface="Calibri" panose="020F0502020204030204" pitchFamily="34" charset="0"/>
                <a:ea typeface="MS Mincho" panose="02020609040205080304" pitchFamily="49" charset="-128"/>
                <a:cs typeface="Times New Roman" panose="02020603050405020304" pitchFamily="18" charset="0"/>
              </a:rPr>
              <a:t>[5] W3C. (2007). "SOAP </a:t>
            </a:r>
            <a:r>
              <a:rPr lang="es-419" sz="1800" dirty="0" err="1">
                <a:effectLst/>
                <a:latin typeface="Calibri" panose="020F0502020204030204" pitchFamily="34" charset="0"/>
                <a:ea typeface="MS Mincho" panose="02020609040205080304" pitchFamily="49" charset="-128"/>
                <a:cs typeface="Times New Roman" panose="02020603050405020304" pitchFamily="18" charset="0"/>
              </a:rPr>
              <a:t>Version</a:t>
            </a:r>
            <a:r>
              <a:rPr lang="es-419" sz="1800" dirty="0">
                <a:effectLst/>
                <a:latin typeface="Calibri" panose="020F0502020204030204" pitchFamily="34" charset="0"/>
                <a:ea typeface="MS Mincho" panose="02020609040205080304" pitchFamily="49" charset="-128"/>
                <a:cs typeface="Times New Roman" panose="02020603050405020304" pitchFamily="18" charset="0"/>
              </a:rPr>
              <a:t> 1.2 </a:t>
            </a:r>
            <a:r>
              <a:rPr lang="es-419" sz="1800" dirty="0" err="1">
                <a:effectLst/>
                <a:latin typeface="Calibri" panose="020F0502020204030204" pitchFamily="34" charset="0"/>
                <a:ea typeface="MS Mincho" panose="02020609040205080304" pitchFamily="49" charset="-128"/>
                <a:cs typeface="Times New Roman" panose="02020603050405020304" pitchFamily="18" charset="0"/>
              </a:rPr>
              <a:t>Specification</a:t>
            </a:r>
            <a:r>
              <a:rPr lang="es-419" sz="1800" dirty="0">
                <a:effectLst/>
                <a:latin typeface="Calibri" panose="020F0502020204030204" pitchFamily="34" charset="0"/>
                <a:ea typeface="MS Mincho" panose="02020609040205080304" pitchFamily="49" charset="-128"/>
                <a:cs typeface="Times New Roman" panose="02020603050405020304" pitchFamily="18" charset="0"/>
              </a:rPr>
              <a:t>". https://www.w3.org/TR/soap12/</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23" name="Google Shape;123;p3"/>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marR="0" lvl="0" indent="-361950" algn="l" rtl="0">
              <a:lnSpc>
                <a:spcPct val="100000"/>
              </a:lnSpc>
              <a:spcBef>
                <a:spcPts val="0"/>
              </a:spcBef>
              <a:spcAft>
                <a:spcPts val="0"/>
              </a:spcAft>
              <a:buClr>
                <a:srgbClr val="FFFF00"/>
              </a:buClr>
              <a:buSzPts val="2100"/>
              <a:buFont typeface="Noto Sans Symbols"/>
              <a:buChar char="◼"/>
            </a:pPr>
            <a:r>
              <a:rPr lang="es-ES" sz="2100" b="1" i="0" u="none" strike="noStrike" cap="none" dirty="0">
                <a:solidFill>
                  <a:schemeClr val="bg1"/>
                </a:solidFill>
                <a:latin typeface="Calibri"/>
                <a:ea typeface="Calibri"/>
                <a:cs typeface="Calibri"/>
                <a:sym typeface="Calibri"/>
              </a:rPr>
              <a:t>INTRODUCCIÓN</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OBJETIVO</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bg1"/>
                </a:solidFill>
                <a:latin typeface="Calibri"/>
                <a:ea typeface="Calibri"/>
                <a:cs typeface="Calibri"/>
                <a:sym typeface="Calibri"/>
              </a:rPr>
              <a:t>MARCO TEÓRICO</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Calibri"/>
              <a:buChar char="◼"/>
            </a:pPr>
            <a:r>
              <a:rPr lang="es-ES" sz="2100" b="1" i="0" u="none" strike="noStrike" cap="none" dirty="0">
                <a:solidFill>
                  <a:schemeClr val="lt1"/>
                </a:solidFill>
                <a:latin typeface="Calibri"/>
                <a:ea typeface="Calibri"/>
                <a:cs typeface="Calibri"/>
                <a:sym typeface="Calibri"/>
              </a:rPr>
              <a:t>DESARROLLO</a:t>
            </a:r>
            <a:endParaRPr dirty="0"/>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CONCLUSIONES</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bg1"/>
                </a:solidFill>
                <a:latin typeface="Calibri"/>
                <a:ea typeface="Calibri"/>
                <a:cs typeface="Calibri"/>
                <a:sym typeface="Calibri"/>
              </a:rPr>
              <a:t>RECOMENDACIONES</a:t>
            </a:r>
            <a:endParaRPr sz="1400" b="0" i="0" u="none" strike="noStrike" cap="none" dirty="0">
              <a:solidFill>
                <a:schemeClr val="bg1"/>
              </a:solidFill>
              <a:latin typeface="Arial"/>
              <a:ea typeface="Arial"/>
              <a:cs typeface="Arial"/>
              <a:sym typeface="Aria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BIBLIOGRAFÍA </a:t>
            </a:r>
            <a:endParaRPr sz="2100" b="1" i="0" u="none" strike="noStrike" cap="none" dirty="0">
              <a:solidFill>
                <a:srgbClr val="FFFF00"/>
              </a:solidFill>
              <a:latin typeface="Calibri"/>
              <a:ea typeface="Calibri"/>
              <a:cs typeface="Calibri"/>
              <a:sym typeface="Calibri"/>
            </a:endParaRPr>
          </a:p>
        </p:txBody>
      </p:sp>
    </p:spTree>
    <p:extLst>
      <p:ext uri="{BB962C8B-B14F-4D97-AF65-F5344CB8AC3E}">
        <p14:creationId xmlns:p14="http://schemas.microsoft.com/office/powerpoint/2010/main" val="122201398"/>
      </p:ext>
    </p:extLst>
  </p:cSld>
  <p:clrMapOvr>
    <a:masterClrMapping/>
  </p:clrMapOvr>
</p:sld>
</file>

<file path=ppt/theme/theme1.xml><?xml version="1.0" encoding="utf-8"?>
<a:theme xmlns:a="http://schemas.openxmlformats.org/drawingml/2006/main" name="Dividen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Dividendo">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3.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461</TotalTime>
  <Words>2262</Words>
  <Application>Microsoft Office PowerPoint</Application>
  <PresentationFormat>Panorámica</PresentationFormat>
  <Paragraphs>220</Paragraphs>
  <Slides>20</Slides>
  <Notes>19</Notes>
  <HiddenSlides>0</HiddenSlides>
  <MMClips>0</MMClips>
  <ScaleCrop>false</ScaleCrop>
  <HeadingPairs>
    <vt:vector size="6" baseType="variant">
      <vt:variant>
        <vt:lpstr>Fuentes usadas</vt:lpstr>
      </vt:variant>
      <vt:variant>
        <vt:i4>9</vt:i4>
      </vt:variant>
      <vt:variant>
        <vt:lpstr>Tema</vt:lpstr>
      </vt:variant>
      <vt:variant>
        <vt:i4>2</vt:i4>
      </vt:variant>
      <vt:variant>
        <vt:lpstr>Títulos de diapositiva</vt:lpstr>
      </vt:variant>
      <vt:variant>
        <vt:i4>20</vt:i4>
      </vt:variant>
    </vt:vector>
  </HeadingPairs>
  <TitlesOfParts>
    <vt:vector size="31" baseType="lpstr">
      <vt:lpstr>Symbol</vt:lpstr>
      <vt:lpstr>Cambria</vt:lpstr>
      <vt:lpstr>Noto Sans Symbols</vt:lpstr>
      <vt:lpstr>Calibri</vt:lpstr>
      <vt:lpstr>Gill Sans</vt:lpstr>
      <vt:lpstr>Wingdings 2</vt:lpstr>
      <vt:lpstr>Arial</vt:lpstr>
      <vt:lpstr>Gill Sans MT</vt:lpstr>
      <vt:lpstr>Times New Roman</vt:lpstr>
      <vt:lpstr>Dividendo</vt:lpstr>
      <vt:lpstr>1_Dividendo</vt:lpstr>
      <vt:lpstr>WEB SERVICE RESTful CON JAVA
EN LA NUBE (AWS) </vt:lpstr>
      <vt:lpstr>Presentación de PowerPoint</vt:lpstr>
      <vt:lpstr>INTRODUCCIÓN</vt:lpstr>
      <vt:lpstr>OBJETIVOS</vt:lpstr>
      <vt:lpstr>Marco teórico</vt:lpstr>
      <vt:lpstr>Marco teórico</vt:lpstr>
      <vt:lpstr>Marco teórico</vt:lpstr>
      <vt:lpstr>Desarrollo </vt:lpstr>
      <vt:lpstr>Desarrollo </vt:lpstr>
      <vt:lpstr>Desarrollo </vt:lpstr>
      <vt:lpstr>Desarrollo </vt:lpstr>
      <vt:lpstr>Desarrollo </vt:lpstr>
      <vt:lpstr>Desarrollo </vt:lpstr>
      <vt:lpstr>Desarrollo </vt:lpstr>
      <vt:lpstr>Desarrollo </vt:lpstr>
      <vt:lpstr>Desarrollo </vt:lpstr>
      <vt:lpstr>Desarrollo </vt:lpstr>
      <vt:lpstr>Desarrollo </vt:lpstr>
      <vt:lpstr>Conclusiones</vt:lpstr>
      <vt:lpstr>Bibliografía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PROYECTO BDD LOCAL SOAP JAVA</dc:title>
  <dc:creator>Michael Villarruel</dc:creator>
  <cp:lastModifiedBy>Micaela Salcedo</cp:lastModifiedBy>
  <cp:revision>21</cp:revision>
  <dcterms:created xsi:type="dcterms:W3CDTF">2020-07-10T23:33:49Z</dcterms:created>
  <dcterms:modified xsi:type="dcterms:W3CDTF">2026-06-10T16:12:09Z</dcterms:modified>
</cp:coreProperties>
</file>